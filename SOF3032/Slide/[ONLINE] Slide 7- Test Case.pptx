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3" r:id="rId2"/>
  </p:sldMasterIdLst>
  <p:notesMasterIdLst>
    <p:notesMasterId r:id="rId5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Lst>
  <p:sldSz cx="12192000" cy="6858000"/>
  <p:notesSz cx="6858000" cy="9144000"/>
  <p:embeddedFontLst>
    <p:embeddedFont>
      <p:font typeface="Quattrocento Sans" panose="020B0502050000020003" pitchFamily="34" charset="0"/>
      <p:regular r:id="rId52"/>
      <p:bold r:id="rId53"/>
      <p:italic r:id="rId54"/>
      <p:boldItalic r:id="rId55"/>
    </p:embeddedFont>
    <p:embeddedFont>
      <p:font typeface="Roboto" panose="02000000000000000000" pitchFamily="2"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gWkNLycne3XE0zHQ39iArV9r8fZ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4.fntdata"/><Relationship Id="rId63" Type="http://customschemas.google.com/relationships/presentationmetadata" Target="meta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1.fntdata"/><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5.fntdata"/><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8.fntdata"/><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115e76f5ad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g115e76f5a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15e76f5ad1_0_1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15e76f5ad1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1668136614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g1166813661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1668136614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g11668136614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1668136614_0_19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g11668136614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16633eea3b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g116633eea3b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16633eea3b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g116633eea3b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16633eea3b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116633eea3b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16633eea3b_0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g116633eea3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16633eea3b_0_1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g116633eea3b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16633eea3b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g116633eea3b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116633eea3b_0_1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g116633eea3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116633eea3b_0_10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116633eea3b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6633eea3b_0_1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g116633eea3b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16633eea3b_0_1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g116633eea3b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116633eea3b_0_1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116633eea3b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16633eea3b_0_2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g116633eea3b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116633eea3b_0_2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g116633eea3b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16633eea3b_0_50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g116633eea3b_0_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16633eea3b_0_4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g116633eea3b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116633eea3b_0_4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116633eea3b_0_4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116633eea3b_0_4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g116633eea3b_0_4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116633eea3b_0_3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116633eea3b_0_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16633eea3b_0_3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g116633eea3b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16633eea3b_0_3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116633eea3b_0_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116633eea3b_0_2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g116633eea3b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116633eea3b_0_2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g116633eea3b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116633eea3b_0_2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116633eea3b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16633eea3b_0_2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1" name="Google Shape;321;g116633eea3b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16633eea3b_0_2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g116633eea3b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116633eea3b_0_2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g116633eea3b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16633eea3b_0_2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g116633eea3b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116633eea3b_0_2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g116633eea3b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116633eea3b_0_29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g116633eea3b_0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116633eea3b_0_30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7" name="Google Shape;357;g116633eea3b_0_3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116633eea3b_0_30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g116633eea3b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116633eea3b_0_3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9" name="Google Shape;369;g116633eea3b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116633eea3b_0_3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g116633eea3b_0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116633eea3b_0_3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1" name="Google Shape;381;g116633eea3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16633eea3b_0_3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116633eea3b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116633eea3b_0_39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g116633eea3b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116633eea3b_0_4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9" name="Google Shape;399;g116633eea3b_0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16633eea3b_0_4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5" name="Google Shape;405;g116633eea3b_0_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116633eea3b_0_4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1" name="Google Shape;411;g116633eea3b_0_4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11668136614_0_1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7" name="Google Shape;417;g11668136614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116633eea3b_0_4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8" name="Google Shape;428;g116633eea3b_0_4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11668136614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9" name="Google Shape;439;g1166813661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115e76f5ad1_0_2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0" name="Google Shape;450;g115e76f5ad1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pic>
        <p:nvPicPr>
          <p:cNvPr id="16" name="Google Shape;16;p15"/>
          <p:cNvPicPr preferRelativeResize="0"/>
          <p:nvPr/>
        </p:nvPicPr>
        <p:blipFill rotWithShape="1">
          <a:blip r:embed="rId2">
            <a:alphaModFix/>
          </a:blip>
          <a:srcRect/>
          <a:stretch/>
        </p:blipFill>
        <p:spPr>
          <a:xfrm>
            <a:off x="-4763" y="-4763"/>
            <a:ext cx="12201525" cy="6867525"/>
          </a:xfrm>
          <a:prstGeom prst="rect">
            <a:avLst/>
          </a:prstGeom>
          <a:noFill/>
          <a:ln>
            <a:noFill/>
          </a:ln>
        </p:spPr>
      </p:pic>
      <p:sp>
        <p:nvSpPr>
          <p:cNvPr id="17" name="Google Shape;17;p15"/>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40"/>
              </a:spcBef>
              <a:spcAft>
                <a:spcPts val="0"/>
              </a:spcAft>
              <a:buClr>
                <a:srgbClr val="FF5A33"/>
              </a:buClr>
              <a:buSzPts val="2200"/>
              <a:buNone/>
              <a:defRPr sz="2200" b="1" cap="small">
                <a:solidFill>
                  <a:srgbClr val="FF5A33"/>
                </a:solidFill>
                <a:latin typeface="Quattrocento Sans"/>
                <a:ea typeface="Quattrocento Sans"/>
                <a:cs typeface="Quattrocento Sans"/>
                <a:sym typeface="Quattrocento Sans"/>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cxnSp>
        <p:nvCxnSpPr>
          <p:cNvPr id="18" name="Google Shape;18;p15"/>
          <p:cNvCxnSpPr/>
          <p:nvPr/>
        </p:nvCxnSpPr>
        <p:spPr>
          <a:xfrm>
            <a:off x="5583936" y="4953000"/>
            <a:ext cx="6303264" cy="0"/>
          </a:xfrm>
          <a:prstGeom prst="straightConnector1">
            <a:avLst/>
          </a:prstGeom>
          <a:noFill/>
          <a:ln w="9525" cap="flat" cmpd="sng">
            <a:solidFill>
              <a:srgbClr val="FF5A33"/>
            </a:solidFill>
            <a:prstDash val="dot"/>
            <a:round/>
            <a:headEnd type="none" w="sm" len="sm"/>
            <a:tailEnd type="none" w="sm" len="sm"/>
          </a:ln>
        </p:spPr>
      </p:cxnSp>
      <p:sp>
        <p:nvSpPr>
          <p:cNvPr id="19" name="Google Shape;19;p15"/>
          <p:cNvSpPr/>
          <p:nvPr/>
        </p:nvSpPr>
        <p:spPr>
          <a:xfrm>
            <a:off x="1060704" y="2133600"/>
            <a:ext cx="3308096" cy="3048000"/>
          </a:xfrm>
          <a:prstGeom prst="ellipse">
            <a:avLst/>
          </a:prstGeom>
          <a:solidFill>
            <a:schemeClr val="lt1"/>
          </a:solidFill>
          <a:ln>
            <a:noFill/>
          </a:ln>
          <a:effectLst>
            <a:outerShdw blurRad="40000" dist="23000" dir="5400000" rotWithShape="0">
              <a:srgbClr val="000000">
                <a:alpha val="3411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20;p15"/>
          <p:cNvSpPr txBox="1">
            <a:spLocks noGrp="1"/>
          </p:cNvSpPr>
          <p:nvPr>
            <p:ph type="title"/>
          </p:nvPr>
        </p:nvSpPr>
        <p:spPr>
          <a:xfrm>
            <a:off x="5506720" y="4284596"/>
            <a:ext cx="6100064" cy="70498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FF5A33"/>
              </a:buClr>
              <a:buSzPts val="3400"/>
              <a:buFont typeface="Calibri"/>
              <a:buNone/>
              <a:defRPr sz="3400" b="1" cap="small">
                <a:solidFill>
                  <a:srgbClr val="FF5A33"/>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5"/>
          <p:cNvSpPr>
            <a:spLocks noGrp="1"/>
          </p:cNvSpPr>
          <p:nvPr>
            <p:ph type="pic" idx="2"/>
          </p:nvPr>
        </p:nvSpPr>
        <p:spPr>
          <a:xfrm>
            <a:off x="1016000" y="2743200"/>
            <a:ext cx="3352800" cy="18288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6"/>
          <p:cNvSpPr txBox="1">
            <a:spLocks noGrp="1"/>
          </p:cNvSpPr>
          <p:nvPr>
            <p:ph type="title"/>
          </p:nvPr>
        </p:nvSpPr>
        <p:spPr>
          <a:xfrm>
            <a:off x="2235202" y="274638"/>
            <a:ext cx="9347198" cy="4873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FF5A33"/>
              </a:buClr>
              <a:buSzPts val="2800"/>
              <a:buFont typeface="Quattrocento Sans"/>
              <a:buNone/>
              <a:defRPr sz="2800" b="1" cap="small">
                <a:solidFill>
                  <a:srgbClr val="FF5A33"/>
                </a:solidFill>
                <a:latin typeface="Quattrocento Sans"/>
                <a:ea typeface="Quattrocento Sans"/>
                <a:cs typeface="Quattrocento Sans"/>
                <a:sym typeface="Quattrocento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rgbClr val="FF5A33"/>
              </a:buClr>
              <a:buSzPts val="2800"/>
              <a:buFont typeface="Noto Sans Symbols"/>
              <a:buChar char="❑"/>
              <a:defRPr sz="2800">
                <a:latin typeface="Quattrocento Sans"/>
                <a:ea typeface="Quattrocento Sans"/>
                <a:cs typeface="Quattrocento Sans"/>
                <a:sym typeface="Quattrocento Sans"/>
              </a:defRPr>
            </a:lvl1pPr>
            <a:lvl2pPr marL="914400" lvl="1" indent="-381000" algn="l">
              <a:lnSpc>
                <a:spcPct val="100000"/>
              </a:lnSpc>
              <a:spcBef>
                <a:spcPts val="480"/>
              </a:spcBef>
              <a:spcAft>
                <a:spcPts val="0"/>
              </a:spcAft>
              <a:buClr>
                <a:srgbClr val="FF5A33"/>
              </a:buClr>
              <a:buSzPts val="2400"/>
              <a:buFont typeface="Noto Sans Symbols"/>
              <a:buChar char="❖"/>
              <a:defRPr sz="2400">
                <a:latin typeface="Quattrocento Sans"/>
                <a:ea typeface="Quattrocento Sans"/>
                <a:cs typeface="Quattrocento Sans"/>
                <a:sym typeface="Quattrocento Sans"/>
              </a:defRPr>
            </a:lvl2pPr>
            <a:lvl3pPr marL="1371600" lvl="2" indent="-355600" algn="l">
              <a:lnSpc>
                <a:spcPct val="100000"/>
              </a:lnSpc>
              <a:spcBef>
                <a:spcPts val="400"/>
              </a:spcBef>
              <a:spcAft>
                <a:spcPts val="0"/>
              </a:spcAft>
              <a:buClr>
                <a:srgbClr val="FF5A33"/>
              </a:buClr>
              <a:buSzPts val="2000"/>
              <a:buFont typeface="Noto Sans Symbols"/>
              <a:buChar char="⮚"/>
              <a:defRPr sz="2000">
                <a:latin typeface="Quattrocento Sans"/>
                <a:ea typeface="Quattrocento Sans"/>
                <a:cs typeface="Quattrocento Sans"/>
                <a:sym typeface="Quattrocento Sans"/>
              </a:defRPr>
            </a:lvl3pPr>
            <a:lvl4pPr marL="1828800" lvl="3" indent="-342900" algn="l">
              <a:lnSpc>
                <a:spcPct val="100000"/>
              </a:lnSpc>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4pPr>
            <a:lvl5pPr marL="2286000" lvl="4" indent="-342900" algn="l">
              <a:lnSpc>
                <a:spcPct val="100000"/>
              </a:lnSpc>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16"/>
          <p:cNvPicPr preferRelativeResize="0"/>
          <p:nvPr/>
        </p:nvPicPr>
        <p:blipFill rotWithShape="1">
          <a:blip r:embed="rId2">
            <a:alphaModFix/>
          </a:blip>
          <a:srcRect/>
          <a:stretch/>
        </p:blipFill>
        <p:spPr>
          <a:xfrm>
            <a:off x="609600" y="156573"/>
            <a:ext cx="1625602" cy="713824"/>
          </a:xfrm>
          <a:prstGeom prst="rect">
            <a:avLst/>
          </a:prstGeom>
          <a:noFill/>
          <a:ln>
            <a:noFill/>
          </a:ln>
        </p:spPr>
      </p:pic>
      <p:cxnSp>
        <p:nvCxnSpPr>
          <p:cNvPr id="29" name="Google Shape;29;p16"/>
          <p:cNvCxnSpPr/>
          <p:nvPr/>
        </p:nvCxnSpPr>
        <p:spPr>
          <a:xfrm>
            <a:off x="609600" y="838200"/>
            <a:ext cx="10972800" cy="0"/>
          </a:xfrm>
          <a:prstGeom prst="straightConnector1">
            <a:avLst/>
          </a:prstGeom>
          <a:noFill/>
          <a:ln w="38100" cap="flat" cmpd="sng">
            <a:solidFill>
              <a:srgbClr val="FF9900"/>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
        <p:cNvGrpSpPr/>
        <p:nvPr/>
      </p:nvGrpSpPr>
      <p:grpSpPr>
        <a:xfrm>
          <a:off x="0" y="0"/>
          <a:ext cx="0" cy="0"/>
          <a:chOff x="0" y="0"/>
          <a:chExt cx="0" cy="0"/>
        </a:xfrm>
      </p:grpSpPr>
      <p:sp>
        <p:nvSpPr>
          <p:cNvPr id="31" name="Google Shape;31;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7" name="Google Shape;37;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9"/>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3" name="Google Shape;43;p19"/>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4" name="Google Shape;44;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0" name="Google Shape;50;p2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1" name="Google Shape;51;p20"/>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2" name="Google Shape;52;p20"/>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3" name="Google Shape;53;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
        <p:cNvGrpSpPr/>
        <p:nvPr/>
      </p:nvGrpSpPr>
      <p:grpSpPr>
        <a:xfrm>
          <a:off x="0" y="0"/>
          <a:ext cx="0" cy="0"/>
          <a:chOff x="0" y="0"/>
          <a:chExt cx="0" cy="0"/>
        </a:xfrm>
      </p:grpSpPr>
      <p:sp>
        <p:nvSpPr>
          <p:cNvPr id="57" name="Google Shape;57;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21"/>
          <p:cNvSpPr/>
          <p:nvPr/>
        </p:nvSpPr>
        <p:spPr>
          <a:xfrm>
            <a:off x="2032000" y="2551018"/>
            <a:ext cx="8534400" cy="326475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p:txBody>
      </p:sp>
      <p:pic>
        <p:nvPicPr>
          <p:cNvPr id="61" name="Google Shape;61;p21" descr="http://uconndigitalarts.com/wp-content/uploads/2013/04/original.jpg"/>
          <p:cNvPicPr preferRelativeResize="0"/>
          <p:nvPr/>
        </p:nvPicPr>
        <p:blipFill rotWithShape="1">
          <a:blip r:embed="rId2">
            <a:alphaModFix/>
          </a:blip>
          <a:srcRect t="43978" b="41310"/>
          <a:stretch/>
        </p:blipFill>
        <p:spPr>
          <a:xfrm flipH="1">
            <a:off x="3732707" y="2575401"/>
            <a:ext cx="4568091" cy="283858"/>
          </a:xfrm>
          <a:prstGeom prst="rect">
            <a:avLst/>
          </a:prstGeom>
          <a:noFill/>
          <a:ln>
            <a:noFill/>
          </a:ln>
        </p:spPr>
      </p:pic>
      <p:pic>
        <p:nvPicPr>
          <p:cNvPr id="62" name="Google Shape;62;p21" descr="C:\Users\powerpoint.vn\Downloads\1e2cd4b177168ad16ce2e7c504bba4d2.x400.jpeg"/>
          <p:cNvPicPr preferRelativeResize="0"/>
          <p:nvPr/>
        </p:nvPicPr>
        <p:blipFill rotWithShape="1">
          <a:blip r:embed="rId3">
            <a:alphaModFix/>
          </a:blip>
          <a:srcRect b="55710"/>
          <a:stretch/>
        </p:blipFill>
        <p:spPr>
          <a:xfrm>
            <a:off x="2568620" y="609600"/>
            <a:ext cx="7257961" cy="2828060"/>
          </a:xfrm>
          <a:prstGeom prst="rect">
            <a:avLst/>
          </a:prstGeom>
          <a:noFill/>
          <a:ln>
            <a:noFill/>
          </a:ln>
        </p:spPr>
      </p:pic>
      <p:sp>
        <p:nvSpPr>
          <p:cNvPr id="63" name="Google Shape;63;p21"/>
          <p:cNvSpPr txBox="1"/>
          <p:nvPr/>
        </p:nvSpPr>
        <p:spPr>
          <a:xfrm>
            <a:off x="4103893" y="3124200"/>
            <a:ext cx="4735308" cy="21390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7200"/>
              <a:buFont typeface="Calibri"/>
              <a:buNone/>
            </a:pPr>
            <a:r>
              <a:rPr lang="en-US" sz="7200" b="1" i="0" u="none" strike="noStrike" cap="none">
                <a:solidFill>
                  <a:schemeClr val="lt1"/>
                </a:solidFill>
                <a:latin typeface="Calibri"/>
                <a:ea typeface="Calibri"/>
                <a:cs typeface="Calibri"/>
                <a:sym typeface="Calibri"/>
              </a:rPr>
              <a:t>DEM</a:t>
            </a:r>
            <a:r>
              <a:rPr lang="en-US" sz="11500" b="1" i="0" u="none" strike="noStrike" cap="none">
                <a:solidFill>
                  <a:schemeClr val="lt1"/>
                </a:solidFill>
                <a:latin typeface="Calibri"/>
                <a:ea typeface="Calibri"/>
                <a:cs typeface="Calibri"/>
                <a:sym typeface="Calibri"/>
              </a:rPr>
              <a: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4" name="Google Shape;64;p21" descr="http://www.designofsignage.com/application/symbol/hands/image/600x600/hand-press-button-4.jpg"/>
          <p:cNvPicPr preferRelativeResize="0"/>
          <p:nvPr/>
        </p:nvPicPr>
        <p:blipFill rotWithShape="1">
          <a:blip r:embed="rId4">
            <a:alphaModFix/>
          </a:blip>
          <a:srcRect/>
          <a:stretch/>
        </p:blipFill>
        <p:spPr>
          <a:xfrm>
            <a:off x="6016752" y="3568725"/>
            <a:ext cx="3488947" cy="261671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2"/>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8" name="Google Shape;68;p22"/>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3"/>
          <p:cNvSpPr>
            <a:spLocks noGrp="1"/>
          </p:cNvSpPr>
          <p:nvPr>
            <p:ph type="pic" idx="2"/>
          </p:nvPr>
        </p:nvSpPr>
        <p:spPr>
          <a:xfrm>
            <a:off x="2389717" y="612775"/>
            <a:ext cx="7315200" cy="4114800"/>
          </a:xfrm>
          <a:prstGeom prst="rect">
            <a:avLst/>
          </a:prstGeom>
          <a:noFill/>
          <a:ln>
            <a:noFill/>
          </a:ln>
        </p:spPr>
      </p:sp>
      <p:sp>
        <p:nvSpPr>
          <p:cNvPr id="75" name="Google Shape;75;p2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6" name="Google Shape;76;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2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4"/>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2" name="Google Shape;82;p2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5"/>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8" name="Google Shape;88;p2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Content">
  <p:cSld name="Title &amp; Content">
    <p:spTree>
      <p:nvGrpSpPr>
        <p:cNvPr id="1" name="Shape 91"/>
        <p:cNvGrpSpPr/>
        <p:nvPr/>
      </p:nvGrpSpPr>
      <p:grpSpPr>
        <a:xfrm>
          <a:off x="0" y="0"/>
          <a:ext cx="0" cy="0"/>
          <a:chOff x="0" y="0"/>
          <a:chExt cx="0" cy="0"/>
        </a:xfrm>
      </p:grpSpPr>
      <p:sp>
        <p:nvSpPr>
          <p:cNvPr id="92" name="Google Shape;92;p2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6"/>
          <p:cNvSpPr txBox="1"/>
          <p:nvPr/>
        </p:nvSpPr>
        <p:spPr>
          <a:xfrm>
            <a:off x="2946400" y="274638"/>
            <a:ext cx="8636000" cy="563562"/>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9900"/>
              </a:buClr>
              <a:buSzPts val="3200"/>
              <a:buFont typeface="Quattrocento Sans"/>
              <a:buNone/>
            </a:pPr>
            <a:r>
              <a:rPr lang="en-US" sz="3200" b="1" i="0" u="none" strike="noStrike" cap="small">
                <a:solidFill>
                  <a:srgbClr val="FF9900"/>
                </a:solidFill>
                <a:latin typeface="Quattrocento Sans"/>
                <a:ea typeface="Quattrocento Sans"/>
                <a:cs typeface="Quattrocento Sans"/>
                <a:sym typeface="Quattrocento Sans"/>
              </a:rPr>
              <a:t>Click to edit Master title style</a:t>
            </a:r>
            <a:endParaRPr sz="3200" b="1" i="0" u="none" strike="noStrike" cap="small">
              <a:solidFill>
                <a:srgbClr val="FF9900"/>
              </a:solidFill>
              <a:latin typeface="Quattrocento Sans"/>
              <a:ea typeface="Quattrocento Sans"/>
              <a:cs typeface="Quattrocento Sans"/>
              <a:sym typeface="Quattrocento Sans"/>
            </a:endParaRPr>
          </a:p>
        </p:txBody>
      </p:sp>
      <p:sp>
        <p:nvSpPr>
          <p:cNvPr id="94" name="Google Shape;94;p26"/>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95" name="Google Shape;95;p26"/>
          <p:cNvPicPr preferRelativeResize="0"/>
          <p:nvPr/>
        </p:nvPicPr>
        <p:blipFill rotWithShape="1">
          <a:blip r:embed="rId2">
            <a:alphaModFix/>
          </a:blip>
          <a:srcRect/>
          <a:stretch/>
        </p:blipFill>
        <p:spPr>
          <a:xfrm>
            <a:off x="711200" y="228601"/>
            <a:ext cx="2133600" cy="484909"/>
          </a:xfrm>
          <a:prstGeom prst="rect">
            <a:avLst/>
          </a:prstGeom>
          <a:noFill/>
          <a:ln>
            <a:noFill/>
          </a:ln>
        </p:spPr>
      </p:pic>
      <p:cxnSp>
        <p:nvCxnSpPr>
          <p:cNvPr id="96" name="Google Shape;96;p26"/>
          <p:cNvCxnSpPr/>
          <p:nvPr/>
        </p:nvCxnSpPr>
        <p:spPr>
          <a:xfrm rot="10800000">
            <a:off x="711200" y="835152"/>
            <a:ext cx="10871200" cy="0"/>
          </a:xfrm>
          <a:prstGeom prst="straightConnector1">
            <a:avLst/>
          </a:prstGeom>
          <a:noFill/>
          <a:ln w="38100" cap="flat" cmpd="sng">
            <a:solidFill>
              <a:srgbClr val="BD4B48"/>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97"/>
        <p:cNvGrpSpPr/>
        <p:nvPr/>
      </p:nvGrpSpPr>
      <p:grpSpPr>
        <a:xfrm>
          <a:off x="0" y="0"/>
          <a:ext cx="0" cy="0"/>
          <a:chOff x="0" y="0"/>
          <a:chExt cx="0" cy="0"/>
        </a:xfrm>
      </p:grpSpPr>
      <p:sp>
        <p:nvSpPr>
          <p:cNvPr id="98" name="Google Shape;98;p27"/>
          <p:cNvSpPr txBox="1">
            <a:spLocks noGrp="1"/>
          </p:cNvSpPr>
          <p:nvPr>
            <p:ph type="title"/>
          </p:nvPr>
        </p:nvSpPr>
        <p:spPr>
          <a:xfrm>
            <a:off x="2336800" y="198438"/>
            <a:ext cx="9448800" cy="487362"/>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1"/>
              </a:buClr>
              <a:buSzPts val="2400"/>
              <a:buFont typeface="Quattrocento Sans"/>
              <a:buNone/>
              <a:defRPr sz="2400" b="0" i="0">
                <a:solidFill>
                  <a:schemeClr val="lt1"/>
                </a:solidFill>
                <a:latin typeface="Quattrocento Sans"/>
                <a:ea typeface="Quattrocento Sans"/>
                <a:cs typeface="Quattrocento Sans"/>
                <a:sym typeface="Quattrocento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7"/>
          <p:cNvSpPr txBox="1">
            <a:spLocks noGrp="1"/>
          </p:cNvSpPr>
          <p:nvPr>
            <p:ph type="body" idx="1"/>
          </p:nvPr>
        </p:nvSpPr>
        <p:spPr>
          <a:xfrm>
            <a:off x="1727200" y="1066800"/>
            <a:ext cx="10363200" cy="457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Font typeface="Quattrocento Sans"/>
              <a:buNone/>
              <a:defRPr sz="2400" b="1">
                <a:latin typeface="Quattrocento Sans"/>
                <a:ea typeface="Quattrocento Sans"/>
                <a:cs typeface="Quattrocento Sans"/>
                <a:sym typeface="Quattrocento Sans"/>
              </a:defRPr>
            </a:lvl1pPr>
            <a:lvl2pPr marL="914400" lvl="1" indent="-228600" algn="just">
              <a:lnSpc>
                <a:spcPct val="100000"/>
              </a:lnSpc>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lnSpc>
                <a:spcPct val="100000"/>
              </a:lnSpc>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0" name="Google Shape;100;p27"/>
          <p:cNvSpPr txBox="1">
            <a:spLocks noGrp="1"/>
          </p:cNvSpPr>
          <p:nvPr>
            <p:ph type="body" idx="2"/>
          </p:nvPr>
        </p:nvSpPr>
        <p:spPr>
          <a:xfrm>
            <a:off x="6604000" y="1828800"/>
            <a:ext cx="5384800" cy="2743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Font typeface="Quattrocento Sans"/>
              <a:buNone/>
              <a:defRPr sz="2400" b="0">
                <a:latin typeface="Quattrocento Sans"/>
                <a:ea typeface="Quattrocento Sans"/>
                <a:cs typeface="Quattrocento Sans"/>
                <a:sym typeface="Quattrocento Sans"/>
              </a:defRPr>
            </a:lvl1pPr>
            <a:lvl2pPr marL="914400" lvl="1" indent="-228600" algn="just">
              <a:lnSpc>
                <a:spcPct val="100000"/>
              </a:lnSpc>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lnSpc>
                <a:spcPct val="100000"/>
              </a:lnSpc>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1" name="Google Shape;101;p27"/>
          <p:cNvSpPr txBox="1">
            <a:spLocks noGrp="1"/>
          </p:cNvSpPr>
          <p:nvPr>
            <p:ph type="sldNum" idx="12"/>
          </p:nvPr>
        </p:nvSpPr>
        <p:spPr>
          <a:xfrm>
            <a:off x="-1828800" y="617220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102"/>
        <p:cNvGrpSpPr/>
        <p:nvPr/>
      </p:nvGrpSpPr>
      <p:grpSpPr>
        <a:xfrm>
          <a:off x="0" y="0"/>
          <a:ext cx="0" cy="0"/>
          <a:chOff x="0" y="0"/>
          <a:chExt cx="0" cy="0"/>
        </a:xfrm>
      </p:grpSpPr>
      <p:sp>
        <p:nvSpPr>
          <p:cNvPr id="103" name="Google Shape;103;p28"/>
          <p:cNvSpPr txBox="1">
            <a:spLocks noGrp="1"/>
          </p:cNvSpPr>
          <p:nvPr>
            <p:ph type="title"/>
          </p:nvPr>
        </p:nvSpPr>
        <p:spPr>
          <a:xfrm>
            <a:off x="2946400" y="274638"/>
            <a:ext cx="8636000" cy="5635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8"/>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105" name="Google Shape;105;p28"/>
          <p:cNvPicPr preferRelativeResize="0"/>
          <p:nvPr/>
        </p:nvPicPr>
        <p:blipFill rotWithShape="1">
          <a:blip r:embed="rId2">
            <a:alphaModFix/>
          </a:blip>
          <a:srcRect/>
          <a:stretch/>
        </p:blipFill>
        <p:spPr>
          <a:xfrm>
            <a:off x="711200" y="228601"/>
            <a:ext cx="2133600" cy="48490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10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g115e76f5ad1_0_0"/>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FF5A33"/>
              </a:buClr>
              <a:buSzPts val="2200"/>
              <a:buNone/>
            </a:pPr>
            <a:r>
              <a:rPr lang="en-US"/>
              <a:t>Bài 7: thiết kế testcase</a:t>
            </a:r>
            <a:endParaRPr/>
          </a:p>
        </p:txBody>
      </p:sp>
      <p:sp>
        <p:nvSpPr>
          <p:cNvPr id="113" name="Google Shape;113;g115e76f5ad1_0_0"/>
          <p:cNvSpPr txBox="1">
            <a:spLocks noGrp="1"/>
          </p:cNvSpPr>
          <p:nvPr>
            <p:ph type="title"/>
          </p:nvPr>
        </p:nvSpPr>
        <p:spPr>
          <a:xfrm>
            <a:off x="5506720" y="4284596"/>
            <a:ext cx="6100200" cy="7050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5A33"/>
              </a:buClr>
              <a:buSzPts val="3400"/>
              <a:buFont typeface="Calibri"/>
              <a:buNone/>
            </a:pPr>
            <a:r>
              <a:rPr lang="en-US"/>
              <a:t>kiểm thử cơ bản(P1)</a:t>
            </a:r>
            <a:endParaRPr/>
          </a:p>
        </p:txBody>
      </p:sp>
      <p:pic>
        <p:nvPicPr>
          <p:cNvPr id="114" name="Google Shape;114;g115e76f5ad1_0_0"/>
          <p:cNvPicPr preferRelativeResize="0"/>
          <p:nvPr/>
        </p:nvPicPr>
        <p:blipFill rotWithShape="1">
          <a:blip r:embed="rId3">
            <a:alphaModFix/>
          </a:blip>
          <a:srcRect/>
          <a:stretch/>
        </p:blipFill>
        <p:spPr>
          <a:xfrm>
            <a:off x="1890932" y="2406165"/>
            <a:ext cx="1693935" cy="25186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g115e76f5ad1_0_10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a:t>
            </a:r>
            <a:endParaRPr/>
          </a:p>
        </p:txBody>
      </p:sp>
      <p:pic>
        <p:nvPicPr>
          <p:cNvPr id="120" name="Google Shape;120;g115e76f5ad1_0_103"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121" name="Google Shape;121;g115e76f5ad1_0_103"/>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2" name="Google Shape;122;g115e76f5ad1_0_103"/>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3" name="Google Shape;123;g115e76f5ad1_0_103"/>
          <p:cNvSpPr txBox="1"/>
          <p:nvPr/>
        </p:nvSpPr>
        <p:spPr>
          <a:xfrm>
            <a:off x="894600" y="2067600"/>
            <a:ext cx="8437200" cy="393390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15000"/>
              </a:lnSpc>
              <a:spcBef>
                <a:spcPts val="0"/>
              </a:spcBef>
              <a:spcAft>
                <a:spcPts val="0"/>
              </a:spcAft>
              <a:buClr>
                <a:srgbClr val="333333"/>
              </a:buClr>
              <a:buSzPts val="3700"/>
              <a:buFont typeface="Quattrocento Sans"/>
              <a:buChar char="•"/>
            </a:pPr>
            <a:r>
              <a:rPr lang="en-US" sz="2900" b="1">
                <a:solidFill>
                  <a:srgbClr val="333333"/>
                </a:solidFill>
                <a:latin typeface="Quattrocento Sans"/>
                <a:ea typeface="Quattrocento Sans"/>
                <a:cs typeface="Quattrocento Sans"/>
                <a:sym typeface="Quattrocento Sans"/>
              </a:rPr>
              <a:t>Tìm hiểu về TestCase và tại sao lại viết TestCase?</a:t>
            </a:r>
            <a:endParaRPr sz="2900" b="1" i="0" u="none" strike="noStrike" cap="none">
              <a:solidFill>
                <a:srgbClr val="333333"/>
              </a:solidFill>
              <a:latin typeface="Quattrocento Sans"/>
              <a:ea typeface="Quattrocento Sans"/>
              <a:cs typeface="Quattrocento Sans"/>
              <a:sym typeface="Quattrocento Sans"/>
            </a:endParaRPr>
          </a:p>
          <a:p>
            <a:pPr marL="457200" marR="0" lvl="0" indent="-40640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Cần chuẩn bị gì khi viết Test Case ?</a:t>
            </a:r>
            <a:endParaRPr sz="2900" b="1">
              <a:solidFill>
                <a:srgbClr val="333333"/>
              </a:solidFill>
              <a:latin typeface="Quattrocento Sans"/>
              <a:ea typeface="Quattrocento Sans"/>
              <a:cs typeface="Quattrocento Sans"/>
              <a:sym typeface="Quattrocento Sans"/>
            </a:endParaRPr>
          </a:p>
          <a:p>
            <a:pPr marL="457200" marR="0" lvl="0" indent="-40640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Mẫu Test Case</a:t>
            </a:r>
            <a:endParaRPr sz="2900" b="1">
              <a:solidFill>
                <a:srgbClr val="333333"/>
              </a:solidFill>
              <a:latin typeface="Quattrocento Sans"/>
              <a:ea typeface="Quattrocento Sans"/>
              <a:cs typeface="Quattrocento Sans"/>
              <a:sym typeface="Quattrocento Sans"/>
            </a:endParaRPr>
          </a:p>
        </p:txBody>
      </p:sp>
      <p:sp>
        <p:nvSpPr>
          <p:cNvPr id="124" name="Google Shape;124;g115e76f5ad1_0_103"/>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11668136614_0_62"/>
          <p:cNvSpPr/>
          <p:nvPr/>
        </p:nvSpPr>
        <p:spPr>
          <a:xfrm>
            <a:off x="3471675" y="3049625"/>
            <a:ext cx="80346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i="0" u="none" strike="noStrike" cap="small">
                <a:solidFill>
                  <a:srgbClr val="FFA15D"/>
                </a:solidFill>
                <a:latin typeface="Calibri"/>
                <a:ea typeface="Calibri"/>
                <a:cs typeface="Calibri"/>
                <a:sym typeface="Calibri"/>
              </a:rPr>
              <a:t>test </a:t>
            </a:r>
            <a:r>
              <a:rPr lang="en-US" sz="5400" b="1" cap="small">
                <a:solidFill>
                  <a:srgbClr val="FFA15D"/>
                </a:solidFill>
                <a:latin typeface="Calibri"/>
                <a:ea typeface="Calibri"/>
                <a:cs typeface="Calibri"/>
                <a:sym typeface="Calibri"/>
              </a:rPr>
              <a:t>case</a:t>
            </a:r>
            <a:endParaRPr sz="5400" b="1" i="0" u="none" strike="noStrike" cap="small">
              <a:solidFill>
                <a:srgbClr val="FFA15D"/>
              </a:solidFill>
              <a:latin typeface="Calibri"/>
              <a:ea typeface="Calibri"/>
              <a:cs typeface="Calibri"/>
              <a:sym typeface="Calibri"/>
            </a:endParaRPr>
          </a:p>
        </p:txBody>
      </p:sp>
      <p:cxnSp>
        <p:nvCxnSpPr>
          <p:cNvPr id="130" name="Google Shape;130;g11668136614_0_62"/>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131" name="Google Shape;131;g11668136614_0_62"/>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11668136614_0_6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137" name="Google Shape;137;g11668136614_0_68"/>
          <p:cNvSpPr txBox="1"/>
          <p:nvPr/>
        </p:nvSpPr>
        <p:spPr>
          <a:xfrm>
            <a:off x="617100" y="1701675"/>
            <a:ext cx="11425200" cy="4883400"/>
          </a:xfrm>
          <a:prstGeom prst="rect">
            <a:avLst/>
          </a:prstGeom>
          <a:noFill/>
          <a:ln>
            <a:noFill/>
          </a:ln>
        </p:spPr>
        <p:txBody>
          <a:bodyPr spcFirstLastPara="1" wrap="square" lIns="91425" tIns="45700" rIns="91425" bIns="45700" anchor="t" anchorCtr="0">
            <a:noAutofit/>
          </a:bodyPr>
          <a:lstStyle/>
          <a:p>
            <a:pPr marL="914400" marR="0" lvl="1"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TestCase là một tập hợp các hướng dẫn về “CÁCH” để xác thực một mục tiêu cụ thể, sẽ cho chúng ta biết liệu hành vi mong đợi của hệ thống có được thỏa mãn hay không. </a:t>
            </a:r>
            <a:endParaRPr sz="3500">
              <a:latin typeface="Quattrocento Sans"/>
              <a:ea typeface="Quattrocento Sans"/>
              <a:cs typeface="Quattrocento Sans"/>
              <a:sym typeface="Quattrocento Sans"/>
            </a:endParaRPr>
          </a:p>
          <a:p>
            <a:pPr marL="914400" marR="0" lvl="1"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Một TestCase có các thành phần mô tả đầu vào, hành động và phản hồi dự kiến, để xác định xem một tính năng của ứng dụng có hoạt động chính xác hay không.</a:t>
            </a:r>
            <a:endParaRPr sz="3500">
              <a:latin typeface="Quattrocento Sans"/>
              <a:ea typeface="Quattrocento Sans"/>
              <a:cs typeface="Quattrocento Sans"/>
              <a:sym typeface="Quattrocento Sans"/>
            </a:endParaRPr>
          </a:p>
        </p:txBody>
      </p:sp>
      <p:sp>
        <p:nvSpPr>
          <p:cNvPr id="138" name="Google Shape;138;g11668136614_0_68"/>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b="0" i="0" u="none" strike="noStrike" cap="none">
                <a:solidFill>
                  <a:srgbClr val="333333"/>
                </a:solidFill>
                <a:latin typeface="Quattrocento Sans"/>
                <a:ea typeface="Quattrocento Sans"/>
                <a:cs typeface="Quattrocento Sans"/>
                <a:sym typeface="Quattrocento Sans"/>
              </a:rPr>
              <a:t>Test </a:t>
            </a:r>
            <a:r>
              <a:rPr lang="en-US" sz="4000">
                <a:solidFill>
                  <a:srgbClr val="333333"/>
                </a:solidFill>
                <a:latin typeface="Quattrocento Sans"/>
                <a:ea typeface="Quattrocento Sans"/>
                <a:cs typeface="Quattrocento Sans"/>
                <a:sym typeface="Quattrocento Sans"/>
              </a:rPr>
              <a:t>Case </a:t>
            </a:r>
            <a:r>
              <a:rPr lang="en-US" sz="4000" b="0" i="0" u="none" strike="noStrike" cap="none">
                <a:solidFill>
                  <a:srgbClr val="333333"/>
                </a:solidFill>
                <a:latin typeface="Quattrocento Sans"/>
                <a:ea typeface="Quattrocento Sans"/>
                <a:cs typeface="Quattrocento Sans"/>
                <a:sym typeface="Quattrocento Sans"/>
              </a:rPr>
              <a:t>là gì ?</a:t>
            </a:r>
            <a:endParaRPr sz="40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anim calcmode="lin" valueType="num">
                                      <p:cBhvr additive="base">
                                        <p:cTn id="7" dur="1000"/>
                                        <p:tgtEl>
                                          <p:spTgt spid="13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37">
                                            <p:txEl>
                                              <p:pRg st="1" end="1"/>
                                            </p:txEl>
                                          </p:spTgt>
                                        </p:tgtEl>
                                        <p:attrNameLst>
                                          <p:attrName>style.visibility</p:attrName>
                                        </p:attrNameLst>
                                      </p:cBhvr>
                                      <p:to>
                                        <p:strVal val="visible"/>
                                      </p:to>
                                    </p:set>
                                    <p:anim calcmode="lin" valueType="num">
                                      <p:cBhvr additive="base">
                                        <p:cTn id="12" dur="1000"/>
                                        <p:tgtEl>
                                          <p:spTgt spid="137">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11668136614_0_19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144" name="Google Shape;144;g11668136614_0_197"/>
          <p:cNvSpPr txBox="1"/>
          <p:nvPr/>
        </p:nvSpPr>
        <p:spPr>
          <a:xfrm>
            <a:off x="617100" y="1701675"/>
            <a:ext cx="11574900" cy="5156400"/>
          </a:xfrm>
          <a:prstGeom prst="rect">
            <a:avLst/>
          </a:prstGeom>
          <a:noFill/>
          <a:ln>
            <a:noFill/>
          </a:ln>
        </p:spPr>
        <p:txBody>
          <a:bodyPr spcFirstLastPara="1" wrap="square" lIns="91425" tIns="45700" rIns="91425" bIns="45700" anchor="t" anchorCtr="0">
            <a:noAutofit/>
          </a:bodyPr>
          <a:lstStyle/>
          <a:p>
            <a:pPr marL="914400" marR="0" lvl="1"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Mục tiêu cơ bản của việc viết các trường hợp kiểm thử(TestCase) là xác nhận phạm vi thử nghiệm của một ứng dụng.</a:t>
            </a:r>
            <a:endParaRPr sz="3500">
              <a:latin typeface="Quattrocento Sans"/>
              <a:ea typeface="Quattrocento Sans"/>
              <a:cs typeface="Quattrocento Sans"/>
              <a:sym typeface="Quattrocento Sans"/>
            </a:endParaRPr>
          </a:p>
          <a:p>
            <a:pPr marL="914400" marR="0" lvl="1"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Nếu bạn đang làm việc trong bất kỳ tổ chức CMMi nào, thì các tiêu chuẩn kiểm tra sẽ được tuân thủ chặt chẽ hơn. Viết các trường hợp mang lại một số loại tiêu chuẩn hóa và giảm thiểu cách tiếp cận đặc biệt trong thử nghiệm.</a:t>
            </a:r>
            <a:endParaRPr sz="3500">
              <a:latin typeface="Quattrocento Sans"/>
              <a:ea typeface="Quattrocento Sans"/>
              <a:cs typeface="Quattrocento Sans"/>
              <a:sym typeface="Quattrocento Sans"/>
            </a:endParaRPr>
          </a:p>
          <a:p>
            <a:pPr marL="0" marR="0" lvl="0" indent="0" algn="l" rtl="0">
              <a:lnSpc>
                <a:spcPct val="100000"/>
              </a:lnSpc>
              <a:spcBef>
                <a:spcPts val="0"/>
              </a:spcBef>
              <a:spcAft>
                <a:spcPts val="0"/>
              </a:spcAft>
              <a:buNone/>
            </a:pPr>
            <a:r>
              <a:rPr lang="en-US" sz="2500" i="1">
                <a:solidFill>
                  <a:srgbClr val="202124"/>
                </a:solidFill>
                <a:highlight>
                  <a:srgbClr val="FFFFFF"/>
                </a:highlight>
                <a:latin typeface="Quattrocento Sans"/>
                <a:ea typeface="Quattrocento Sans"/>
                <a:cs typeface="Quattrocento Sans"/>
                <a:sym typeface="Quattrocento Sans"/>
              </a:rPr>
              <a:t>(CMMI viết tắt cho Capability Maturity Model Integration - Mô hình trưởng thành năng lực tích hợp - và là khuôn khổ cho cải tiến qui trình phần mềm.)</a:t>
            </a:r>
            <a:endParaRPr sz="2500" i="1">
              <a:latin typeface="Quattrocento Sans"/>
              <a:ea typeface="Quattrocento Sans"/>
              <a:cs typeface="Quattrocento Sans"/>
              <a:sym typeface="Quattrocento Sans"/>
            </a:endParaRPr>
          </a:p>
        </p:txBody>
      </p:sp>
      <p:sp>
        <p:nvSpPr>
          <p:cNvPr id="145" name="Google Shape;145;g11668136614_0_197"/>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Tại sao viết </a:t>
            </a:r>
            <a:r>
              <a:rPr lang="en-US" sz="4000" b="0" i="0" u="none" strike="noStrike" cap="none">
                <a:solidFill>
                  <a:srgbClr val="333333"/>
                </a:solidFill>
                <a:latin typeface="Quattrocento Sans"/>
                <a:ea typeface="Quattrocento Sans"/>
                <a:cs typeface="Quattrocento Sans"/>
                <a:sym typeface="Quattrocento Sans"/>
              </a:rPr>
              <a:t>Test </a:t>
            </a:r>
            <a:r>
              <a:rPr lang="en-US" sz="4000">
                <a:solidFill>
                  <a:srgbClr val="333333"/>
                </a:solidFill>
                <a:latin typeface="Quattrocento Sans"/>
                <a:ea typeface="Quattrocento Sans"/>
                <a:cs typeface="Quattrocento Sans"/>
                <a:sym typeface="Quattrocento Sans"/>
              </a:rPr>
              <a:t>Case ?</a:t>
            </a:r>
            <a:endParaRPr sz="40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4">
                                            <p:txEl>
                                              <p:pRg st="0" end="0"/>
                                            </p:txEl>
                                          </p:spTgt>
                                        </p:tgtEl>
                                        <p:attrNameLst>
                                          <p:attrName>style.visibility</p:attrName>
                                        </p:attrNameLst>
                                      </p:cBhvr>
                                      <p:to>
                                        <p:strVal val="visible"/>
                                      </p:to>
                                    </p:set>
                                    <p:anim calcmode="lin" valueType="num">
                                      <p:cBhvr additive="base">
                                        <p:cTn id="7" dur="1000"/>
                                        <p:tgtEl>
                                          <p:spTgt spid="14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4">
                                            <p:txEl>
                                              <p:pRg st="1" end="1"/>
                                            </p:txEl>
                                          </p:spTgt>
                                        </p:tgtEl>
                                        <p:attrNameLst>
                                          <p:attrName>style.visibility</p:attrName>
                                        </p:attrNameLst>
                                      </p:cBhvr>
                                      <p:to>
                                        <p:strVal val="visible"/>
                                      </p:to>
                                    </p:set>
                                    <p:anim calcmode="lin" valueType="num">
                                      <p:cBhvr additive="base">
                                        <p:cTn id="12" dur="1000"/>
                                        <p:tgtEl>
                                          <p:spTgt spid="14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44">
                                            <p:txEl>
                                              <p:pRg st="2" end="2"/>
                                            </p:txEl>
                                          </p:spTgt>
                                        </p:tgtEl>
                                        <p:attrNameLst>
                                          <p:attrName>style.visibility</p:attrName>
                                        </p:attrNameLst>
                                      </p:cBhvr>
                                      <p:to>
                                        <p:strVal val="visible"/>
                                      </p:to>
                                    </p:set>
                                    <p:anim calcmode="lin" valueType="num">
                                      <p:cBhvr additive="base">
                                        <p:cTn id="17" dur="1000"/>
                                        <p:tgtEl>
                                          <p:spTgt spid="144">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116633eea3b_0_2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151" name="Google Shape;151;g116633eea3b_0_25"/>
          <p:cNvSpPr txBox="1"/>
          <p:nvPr/>
        </p:nvSpPr>
        <p:spPr>
          <a:xfrm>
            <a:off x="617100" y="1519775"/>
            <a:ext cx="11170800" cy="5156400"/>
          </a:xfrm>
          <a:prstGeom prst="rect">
            <a:avLst/>
          </a:prstGeom>
          <a:noFill/>
          <a:ln>
            <a:noFill/>
          </a:ln>
        </p:spPr>
        <p:txBody>
          <a:bodyPr spcFirstLastPara="1" wrap="square" lIns="91425" tIns="45700" rIns="91425" bIns="45700" anchor="t" anchorCtr="0">
            <a:noAutofit/>
          </a:bodyPr>
          <a:lstStyle/>
          <a:p>
            <a:pPr marL="914400" marR="0" lvl="1" indent="-438150" algn="l" rtl="0">
              <a:lnSpc>
                <a:spcPct val="100000"/>
              </a:lnSpc>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B1: Xác định mục đích test: Trước tiên, bạn cần hiểu rõ đặc tả yêu cầu của khách hàng. Khi bắt đầu viết TCs cho các tính năng của 1 hệ thống phần mềm, việc đầu tiên cần xác định đó là cần hiểu và xác định được yêu cầu của hệ thống.</a:t>
            </a:r>
            <a:endParaRPr sz="3300">
              <a:latin typeface="Quattrocento Sans"/>
              <a:ea typeface="Quattrocento Sans"/>
              <a:cs typeface="Quattrocento Sans"/>
              <a:sym typeface="Quattrocento Sans"/>
            </a:endParaRPr>
          </a:p>
          <a:p>
            <a:pPr marL="914400" marR="0" lvl="1" indent="-438150" algn="l" rtl="0">
              <a:lnSpc>
                <a:spcPct val="100000"/>
              </a:lnSpc>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B2: Xác định hiệu suất testing: Để viết kịch bản thử nghiệm tốt, bạn nên được cần với quen thuộc với các yêu cầu chức năng. Bạn cần phải biết làm thế nào phần mềm được sử dụng bao gồm các hoạt động , tổ chức chức năng khác nhau.</a:t>
            </a:r>
            <a:endParaRPr sz="3300">
              <a:latin typeface="Quattrocento Sans"/>
              <a:ea typeface="Quattrocento Sans"/>
              <a:cs typeface="Quattrocento Sans"/>
              <a:sym typeface="Quattrocento Sans"/>
            </a:endParaRPr>
          </a:p>
        </p:txBody>
      </p:sp>
      <p:sp>
        <p:nvSpPr>
          <p:cNvPr id="152" name="Google Shape;152;g116633eea3b_0_25"/>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Các bước xác định Testcase</a:t>
            </a:r>
            <a:endParaRPr sz="40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1">
                                            <p:txEl>
                                              <p:pRg st="0" end="0"/>
                                            </p:txEl>
                                          </p:spTgt>
                                        </p:tgtEl>
                                        <p:attrNameLst>
                                          <p:attrName>style.visibility</p:attrName>
                                        </p:attrNameLst>
                                      </p:cBhvr>
                                      <p:to>
                                        <p:strVal val="visible"/>
                                      </p:to>
                                    </p:set>
                                    <p:anim calcmode="lin" valueType="num">
                                      <p:cBhvr additive="base">
                                        <p:cTn id="7" dur="1000"/>
                                        <p:tgtEl>
                                          <p:spTgt spid="15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51">
                                            <p:txEl>
                                              <p:pRg st="1" end="1"/>
                                            </p:txEl>
                                          </p:spTgt>
                                        </p:tgtEl>
                                        <p:attrNameLst>
                                          <p:attrName>style.visibility</p:attrName>
                                        </p:attrNameLst>
                                      </p:cBhvr>
                                      <p:to>
                                        <p:strVal val="visible"/>
                                      </p:to>
                                    </p:set>
                                    <p:anim calcmode="lin" valueType="num">
                                      <p:cBhvr additive="base">
                                        <p:cTn id="12" dur="1000"/>
                                        <p:tgtEl>
                                          <p:spTgt spid="151">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116633eea3b_0_3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158" name="Google Shape;158;g116633eea3b_0_36"/>
          <p:cNvSpPr txBox="1"/>
          <p:nvPr/>
        </p:nvSpPr>
        <p:spPr>
          <a:xfrm>
            <a:off x="507975" y="850800"/>
            <a:ext cx="11425200" cy="5916300"/>
          </a:xfrm>
          <a:prstGeom prst="rect">
            <a:avLst/>
          </a:prstGeom>
          <a:noFill/>
          <a:ln>
            <a:noFill/>
          </a:ln>
        </p:spPr>
        <p:txBody>
          <a:bodyPr spcFirstLastPara="1" wrap="square" lIns="91425" tIns="45700" rIns="91425" bIns="45700" anchor="t" anchorCtr="0">
            <a:noAutofit/>
          </a:bodyPr>
          <a:lstStyle/>
          <a:p>
            <a:pPr marL="914400" marR="0" lvl="1"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B3: Xác định các yêu cầu phi chức năng: Để hiểu những khía cạnh khác của phần mềm liên quan đến các yêu cầu phi chức năng (non-function) như yêu cầu phần cứng, hệ điều hành, các khía cạnh an ninh phải được xem xét và điều kiện tiên quyết khác như các tập tin dữ liệu hoặc chuẩn bị dữ liệu thử nghiệm.</a:t>
            </a:r>
            <a:endParaRPr sz="3500">
              <a:latin typeface="Quattrocento Sans"/>
              <a:ea typeface="Quattrocento Sans"/>
              <a:cs typeface="Quattrocento Sans"/>
              <a:sym typeface="Quattrocento Sans"/>
            </a:endParaRPr>
          </a:p>
          <a:p>
            <a:pPr marL="0" marR="0" lvl="0" indent="0" algn="l" rtl="0">
              <a:lnSpc>
                <a:spcPct val="100000"/>
              </a:lnSpc>
              <a:spcBef>
                <a:spcPts val="0"/>
              </a:spcBef>
              <a:spcAft>
                <a:spcPts val="0"/>
              </a:spcAft>
              <a:buNone/>
            </a:pPr>
            <a:r>
              <a:rPr lang="en-US" sz="3300">
                <a:latin typeface="Quattrocento Sans"/>
                <a:ea typeface="Quattrocento Sans"/>
                <a:cs typeface="Quattrocento Sans"/>
                <a:sym typeface="Quattrocento Sans"/>
              </a:rPr>
              <a:t>Ví dụ: Nếu phần mềm đòi hỏi người dùng phải điền vào các form, để đảm bảo rằng nó sẽ không time-out khi chờ submit form. Đồng thời, cũng cần check thời gian log-in hệ thống để đảm bảo rằng phiên làm việc đó của người dùng (session) không bị hết hạn, đây được gọi là trường hợp kiểm thử security.</a:t>
            </a:r>
            <a:endParaRPr sz="33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anim calcmode="lin" valueType="num">
                                      <p:cBhvr additive="base">
                                        <p:cTn id="7" dur="1000"/>
                                        <p:tgtEl>
                                          <p:spTgt spid="15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58">
                                            <p:txEl>
                                              <p:pRg st="1" end="1"/>
                                            </p:txEl>
                                          </p:spTgt>
                                        </p:tgtEl>
                                        <p:attrNameLst>
                                          <p:attrName>style.visibility</p:attrName>
                                        </p:attrNameLst>
                                      </p:cBhvr>
                                      <p:to>
                                        <p:strVal val="visible"/>
                                      </p:to>
                                    </p:set>
                                    <p:anim calcmode="lin" valueType="num">
                                      <p:cBhvr additive="base">
                                        <p:cTn id="12" dur="1000"/>
                                        <p:tgtEl>
                                          <p:spTgt spid="158">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116633eea3b_0_8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164" name="Google Shape;164;g116633eea3b_0_82"/>
          <p:cNvSpPr txBox="1"/>
          <p:nvPr/>
        </p:nvSpPr>
        <p:spPr>
          <a:xfrm>
            <a:off x="507975" y="850800"/>
            <a:ext cx="11425200" cy="5916300"/>
          </a:xfrm>
          <a:prstGeom prst="rect">
            <a:avLst/>
          </a:prstGeom>
          <a:noFill/>
          <a:ln>
            <a:noFill/>
          </a:ln>
        </p:spPr>
        <p:txBody>
          <a:bodyPr spcFirstLastPara="1" wrap="square" lIns="91425" tIns="45700" rIns="91425" bIns="45700" anchor="t" anchorCtr="0">
            <a:noAutofit/>
          </a:bodyPr>
          <a:lstStyle/>
          <a:p>
            <a:pPr marL="914400" marR="0" lvl="1"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B4: Xác định biểu mẫu cho TCs: Các trường hợp thử nghiệm nên bao gồm giao diện UI, chức năng, khả năng tương thích và hiệu suất của một số chức năng. Mỗi thể loại nên được xác định phù hợp với logic của ứng dụng phần mềm.</a:t>
            </a:r>
            <a:endParaRPr sz="3500">
              <a:latin typeface="Quattrocento Sans"/>
              <a:ea typeface="Quattrocento Sans"/>
              <a:cs typeface="Quattrocento Sans"/>
              <a:sym typeface="Quattrocento Sans"/>
            </a:endParaRPr>
          </a:p>
          <a:p>
            <a:pPr marL="914400" marR="0" lvl="1"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B5: Xác định tính ảnh hưởng giữa các nguyên tắc mô-đun: Cần hiểu rõ chức năng thực hiện của 1 mô-đun và sự tương tác của mô-đun đó với các mô-đun khác để xác định được follow, sự khớp nối của hệ thống.</a:t>
            </a:r>
            <a:endParaRPr sz="35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anim calcmode="lin" valueType="num">
                                      <p:cBhvr additive="base">
                                        <p:cTn id="7" dur="1000"/>
                                        <p:tgtEl>
                                          <p:spTgt spid="16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64">
                                            <p:txEl>
                                              <p:pRg st="1" end="1"/>
                                            </p:txEl>
                                          </p:spTgt>
                                        </p:tgtEl>
                                        <p:attrNameLst>
                                          <p:attrName>style.visibility</p:attrName>
                                        </p:attrNameLst>
                                      </p:cBhvr>
                                      <p:to>
                                        <p:strVal val="visible"/>
                                      </p:to>
                                    </p:set>
                                    <p:anim calcmode="lin" valueType="num">
                                      <p:cBhvr additive="base">
                                        <p:cTn id="12" dur="1000"/>
                                        <p:tgtEl>
                                          <p:spTgt spid="164">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116633eea3b_0_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170" name="Google Shape;170;g116633eea3b_0_2"/>
          <p:cNvSpPr txBox="1"/>
          <p:nvPr/>
        </p:nvSpPr>
        <p:spPr>
          <a:xfrm>
            <a:off x="617100" y="1701675"/>
            <a:ext cx="5385900" cy="5156400"/>
          </a:xfrm>
          <a:prstGeom prst="rect">
            <a:avLst/>
          </a:prstGeom>
          <a:noFill/>
          <a:ln>
            <a:noFill/>
          </a:ln>
        </p:spPr>
        <p:txBody>
          <a:bodyPr spcFirstLastPara="1" wrap="square" lIns="91425" tIns="45700" rIns="91425" bIns="45700" anchor="t" anchorCtr="0">
            <a:noAutofit/>
          </a:bodyPr>
          <a:lstStyle/>
          <a:p>
            <a:pPr marL="914400" marR="0" lvl="1" indent="-488950" algn="l" rtl="0">
              <a:lnSpc>
                <a:spcPct val="100000"/>
              </a:lnSpc>
              <a:spcBef>
                <a:spcPts val="0"/>
              </a:spcBef>
              <a:spcAft>
                <a:spcPts val="0"/>
              </a:spcAft>
              <a:buClr>
                <a:srgbClr val="FF5A33"/>
              </a:buClr>
              <a:buSzPts val="4100"/>
              <a:buFont typeface="Quattrocento Sans"/>
              <a:buChar char="❖"/>
            </a:pPr>
            <a:r>
              <a:rPr lang="en-US" sz="3100">
                <a:latin typeface="Quattrocento Sans"/>
                <a:ea typeface="Quattrocento Sans"/>
                <a:cs typeface="Quattrocento Sans"/>
                <a:sym typeface="Quattrocento Sans"/>
              </a:rPr>
              <a:t>Test case id: Id trường hợp thử nghiệm</a:t>
            </a:r>
            <a:endParaRPr sz="3100">
              <a:latin typeface="Quattrocento Sans"/>
              <a:ea typeface="Quattrocento Sans"/>
              <a:cs typeface="Quattrocento Sans"/>
              <a:sym typeface="Quattrocento Sans"/>
            </a:endParaRPr>
          </a:p>
          <a:p>
            <a:pPr marL="914400" marR="0" lvl="1" indent="-488950" algn="l" rtl="0">
              <a:lnSpc>
                <a:spcPct val="100000"/>
              </a:lnSpc>
              <a:spcBef>
                <a:spcPts val="0"/>
              </a:spcBef>
              <a:spcAft>
                <a:spcPts val="0"/>
              </a:spcAft>
              <a:buClr>
                <a:srgbClr val="FF5A33"/>
              </a:buClr>
              <a:buSzPts val="4100"/>
              <a:buFont typeface="Quattrocento Sans"/>
              <a:buChar char="❖"/>
            </a:pPr>
            <a:r>
              <a:rPr lang="en-US" sz="3100">
                <a:latin typeface="Quattrocento Sans"/>
                <a:ea typeface="Quattrocento Sans"/>
                <a:cs typeface="Quattrocento Sans"/>
                <a:sym typeface="Quattrocento Sans"/>
              </a:rPr>
              <a:t>Unit to test: Đơn vị để kiểm tra</a:t>
            </a:r>
            <a:endParaRPr sz="3100">
              <a:latin typeface="Quattrocento Sans"/>
              <a:ea typeface="Quattrocento Sans"/>
              <a:cs typeface="Quattrocento Sans"/>
              <a:sym typeface="Quattrocento Sans"/>
            </a:endParaRPr>
          </a:p>
          <a:p>
            <a:pPr marL="914400" marR="0" lvl="1" indent="-488950" algn="l" rtl="0">
              <a:lnSpc>
                <a:spcPct val="100000"/>
              </a:lnSpc>
              <a:spcBef>
                <a:spcPts val="0"/>
              </a:spcBef>
              <a:spcAft>
                <a:spcPts val="0"/>
              </a:spcAft>
              <a:buClr>
                <a:srgbClr val="FF5A33"/>
              </a:buClr>
              <a:buSzPts val="4100"/>
              <a:buFont typeface="Quattrocento Sans"/>
              <a:buChar char="❖"/>
            </a:pPr>
            <a:r>
              <a:rPr lang="en-US" sz="3100">
                <a:latin typeface="Quattrocento Sans"/>
                <a:ea typeface="Quattrocento Sans"/>
                <a:cs typeface="Quattrocento Sans"/>
                <a:sym typeface="Quattrocento Sans"/>
              </a:rPr>
              <a:t>Assumptions: Mô tả tóm tắt</a:t>
            </a:r>
            <a:endParaRPr sz="3100">
              <a:latin typeface="Quattrocento Sans"/>
              <a:ea typeface="Quattrocento Sans"/>
              <a:cs typeface="Quattrocento Sans"/>
              <a:sym typeface="Quattrocento Sans"/>
            </a:endParaRPr>
          </a:p>
          <a:p>
            <a:pPr marL="914400" marR="0" lvl="1" indent="-488950" algn="l" rtl="0">
              <a:lnSpc>
                <a:spcPct val="100000"/>
              </a:lnSpc>
              <a:spcBef>
                <a:spcPts val="0"/>
              </a:spcBef>
              <a:spcAft>
                <a:spcPts val="0"/>
              </a:spcAft>
              <a:buClr>
                <a:srgbClr val="FF5A33"/>
              </a:buClr>
              <a:buSzPts val="4100"/>
              <a:buFont typeface="Quattrocento Sans"/>
              <a:buChar char="❖"/>
            </a:pPr>
            <a:r>
              <a:rPr lang="en-US" sz="3100">
                <a:latin typeface="Quattrocento Sans"/>
                <a:ea typeface="Quattrocento Sans"/>
                <a:cs typeface="Quattrocento Sans"/>
                <a:sym typeface="Quattrocento Sans"/>
              </a:rPr>
              <a:t>Test data:  Dữ liệu kiểm tra</a:t>
            </a:r>
            <a:endParaRPr sz="3100">
              <a:latin typeface="Quattrocento Sans"/>
              <a:ea typeface="Quattrocento Sans"/>
              <a:cs typeface="Quattrocento Sans"/>
              <a:sym typeface="Quattrocento Sans"/>
            </a:endParaRPr>
          </a:p>
        </p:txBody>
      </p:sp>
      <p:sp>
        <p:nvSpPr>
          <p:cNvPr id="171" name="Google Shape;171;g116633eea3b_0_2"/>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Cấu trúc cần thiết khi viết </a:t>
            </a:r>
            <a:r>
              <a:rPr lang="en-US" sz="4000" b="0" i="0" u="none" strike="noStrike" cap="none">
                <a:solidFill>
                  <a:srgbClr val="333333"/>
                </a:solidFill>
                <a:latin typeface="Quattrocento Sans"/>
                <a:ea typeface="Quattrocento Sans"/>
                <a:cs typeface="Quattrocento Sans"/>
                <a:sym typeface="Quattrocento Sans"/>
              </a:rPr>
              <a:t>Test </a:t>
            </a:r>
            <a:r>
              <a:rPr lang="en-US" sz="4000">
                <a:solidFill>
                  <a:srgbClr val="333333"/>
                </a:solidFill>
                <a:latin typeface="Quattrocento Sans"/>
                <a:ea typeface="Quattrocento Sans"/>
                <a:cs typeface="Quattrocento Sans"/>
                <a:sym typeface="Quattrocento Sans"/>
              </a:rPr>
              <a:t>Case</a:t>
            </a:r>
            <a:endParaRPr sz="4000" b="0" i="0" u="none" strike="noStrike" cap="none">
              <a:solidFill>
                <a:schemeClr val="dk1"/>
              </a:solidFill>
              <a:latin typeface="Quattrocento Sans"/>
              <a:ea typeface="Quattrocento Sans"/>
              <a:cs typeface="Quattrocento Sans"/>
              <a:sym typeface="Quattrocento Sans"/>
            </a:endParaRPr>
          </a:p>
        </p:txBody>
      </p:sp>
      <p:sp>
        <p:nvSpPr>
          <p:cNvPr id="172" name="Google Shape;172;g116633eea3b_0_2"/>
          <p:cNvSpPr txBox="1"/>
          <p:nvPr/>
        </p:nvSpPr>
        <p:spPr>
          <a:xfrm>
            <a:off x="6196400" y="1701675"/>
            <a:ext cx="5385900" cy="5156400"/>
          </a:xfrm>
          <a:prstGeom prst="rect">
            <a:avLst/>
          </a:prstGeom>
          <a:noFill/>
          <a:ln>
            <a:noFill/>
          </a:ln>
        </p:spPr>
        <p:txBody>
          <a:bodyPr spcFirstLastPara="1" wrap="square" lIns="91425" tIns="45700" rIns="91425" bIns="45700" anchor="t" anchorCtr="0">
            <a:noAutofit/>
          </a:bodyPr>
          <a:lstStyle/>
          <a:p>
            <a:pPr marL="914400" marR="0" lvl="1" indent="-488950" algn="l" rtl="0">
              <a:lnSpc>
                <a:spcPct val="100000"/>
              </a:lnSpc>
              <a:spcBef>
                <a:spcPts val="0"/>
              </a:spcBef>
              <a:spcAft>
                <a:spcPts val="0"/>
              </a:spcAft>
              <a:buClr>
                <a:srgbClr val="FF5A33"/>
              </a:buClr>
              <a:buSzPts val="4100"/>
              <a:buFont typeface="Quattrocento Sans"/>
              <a:buChar char="❖"/>
            </a:pPr>
            <a:r>
              <a:rPr lang="en-US" sz="3100">
                <a:latin typeface="Quattrocento Sans"/>
                <a:ea typeface="Quattrocento Sans"/>
                <a:cs typeface="Quattrocento Sans"/>
                <a:sym typeface="Quattrocento Sans"/>
              </a:rPr>
              <a:t>Steps to be executed: Các bước thực thi</a:t>
            </a:r>
            <a:endParaRPr sz="3100">
              <a:latin typeface="Quattrocento Sans"/>
              <a:ea typeface="Quattrocento Sans"/>
              <a:cs typeface="Quattrocento Sans"/>
              <a:sym typeface="Quattrocento Sans"/>
            </a:endParaRPr>
          </a:p>
          <a:p>
            <a:pPr marL="914400" marR="0" lvl="1" indent="-488950" algn="l" rtl="0">
              <a:lnSpc>
                <a:spcPct val="100000"/>
              </a:lnSpc>
              <a:spcBef>
                <a:spcPts val="0"/>
              </a:spcBef>
              <a:spcAft>
                <a:spcPts val="0"/>
              </a:spcAft>
              <a:buClr>
                <a:srgbClr val="FF5A33"/>
              </a:buClr>
              <a:buSzPts val="4100"/>
              <a:buFont typeface="Quattrocento Sans"/>
              <a:buChar char="❖"/>
            </a:pPr>
            <a:r>
              <a:rPr lang="en-US" sz="3100">
                <a:latin typeface="Quattrocento Sans"/>
                <a:ea typeface="Quattrocento Sans"/>
                <a:cs typeface="Quattrocento Sans"/>
                <a:sym typeface="Quattrocento Sans"/>
              </a:rPr>
              <a:t>Expected Result: Kết quả mong muốn</a:t>
            </a:r>
            <a:endParaRPr sz="3100">
              <a:latin typeface="Quattrocento Sans"/>
              <a:ea typeface="Quattrocento Sans"/>
              <a:cs typeface="Quattrocento Sans"/>
              <a:sym typeface="Quattrocento Sans"/>
            </a:endParaRPr>
          </a:p>
          <a:p>
            <a:pPr marL="914400" marR="0" lvl="1" indent="-488950" algn="l" rtl="0">
              <a:lnSpc>
                <a:spcPct val="100000"/>
              </a:lnSpc>
              <a:spcBef>
                <a:spcPts val="0"/>
              </a:spcBef>
              <a:spcAft>
                <a:spcPts val="0"/>
              </a:spcAft>
              <a:buClr>
                <a:srgbClr val="FF5A33"/>
              </a:buClr>
              <a:buSzPts val="4100"/>
              <a:buFont typeface="Quattrocento Sans"/>
              <a:buChar char="❖"/>
            </a:pPr>
            <a:r>
              <a:rPr lang="en-US" sz="3100">
                <a:latin typeface="Quattrocento Sans"/>
                <a:ea typeface="Quattrocento Sans"/>
                <a:cs typeface="Quattrocento Sans"/>
                <a:sym typeface="Quattrocento Sans"/>
              </a:rPr>
              <a:t>Actual result: Kết quả thực tế</a:t>
            </a:r>
            <a:endParaRPr sz="3100">
              <a:latin typeface="Quattrocento Sans"/>
              <a:ea typeface="Quattrocento Sans"/>
              <a:cs typeface="Quattrocento Sans"/>
              <a:sym typeface="Quattrocento Sans"/>
            </a:endParaRPr>
          </a:p>
          <a:p>
            <a:pPr marL="914400" marR="0" lvl="1" indent="-488950" algn="l" rtl="0">
              <a:lnSpc>
                <a:spcPct val="100000"/>
              </a:lnSpc>
              <a:spcBef>
                <a:spcPts val="0"/>
              </a:spcBef>
              <a:spcAft>
                <a:spcPts val="0"/>
              </a:spcAft>
              <a:buClr>
                <a:srgbClr val="FF5A33"/>
              </a:buClr>
              <a:buSzPts val="4100"/>
              <a:buFont typeface="Quattrocento Sans"/>
              <a:buChar char="❖"/>
            </a:pPr>
            <a:r>
              <a:rPr lang="en-US" sz="3100">
                <a:latin typeface="Quattrocento Sans"/>
                <a:ea typeface="Quattrocento Sans"/>
                <a:cs typeface="Quattrocento Sans"/>
                <a:sym typeface="Quattrocento Sans"/>
              </a:rPr>
              <a:t>Pass/Fail </a:t>
            </a:r>
            <a:endParaRPr sz="3100">
              <a:latin typeface="Quattrocento Sans"/>
              <a:ea typeface="Quattrocento Sans"/>
              <a:cs typeface="Quattrocento Sans"/>
              <a:sym typeface="Quattrocento Sans"/>
            </a:endParaRPr>
          </a:p>
          <a:p>
            <a:pPr marL="914400" marR="0" lvl="1" indent="-488950" algn="l" rtl="0">
              <a:lnSpc>
                <a:spcPct val="100000"/>
              </a:lnSpc>
              <a:spcBef>
                <a:spcPts val="0"/>
              </a:spcBef>
              <a:spcAft>
                <a:spcPts val="0"/>
              </a:spcAft>
              <a:buClr>
                <a:srgbClr val="FF5A33"/>
              </a:buClr>
              <a:buSzPts val="4100"/>
              <a:buFont typeface="Quattrocento Sans"/>
              <a:buChar char="❖"/>
            </a:pPr>
            <a:r>
              <a:rPr lang="en-US" sz="3100">
                <a:latin typeface="Quattrocento Sans"/>
                <a:ea typeface="Quattrocento Sans"/>
                <a:cs typeface="Quattrocento Sans"/>
                <a:sym typeface="Quattrocento Sans"/>
              </a:rPr>
              <a:t>Comments: Ghi chú</a:t>
            </a:r>
            <a:endParaRPr sz="31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116633eea3b_0_18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178" name="Google Shape;178;g116633eea3b_0_183"/>
          <p:cNvSpPr txBox="1"/>
          <p:nvPr/>
        </p:nvSpPr>
        <p:spPr>
          <a:xfrm>
            <a:off x="617100" y="2353150"/>
            <a:ext cx="10965300" cy="4329900"/>
          </a:xfrm>
          <a:prstGeom prst="rect">
            <a:avLst/>
          </a:prstGeom>
          <a:noFill/>
          <a:ln>
            <a:noFill/>
          </a:ln>
        </p:spPr>
        <p:txBody>
          <a:bodyPr spcFirstLastPara="1" wrap="square" lIns="91425" tIns="45700" rIns="91425" bIns="45700" anchor="t" anchorCtr="0">
            <a:noAutofit/>
          </a:bodyPr>
          <a:lstStyle/>
          <a:p>
            <a:pPr marL="914400" marR="0" lvl="1" indent="-457200" algn="l" rtl="0">
              <a:lnSpc>
                <a:spcPct val="100000"/>
              </a:lnSpc>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Các TestCase có xu hướng sửa đổi và cập nhật thường xuyên</a:t>
            </a:r>
            <a:endParaRPr sz="3600">
              <a:latin typeface="Quattrocento Sans"/>
              <a:ea typeface="Quattrocento Sans"/>
              <a:cs typeface="Quattrocento Sans"/>
              <a:sym typeface="Quattrocento Sans"/>
            </a:endParaRPr>
          </a:p>
          <a:p>
            <a:pPr marL="914400" marR="0" lvl="1" indent="-457200" algn="l" rtl="0">
              <a:lnSpc>
                <a:spcPct val="100000"/>
              </a:lnSpc>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Các TestCase có xu hướng phân bổ giữa những  Tester</a:t>
            </a:r>
            <a:endParaRPr sz="3600">
              <a:latin typeface="Quattrocento Sans"/>
              <a:ea typeface="Quattrocento Sans"/>
              <a:cs typeface="Quattrocento Sans"/>
              <a:sym typeface="Quattrocento Sans"/>
            </a:endParaRPr>
          </a:p>
          <a:p>
            <a:pPr marL="914400" marR="0" lvl="1" indent="-457200" algn="l" rtl="0">
              <a:lnSpc>
                <a:spcPct val="100000"/>
              </a:lnSpc>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Các TestCase có xu hướng phân cụm và theo nhóm</a:t>
            </a:r>
            <a:endParaRPr sz="3600">
              <a:latin typeface="Quattrocento Sans"/>
              <a:ea typeface="Quattrocento Sans"/>
              <a:cs typeface="Quattrocento Sans"/>
              <a:sym typeface="Quattrocento Sans"/>
            </a:endParaRPr>
          </a:p>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TestCase có xu hướng phụ thuộc lẫn nhau</a:t>
            </a:r>
            <a:endParaRPr sz="3600">
              <a:latin typeface="Quattrocento Sans"/>
              <a:ea typeface="Quattrocento Sans"/>
              <a:cs typeface="Quattrocento Sans"/>
              <a:sym typeface="Quattrocento Sans"/>
            </a:endParaRPr>
          </a:p>
        </p:txBody>
      </p:sp>
      <p:sp>
        <p:nvSpPr>
          <p:cNvPr id="179" name="Google Shape;179;g116633eea3b_0_183"/>
          <p:cNvSpPr txBox="1"/>
          <p:nvPr/>
        </p:nvSpPr>
        <p:spPr>
          <a:xfrm>
            <a:off x="617100" y="937150"/>
            <a:ext cx="10965300" cy="14160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Các yếu tố quan trọng liên quan đến quá trình viết TestCase</a:t>
            </a:r>
            <a:endParaRPr sz="40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78">
                                            <p:txEl>
                                              <p:pRg st="0" end="0"/>
                                            </p:txEl>
                                          </p:spTgt>
                                        </p:tgtEl>
                                        <p:attrNameLst>
                                          <p:attrName>style.visibility</p:attrName>
                                        </p:attrNameLst>
                                      </p:cBhvr>
                                      <p:to>
                                        <p:strVal val="visible"/>
                                      </p:to>
                                    </p:set>
                                    <p:anim calcmode="lin" valueType="num">
                                      <p:cBhvr additive="base">
                                        <p:cTn id="7" dur="1000"/>
                                        <p:tgtEl>
                                          <p:spTgt spid="17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78">
                                            <p:txEl>
                                              <p:pRg st="1" end="1"/>
                                            </p:txEl>
                                          </p:spTgt>
                                        </p:tgtEl>
                                        <p:attrNameLst>
                                          <p:attrName>style.visibility</p:attrName>
                                        </p:attrNameLst>
                                      </p:cBhvr>
                                      <p:to>
                                        <p:strVal val="visible"/>
                                      </p:to>
                                    </p:set>
                                    <p:anim calcmode="lin" valueType="num">
                                      <p:cBhvr additive="base">
                                        <p:cTn id="12" dur="1000"/>
                                        <p:tgtEl>
                                          <p:spTgt spid="17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78">
                                            <p:txEl>
                                              <p:pRg st="2" end="2"/>
                                            </p:txEl>
                                          </p:spTgt>
                                        </p:tgtEl>
                                        <p:attrNameLst>
                                          <p:attrName>style.visibility</p:attrName>
                                        </p:attrNameLst>
                                      </p:cBhvr>
                                      <p:to>
                                        <p:strVal val="visible"/>
                                      </p:to>
                                    </p:set>
                                    <p:anim calcmode="lin" valueType="num">
                                      <p:cBhvr additive="base">
                                        <p:cTn id="17" dur="1000"/>
                                        <p:tgtEl>
                                          <p:spTgt spid="17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78">
                                            <p:txEl>
                                              <p:pRg st="3" end="3"/>
                                            </p:txEl>
                                          </p:spTgt>
                                        </p:tgtEl>
                                        <p:attrNameLst>
                                          <p:attrName>style.visibility</p:attrName>
                                        </p:attrNameLst>
                                      </p:cBhvr>
                                      <p:to>
                                        <p:strVal val="visible"/>
                                      </p:to>
                                    </p:set>
                                    <p:anim calcmode="lin" valueType="num">
                                      <p:cBhvr additive="base">
                                        <p:cTn id="22" dur="1000"/>
                                        <p:tgtEl>
                                          <p:spTgt spid="178">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16633eea3b_0_4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185" name="Google Shape;185;g116633eea3b_0_43"/>
          <p:cNvSpPr txBox="1"/>
          <p:nvPr/>
        </p:nvSpPr>
        <p:spPr>
          <a:xfrm>
            <a:off x="617100" y="1701675"/>
            <a:ext cx="11574900" cy="515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3500">
              <a:latin typeface="Quattrocento Sans"/>
              <a:ea typeface="Quattrocento Sans"/>
              <a:cs typeface="Quattrocento Sans"/>
              <a:sym typeface="Quattrocento Sans"/>
            </a:endParaRPr>
          </a:p>
        </p:txBody>
      </p:sp>
      <p:sp>
        <p:nvSpPr>
          <p:cNvPr id="186" name="Google Shape;186;g116633eea3b_0_43"/>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Mẫu Test Case</a:t>
            </a:r>
            <a:endParaRPr sz="4000" b="0" i="0" u="none" strike="noStrike" cap="none">
              <a:solidFill>
                <a:schemeClr val="dk1"/>
              </a:solidFill>
              <a:latin typeface="Quattrocento Sans"/>
              <a:ea typeface="Quattrocento Sans"/>
              <a:cs typeface="Quattrocento Sans"/>
              <a:sym typeface="Quattrocento Sans"/>
            </a:endParaRPr>
          </a:p>
        </p:txBody>
      </p:sp>
      <p:pic>
        <p:nvPicPr>
          <p:cNvPr id="187" name="Google Shape;187;g116633eea3b_0_43"/>
          <p:cNvPicPr preferRelativeResize="0"/>
          <p:nvPr/>
        </p:nvPicPr>
        <p:blipFill>
          <a:blip r:embed="rId3">
            <a:alphaModFix/>
          </a:blip>
          <a:stretch>
            <a:fillRect/>
          </a:stretch>
        </p:blipFill>
        <p:spPr>
          <a:xfrm>
            <a:off x="1347153" y="1737550"/>
            <a:ext cx="10227747" cy="3886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116633eea3b_0_10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193" name="Google Shape;193;g116633eea3b_0_103"/>
          <p:cNvSpPr txBox="1"/>
          <p:nvPr/>
        </p:nvSpPr>
        <p:spPr>
          <a:xfrm>
            <a:off x="617100" y="1701675"/>
            <a:ext cx="11574900" cy="515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3500">
                <a:latin typeface="Quattrocento Sans"/>
                <a:ea typeface="Quattrocento Sans"/>
                <a:cs typeface="Quattrocento Sans"/>
                <a:sym typeface="Quattrocento Sans"/>
              </a:rPr>
              <a:t>Thực hiện viết TCs cho chức năng đăng nhập facebook trên máy tính.</a:t>
            </a:r>
            <a:endParaRPr sz="3500">
              <a:latin typeface="Quattrocento Sans"/>
              <a:ea typeface="Quattrocento Sans"/>
              <a:cs typeface="Quattrocento Sans"/>
              <a:sym typeface="Quattrocento Sans"/>
            </a:endParaRPr>
          </a:p>
        </p:txBody>
      </p:sp>
      <p:sp>
        <p:nvSpPr>
          <p:cNvPr id="194" name="Google Shape;194;g116633eea3b_0_103"/>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các bước xác định Testcase</a:t>
            </a:r>
            <a:endParaRPr sz="40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116633eea3b_0_10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200" name="Google Shape;200;g116633eea3b_0_109"/>
          <p:cNvSpPr txBox="1"/>
          <p:nvPr/>
        </p:nvSpPr>
        <p:spPr>
          <a:xfrm>
            <a:off x="617100" y="850800"/>
            <a:ext cx="11334300" cy="5843400"/>
          </a:xfrm>
          <a:prstGeom prst="rect">
            <a:avLst/>
          </a:prstGeom>
          <a:noFill/>
          <a:ln>
            <a:noFill/>
          </a:ln>
        </p:spPr>
        <p:txBody>
          <a:bodyPr spcFirstLastPara="1" wrap="square" lIns="91425" tIns="45700" rIns="91425" bIns="45700" anchor="t" anchorCtr="0">
            <a:noAutofit/>
          </a:bodyPr>
          <a:lstStyle/>
          <a:p>
            <a:pPr marL="914400" marR="0" lvl="1" indent="-457200" algn="l" rtl="0">
              <a:lnSpc>
                <a:spcPct val="100000"/>
              </a:lnSpc>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B1: Xác định mục đích test: </a:t>
            </a:r>
            <a:endParaRPr sz="3600">
              <a:latin typeface="Quattrocento Sans"/>
              <a:ea typeface="Quattrocento Sans"/>
              <a:cs typeface="Quattrocento Sans"/>
              <a:sym typeface="Quattrocento Sans"/>
            </a:endParaRPr>
          </a:p>
          <a:p>
            <a:pPr marL="1371600" marR="0" lvl="2" indent="-457200" algn="l" rtl="0">
              <a:lnSpc>
                <a:spcPct val="100000"/>
              </a:lnSpc>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Kiểm tra việc đăng nhập thành công vào hệ thống facebook, không test chức năng đăng ký ở cùng trên form, chỉ test trên môi trường web ,ko test trên môi trường điện thoại, browser trên điện thoại.</a:t>
            </a:r>
            <a:endParaRPr sz="36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0">
                                            <p:txEl>
                                              <p:pRg st="0" end="0"/>
                                            </p:txEl>
                                          </p:spTgt>
                                        </p:tgtEl>
                                        <p:attrNameLst>
                                          <p:attrName>style.visibility</p:attrName>
                                        </p:attrNameLst>
                                      </p:cBhvr>
                                      <p:to>
                                        <p:strVal val="visible"/>
                                      </p:to>
                                    </p:set>
                                    <p:anim calcmode="lin" valueType="num">
                                      <p:cBhvr additive="base">
                                        <p:cTn id="7" dur="1000"/>
                                        <p:tgtEl>
                                          <p:spTgt spid="20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00">
                                            <p:txEl>
                                              <p:pRg st="1" end="1"/>
                                            </p:txEl>
                                          </p:spTgt>
                                        </p:tgtEl>
                                        <p:attrNameLst>
                                          <p:attrName>style.visibility</p:attrName>
                                        </p:attrNameLst>
                                      </p:cBhvr>
                                      <p:to>
                                        <p:strVal val="visible"/>
                                      </p:to>
                                    </p:set>
                                    <p:anim calcmode="lin" valueType="num">
                                      <p:cBhvr additive="base">
                                        <p:cTn id="12" dur="1000"/>
                                        <p:tgtEl>
                                          <p:spTgt spid="200">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16633eea3b_0_15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206" name="Google Shape;206;g116633eea3b_0_158"/>
          <p:cNvSpPr txBox="1"/>
          <p:nvPr/>
        </p:nvSpPr>
        <p:spPr>
          <a:xfrm>
            <a:off x="617100" y="850800"/>
            <a:ext cx="11334300" cy="58434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B2: Xác định hiệu suất testing: </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Chức năng form login của facebook cũng thực hiện tương tự như hầu hết chức năng của các hệ thống khác. Form login bao gồm: 2 text box email/điện thoại và mật khẩu, 1 button đăng nhập, 1 link quên mật khẩu.</a:t>
            </a:r>
            <a:endParaRPr sz="36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 calcmode="lin" valueType="num">
                                      <p:cBhvr additive="base">
                                        <p:cTn id="7" dur="1000"/>
                                        <p:tgtEl>
                                          <p:spTgt spid="20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06">
                                            <p:txEl>
                                              <p:pRg st="1" end="1"/>
                                            </p:txEl>
                                          </p:spTgt>
                                        </p:tgtEl>
                                        <p:attrNameLst>
                                          <p:attrName>style.visibility</p:attrName>
                                        </p:attrNameLst>
                                      </p:cBhvr>
                                      <p:to>
                                        <p:strVal val="visible"/>
                                      </p:to>
                                    </p:set>
                                    <p:anim calcmode="lin" valueType="num">
                                      <p:cBhvr additive="base">
                                        <p:cTn id="12" dur="1000"/>
                                        <p:tgtEl>
                                          <p:spTgt spid="206">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116633eea3b_0_11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212" name="Google Shape;212;g116633eea3b_0_118"/>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B3: Xác định các yêu cầu phi chức năng: </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Cần check tính bảo mật với những trường hợp email chưa đăng ký vào hệ thống trước đó, lưu mật khẩu vào trình duyệt, loại trình duyệt: firefox, chrome, safari, IE, …, Ngoài ra, cần kiểm tra hệ thống mạng, phần cứng máy tính.</a:t>
            </a:r>
            <a:endParaRPr sz="360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endParaRPr sz="34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2">
                                            <p:txEl>
                                              <p:pRg st="0" end="0"/>
                                            </p:txEl>
                                          </p:spTgt>
                                        </p:tgtEl>
                                        <p:attrNameLst>
                                          <p:attrName>style.visibility</p:attrName>
                                        </p:attrNameLst>
                                      </p:cBhvr>
                                      <p:to>
                                        <p:strVal val="visible"/>
                                      </p:to>
                                    </p:set>
                                    <p:anim calcmode="lin" valueType="num">
                                      <p:cBhvr additive="base">
                                        <p:cTn id="7" dur="1000"/>
                                        <p:tgtEl>
                                          <p:spTgt spid="21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12">
                                            <p:txEl>
                                              <p:pRg st="1" end="1"/>
                                            </p:txEl>
                                          </p:spTgt>
                                        </p:tgtEl>
                                        <p:attrNameLst>
                                          <p:attrName>style.visibility</p:attrName>
                                        </p:attrNameLst>
                                      </p:cBhvr>
                                      <p:to>
                                        <p:strVal val="visible"/>
                                      </p:to>
                                    </p:set>
                                    <p:anim calcmode="lin" valueType="num">
                                      <p:cBhvr additive="base">
                                        <p:cTn id="12" dur="1000"/>
                                        <p:tgtEl>
                                          <p:spTgt spid="21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12">
                                            <p:txEl>
                                              <p:pRg st="2" end="2"/>
                                            </p:txEl>
                                          </p:spTgt>
                                        </p:tgtEl>
                                        <p:attrNameLst>
                                          <p:attrName>style.visibility</p:attrName>
                                        </p:attrNameLst>
                                      </p:cBhvr>
                                      <p:to>
                                        <p:strVal val="visible"/>
                                      </p:to>
                                    </p:set>
                                    <p:anim calcmode="lin" valueType="num">
                                      <p:cBhvr additive="base">
                                        <p:cTn id="17" dur="1000"/>
                                        <p:tgtEl>
                                          <p:spTgt spid="212">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116633eea3b_0_13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218" name="Google Shape;218;g116633eea3b_0_132"/>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B4: Xác định biểu mẫu cho TCs: </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Yêu cầu sẽ bao gồm test các phần: UI, chức năng đăng nhập, tốc độ đăng nhập.</a:t>
            </a:r>
            <a:endParaRPr sz="3600">
              <a:solidFill>
                <a:schemeClr val="dk1"/>
              </a:solidFill>
              <a:latin typeface="Quattrocento Sans"/>
              <a:ea typeface="Quattrocento Sans"/>
              <a:cs typeface="Quattrocento Sans"/>
              <a:sym typeface="Quattrocento Sans"/>
            </a:endParaRPr>
          </a:p>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B5: Xác định tính ảnh hưởng giữa các nguyên tắc mô-đun: </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Có thể check account đăng nhập của người dùng có là 1 account thực hay không so với DB của hệ thống (giả sử ta có DB đó). Sau khi đăng nhập thành công sẽ chuyển hướng tới trang chủ của người dùng.</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8">
                                            <p:txEl>
                                              <p:pRg st="0" end="0"/>
                                            </p:txEl>
                                          </p:spTgt>
                                        </p:tgtEl>
                                        <p:attrNameLst>
                                          <p:attrName>style.visibility</p:attrName>
                                        </p:attrNameLst>
                                      </p:cBhvr>
                                      <p:to>
                                        <p:strVal val="visible"/>
                                      </p:to>
                                    </p:set>
                                    <p:anim calcmode="lin" valueType="num">
                                      <p:cBhvr additive="base">
                                        <p:cTn id="7" dur="1000"/>
                                        <p:tgtEl>
                                          <p:spTgt spid="21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18">
                                            <p:txEl>
                                              <p:pRg st="1" end="1"/>
                                            </p:txEl>
                                          </p:spTgt>
                                        </p:tgtEl>
                                        <p:attrNameLst>
                                          <p:attrName>style.visibility</p:attrName>
                                        </p:attrNameLst>
                                      </p:cBhvr>
                                      <p:to>
                                        <p:strVal val="visible"/>
                                      </p:to>
                                    </p:set>
                                    <p:anim calcmode="lin" valueType="num">
                                      <p:cBhvr additive="base">
                                        <p:cTn id="12" dur="1000"/>
                                        <p:tgtEl>
                                          <p:spTgt spid="21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18">
                                            <p:txEl>
                                              <p:pRg st="2" end="2"/>
                                            </p:txEl>
                                          </p:spTgt>
                                        </p:tgtEl>
                                        <p:attrNameLst>
                                          <p:attrName>style.visibility</p:attrName>
                                        </p:attrNameLst>
                                      </p:cBhvr>
                                      <p:to>
                                        <p:strVal val="visible"/>
                                      </p:to>
                                    </p:set>
                                    <p:anim calcmode="lin" valueType="num">
                                      <p:cBhvr additive="base">
                                        <p:cTn id="17" dur="1000"/>
                                        <p:tgtEl>
                                          <p:spTgt spid="21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18">
                                            <p:txEl>
                                              <p:pRg st="3" end="3"/>
                                            </p:txEl>
                                          </p:spTgt>
                                        </p:tgtEl>
                                        <p:attrNameLst>
                                          <p:attrName>style.visibility</p:attrName>
                                        </p:attrNameLst>
                                      </p:cBhvr>
                                      <p:to>
                                        <p:strVal val="visible"/>
                                      </p:to>
                                    </p:set>
                                    <p:anim calcmode="lin" valueType="num">
                                      <p:cBhvr additive="base">
                                        <p:cTn id="22" dur="1000"/>
                                        <p:tgtEl>
                                          <p:spTgt spid="218">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116633eea3b_0_21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224" name="Google Shape;224;g116633eea3b_0_210"/>
          <p:cNvSpPr txBox="1"/>
          <p:nvPr/>
        </p:nvSpPr>
        <p:spPr>
          <a:xfrm>
            <a:off x="617100" y="1701675"/>
            <a:ext cx="11574900" cy="515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3500">
                <a:latin typeface="Quattrocento Sans"/>
                <a:ea typeface="Quattrocento Sans"/>
                <a:cs typeface="Quattrocento Sans"/>
                <a:sym typeface="Quattrocento Sans"/>
              </a:rPr>
              <a:t>Viết các trường hợp kiểm thử một cách hiệu quả cho màn hình 'Đăng nhập' như trong hình bên dưới</a:t>
            </a:r>
            <a:endParaRPr sz="3500">
              <a:latin typeface="Quattrocento Sans"/>
              <a:ea typeface="Quattrocento Sans"/>
              <a:cs typeface="Quattrocento Sans"/>
              <a:sym typeface="Quattrocento Sans"/>
            </a:endParaRPr>
          </a:p>
        </p:txBody>
      </p:sp>
      <p:sp>
        <p:nvSpPr>
          <p:cNvPr id="225" name="Google Shape;225;g116633eea3b_0_210"/>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thực tế  về các trường hợp kiểm thử</a:t>
            </a:r>
            <a:endParaRPr sz="4000" b="0" i="0" u="none" strike="noStrike" cap="none">
              <a:solidFill>
                <a:schemeClr val="dk1"/>
              </a:solidFill>
              <a:latin typeface="Quattrocento Sans"/>
              <a:ea typeface="Quattrocento Sans"/>
              <a:cs typeface="Quattrocento Sans"/>
              <a:sym typeface="Quattrocento Sans"/>
            </a:endParaRPr>
          </a:p>
        </p:txBody>
      </p:sp>
      <p:pic>
        <p:nvPicPr>
          <p:cNvPr id="226" name="Google Shape;226;g116633eea3b_0_210"/>
          <p:cNvPicPr preferRelativeResize="0"/>
          <p:nvPr/>
        </p:nvPicPr>
        <p:blipFill>
          <a:blip r:embed="rId3">
            <a:alphaModFix/>
          </a:blip>
          <a:stretch>
            <a:fillRect/>
          </a:stretch>
        </p:blipFill>
        <p:spPr>
          <a:xfrm>
            <a:off x="2535663" y="3101575"/>
            <a:ext cx="7737762" cy="27933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116633eea3b_0_21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232" name="Google Shape;232;g116633eea3b_0_219"/>
          <p:cNvSpPr txBox="1"/>
          <p:nvPr/>
        </p:nvSpPr>
        <p:spPr>
          <a:xfrm>
            <a:off x="617100" y="850800"/>
            <a:ext cx="11334300" cy="584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3600">
              <a:latin typeface="Quattrocento Sans"/>
              <a:ea typeface="Quattrocento Sans"/>
              <a:cs typeface="Quattrocento Sans"/>
              <a:sym typeface="Quattrocento Sans"/>
            </a:endParaRPr>
          </a:p>
        </p:txBody>
      </p:sp>
      <p:pic>
        <p:nvPicPr>
          <p:cNvPr id="233" name="Google Shape;233;g116633eea3b_0_219"/>
          <p:cNvPicPr preferRelativeResize="0"/>
          <p:nvPr/>
        </p:nvPicPr>
        <p:blipFill>
          <a:blip r:embed="rId3">
            <a:alphaModFix/>
          </a:blip>
          <a:stretch>
            <a:fillRect/>
          </a:stretch>
        </p:blipFill>
        <p:spPr>
          <a:xfrm>
            <a:off x="72775" y="1200600"/>
            <a:ext cx="12119226" cy="565740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2">
                                            <p:txEl>
                                              <p:pRg st="0" end="0"/>
                                            </p:txEl>
                                          </p:spTgt>
                                        </p:tgtEl>
                                        <p:attrNameLst>
                                          <p:attrName>style.visibility</p:attrName>
                                        </p:attrNameLst>
                                      </p:cBhvr>
                                      <p:to>
                                        <p:strVal val="visible"/>
                                      </p:to>
                                    </p:set>
                                    <p:anim calcmode="lin" valueType="num">
                                      <p:cBhvr additive="base">
                                        <p:cTn id="7" dur="1000"/>
                                        <p:tgtEl>
                                          <p:spTgt spid="232">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116633eea3b_0_50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Tóm tắt bài học</a:t>
            </a:r>
            <a:endParaRPr/>
          </a:p>
        </p:txBody>
      </p:sp>
      <p:sp>
        <p:nvSpPr>
          <p:cNvPr id="239" name="Google Shape;239;g116633eea3b_0_502"/>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240" name="Google Shape;240;g116633eea3b_0_502"/>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1" name="Google Shape;241;g116633eea3b_0_502"/>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42" name="Google Shape;242;g116633eea3b_0_502"/>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914400" lvl="1" indent="-463550" algn="l" rtl="0">
              <a:lnSpc>
                <a:spcPct val="115000"/>
              </a:lnSpc>
              <a:spcBef>
                <a:spcPts val="0"/>
              </a:spcBef>
              <a:spcAft>
                <a:spcPts val="0"/>
              </a:spcAft>
              <a:buClr>
                <a:srgbClr val="333333"/>
              </a:buClr>
              <a:buSzPts val="3700"/>
              <a:buFont typeface="Quattrocento Sans"/>
              <a:buChar char="○"/>
            </a:pPr>
            <a:r>
              <a:rPr lang="en-US" sz="2900" b="1">
                <a:solidFill>
                  <a:srgbClr val="333333"/>
                </a:solidFill>
                <a:latin typeface="Quattrocento Sans"/>
                <a:ea typeface="Quattrocento Sans"/>
                <a:cs typeface="Quattrocento Sans"/>
                <a:sym typeface="Quattrocento Sans"/>
              </a:rPr>
              <a:t>Test Case là gì và Cách viết Test Case?</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Cần chuẩn bị gì khi viết Test Case ?</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Test Case mẫu</a:t>
            </a:r>
            <a:endParaRPr sz="2900" b="1">
              <a:solidFill>
                <a:srgbClr val="333333"/>
              </a:solidFill>
              <a:latin typeface="Quattrocento Sans"/>
              <a:ea typeface="Quattrocento Sans"/>
              <a:cs typeface="Quattrocento Sans"/>
              <a:sym typeface="Quattrocento Sans"/>
            </a:endParaRPr>
          </a:p>
        </p:txBody>
      </p:sp>
      <p:sp>
        <p:nvSpPr>
          <p:cNvPr id="243" name="Google Shape;243;g116633eea3b_0_502"/>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244" name="Google Shape;244;g116633eea3b_0_502"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116633eea3b_0_48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250" name="Google Shape;250;g116633eea3b_0_482"/>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251" name="Google Shape;251;g116633eea3b_0_482"/>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2" name="Google Shape;252;g116633eea3b_0_482"/>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53" name="Google Shape;253;g116633eea3b_0_482"/>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12750" algn="l" rtl="0">
              <a:lnSpc>
                <a:spcPct val="115000"/>
              </a:lnSpc>
              <a:spcBef>
                <a:spcPts val="0"/>
              </a:spcBef>
              <a:spcAft>
                <a:spcPts val="0"/>
              </a:spcAft>
              <a:buClr>
                <a:srgbClr val="333333"/>
              </a:buClr>
              <a:buSzPts val="2900"/>
              <a:buFont typeface="Quattrocento Sans"/>
              <a:buChar char="•"/>
            </a:pPr>
            <a:endParaRPr sz="2200" b="1">
              <a:solidFill>
                <a:srgbClr val="333333"/>
              </a:solidFill>
              <a:latin typeface="Quattrocento Sans"/>
              <a:ea typeface="Quattrocento Sans"/>
              <a:cs typeface="Quattrocento Sans"/>
              <a:sym typeface="Quattrocento Sans"/>
            </a:endParaRPr>
          </a:p>
        </p:txBody>
      </p:sp>
      <p:sp>
        <p:nvSpPr>
          <p:cNvPr id="254" name="Google Shape;254;g116633eea3b_0_482"/>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tiếp theo</a:t>
            </a:r>
            <a:endParaRPr sz="2800" b="1" i="0" u="none" strike="noStrike" cap="none">
              <a:solidFill>
                <a:srgbClr val="F79646"/>
              </a:solidFill>
              <a:latin typeface="Quattrocento Sans"/>
              <a:ea typeface="Quattrocento Sans"/>
              <a:cs typeface="Quattrocento Sans"/>
              <a:sym typeface="Quattrocento Sans"/>
            </a:endParaRPr>
          </a:p>
        </p:txBody>
      </p:sp>
      <p:pic>
        <p:nvPicPr>
          <p:cNvPr id="255" name="Google Shape;255;g116633eea3b_0_482" descr="D:\Pictures\PNG\present.png"/>
          <p:cNvPicPr preferRelativeResize="0"/>
          <p:nvPr/>
        </p:nvPicPr>
        <p:blipFill rotWithShape="1">
          <a:blip r:embed="rId3">
            <a:alphaModFix/>
          </a:blip>
          <a:srcRect/>
          <a:stretch/>
        </p:blipFill>
        <p:spPr>
          <a:xfrm flipH="1">
            <a:off x="9469017" y="1480800"/>
            <a:ext cx="2113383" cy="4893324"/>
          </a:xfrm>
          <a:prstGeom prst="rect">
            <a:avLst/>
          </a:prstGeom>
          <a:noFill/>
          <a:ln>
            <a:noFill/>
          </a:ln>
        </p:spPr>
      </p:pic>
      <p:sp>
        <p:nvSpPr>
          <p:cNvPr id="256" name="Google Shape;256;g116633eea3b_0_482"/>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2900" b="1">
                <a:solidFill>
                  <a:srgbClr val="333333"/>
                </a:solidFill>
                <a:latin typeface="Quattrocento Sans"/>
                <a:ea typeface="Quattrocento Sans"/>
                <a:cs typeface="Quattrocento Sans"/>
                <a:sym typeface="Quattrocento Sans"/>
              </a:rPr>
              <a:t>Những tính huống khi viết TestCase</a:t>
            </a:r>
            <a:endParaRPr sz="2900" b="1">
              <a:solidFill>
                <a:srgbClr val="333333"/>
              </a:solidFill>
              <a:latin typeface="Quattrocento Sans"/>
              <a:ea typeface="Quattrocento Sans"/>
              <a:cs typeface="Quattrocento Sans"/>
              <a:sym typeface="Quattrocento Sans"/>
            </a:endParaRPr>
          </a:p>
          <a:p>
            <a:pPr marL="914400" lvl="0"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Chung</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Giao diện và khả năng sử dụng</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Tiêu chí lọc</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Lưới kết quả</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cửa sổ</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Cơ sở dữ liệu</a:t>
            </a:r>
            <a:endParaRPr sz="2900" b="1">
              <a:solidFill>
                <a:srgbClr val="333333"/>
              </a:solidFill>
              <a:latin typeface="Quattrocento Sans"/>
              <a:ea typeface="Quattrocento Sans"/>
              <a:cs typeface="Quattrocento Sans"/>
              <a:sym typeface="Quattrocen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116633eea3b_0_49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Nội dung bài học tiếp theo</a:t>
            </a:r>
            <a:endParaRPr/>
          </a:p>
        </p:txBody>
      </p:sp>
      <p:pic>
        <p:nvPicPr>
          <p:cNvPr id="262" name="Google Shape;262;g116633eea3b_0_493"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263" name="Google Shape;263;g116633eea3b_0_493"/>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4" name="Google Shape;264;g116633eea3b_0_493"/>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65" name="Google Shape;265;g116633eea3b_0_493"/>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 ti</a:t>
            </a:r>
            <a:r>
              <a:rPr lang="en-US" sz="2800" b="1">
                <a:solidFill>
                  <a:srgbClr val="F79646"/>
                </a:solidFill>
                <a:latin typeface="Quattrocento Sans"/>
                <a:ea typeface="Quattrocento Sans"/>
                <a:cs typeface="Quattrocento Sans"/>
                <a:sym typeface="Quattrocento Sans"/>
              </a:rPr>
              <a:t>ếp theo</a:t>
            </a:r>
            <a:endParaRPr sz="2800" b="1" i="0" u="none" strike="noStrike" cap="none">
              <a:solidFill>
                <a:srgbClr val="F79646"/>
              </a:solidFill>
              <a:latin typeface="Quattrocento Sans"/>
              <a:ea typeface="Quattrocento Sans"/>
              <a:cs typeface="Quattrocento Sans"/>
              <a:sym typeface="Quattrocento Sans"/>
            </a:endParaRPr>
          </a:p>
        </p:txBody>
      </p:sp>
      <p:sp>
        <p:nvSpPr>
          <p:cNvPr id="266" name="Google Shape;266;g116633eea3b_0_493"/>
          <p:cNvSpPr txBox="1"/>
          <p:nvPr/>
        </p:nvSpPr>
        <p:spPr>
          <a:xfrm>
            <a:off x="913886" y="2067600"/>
            <a:ext cx="8304600" cy="3498000"/>
          </a:xfrm>
          <a:prstGeom prst="rect">
            <a:avLst/>
          </a:prstGeom>
          <a:noFill/>
          <a:ln>
            <a:noFill/>
          </a:ln>
        </p:spPr>
        <p:txBody>
          <a:bodyPr spcFirstLastPara="1" wrap="square" lIns="91425" tIns="45700" rIns="91425" bIns="45700" anchor="t" anchorCtr="0">
            <a:noAutofit/>
          </a:bodyPr>
          <a:lstStyle/>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Upload</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Gửi Email</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Xuất Excel</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Hiệu năng</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Bảo mật</a:t>
            </a:r>
            <a:endParaRPr sz="2900" b="1">
              <a:solidFill>
                <a:srgbClr val="333333"/>
              </a:solidFill>
              <a:latin typeface="Quattrocento Sans"/>
              <a:ea typeface="Quattrocento Sans"/>
              <a:cs typeface="Quattrocento Sans"/>
              <a:sym typeface="Quattrocen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g116633eea3b_0_478"/>
          <p:cNvPicPr preferRelativeResize="0"/>
          <p:nvPr/>
        </p:nvPicPr>
        <p:blipFill rotWithShape="1">
          <a:blip r:embed="rId3">
            <a:alphaModFix/>
          </a:blip>
          <a:srcRect/>
          <a:stretch/>
        </p:blipFill>
        <p:spPr>
          <a:xfrm>
            <a:off x="-5953" y="0"/>
            <a:ext cx="12197953" cy="685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116633eea3b_0_368"/>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FF5A33"/>
              </a:buClr>
              <a:buSzPts val="2200"/>
              <a:buNone/>
            </a:pPr>
            <a:r>
              <a:rPr lang="en-US"/>
              <a:t>Bài 7: thiết kế testcase</a:t>
            </a:r>
            <a:endParaRPr/>
          </a:p>
        </p:txBody>
      </p:sp>
      <p:sp>
        <p:nvSpPr>
          <p:cNvPr id="277" name="Google Shape;277;g116633eea3b_0_368"/>
          <p:cNvSpPr txBox="1">
            <a:spLocks noGrp="1"/>
          </p:cNvSpPr>
          <p:nvPr>
            <p:ph type="title"/>
          </p:nvPr>
        </p:nvSpPr>
        <p:spPr>
          <a:xfrm>
            <a:off x="5506720" y="4284596"/>
            <a:ext cx="6100200" cy="7050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5A33"/>
              </a:buClr>
              <a:buSzPts val="3400"/>
              <a:buFont typeface="Calibri"/>
              <a:buNone/>
            </a:pPr>
            <a:r>
              <a:rPr lang="en-US"/>
              <a:t>kiểm thử cơ bản(P2)</a:t>
            </a:r>
            <a:endParaRPr/>
          </a:p>
        </p:txBody>
      </p:sp>
      <p:pic>
        <p:nvPicPr>
          <p:cNvPr id="278" name="Google Shape;278;g116633eea3b_0_368"/>
          <p:cNvPicPr preferRelativeResize="0"/>
          <p:nvPr/>
        </p:nvPicPr>
        <p:blipFill rotWithShape="1">
          <a:blip r:embed="rId3">
            <a:alphaModFix/>
          </a:blip>
          <a:srcRect/>
          <a:stretch/>
        </p:blipFill>
        <p:spPr>
          <a:xfrm>
            <a:off x="1890932" y="2406165"/>
            <a:ext cx="1693935" cy="25186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116633eea3b_0_37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a:t>
            </a:r>
            <a:endParaRPr/>
          </a:p>
        </p:txBody>
      </p:sp>
      <p:pic>
        <p:nvPicPr>
          <p:cNvPr id="284" name="Google Shape;284;g116633eea3b_0_374"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285" name="Google Shape;285;g116633eea3b_0_374"/>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6" name="Google Shape;286;g116633eea3b_0_374"/>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87" name="Google Shape;287;g116633eea3b_0_374"/>
          <p:cNvSpPr txBox="1"/>
          <p:nvPr/>
        </p:nvSpPr>
        <p:spPr>
          <a:xfrm>
            <a:off x="894600" y="2067600"/>
            <a:ext cx="8514600" cy="806700"/>
          </a:xfrm>
          <a:prstGeom prst="rect">
            <a:avLst/>
          </a:prstGeom>
          <a:noFill/>
          <a:ln>
            <a:noFill/>
          </a:ln>
        </p:spPr>
        <p:txBody>
          <a:bodyPr spcFirstLastPara="1" wrap="square" lIns="91425" tIns="45700" rIns="91425" bIns="45700" anchor="t" anchorCtr="0">
            <a:noAutofit/>
          </a:bodyPr>
          <a:lstStyle/>
          <a:p>
            <a:pPr marL="457200" marR="0" lvl="0" indent="-40640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Những tính huống thường khi viết TestCase</a:t>
            </a:r>
            <a:endParaRPr sz="2900" b="1">
              <a:solidFill>
                <a:srgbClr val="333333"/>
              </a:solidFill>
              <a:latin typeface="Quattrocento Sans"/>
              <a:ea typeface="Quattrocento Sans"/>
              <a:cs typeface="Quattrocento Sans"/>
              <a:sym typeface="Quattrocento Sans"/>
            </a:endParaRPr>
          </a:p>
        </p:txBody>
      </p:sp>
      <p:sp>
        <p:nvSpPr>
          <p:cNvPr id="288" name="Google Shape;288;g116633eea3b_0_374"/>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
        <p:nvSpPr>
          <p:cNvPr id="289" name="Google Shape;289;g116633eea3b_0_374"/>
          <p:cNvSpPr txBox="1"/>
          <p:nvPr/>
        </p:nvSpPr>
        <p:spPr>
          <a:xfrm>
            <a:off x="1055075" y="2529250"/>
            <a:ext cx="8069100" cy="3328200"/>
          </a:xfrm>
          <a:prstGeom prst="rect">
            <a:avLst/>
          </a:prstGeom>
          <a:noFill/>
          <a:ln>
            <a:noFill/>
          </a:ln>
        </p:spPr>
        <p:txBody>
          <a:bodyPr spcFirstLastPara="1" wrap="square" lIns="91425" tIns="45700" rIns="91425" bIns="45700" anchor="t" anchorCtr="0">
            <a:noAutofit/>
          </a:bodyPr>
          <a:lstStyle/>
          <a:p>
            <a:pPr marL="914400" marR="0" lvl="0"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Chung</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Giao diện và khả năng sử dụng</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Tiêu chí lọc</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Lưới kết quả</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cửa sổ</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Cơ sở dữ liệu</a:t>
            </a:r>
            <a:endParaRPr sz="2900" b="1">
              <a:solidFill>
                <a:srgbClr val="333333"/>
              </a:solidFill>
              <a:latin typeface="Quattrocento Sans"/>
              <a:ea typeface="Quattrocento Sans"/>
              <a:cs typeface="Quattrocento Sans"/>
              <a:sym typeface="Quattrocen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116633eea3b_0_38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a:t>
            </a:r>
            <a:endParaRPr/>
          </a:p>
        </p:txBody>
      </p:sp>
      <p:pic>
        <p:nvPicPr>
          <p:cNvPr id="295" name="Google Shape;295;g116633eea3b_0_385"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296" name="Google Shape;296;g116633eea3b_0_385"/>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116633eea3b_0_385"/>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8" name="Google Shape;298;g116633eea3b_0_385"/>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
        <p:nvSpPr>
          <p:cNvPr id="299" name="Google Shape;299;g116633eea3b_0_385"/>
          <p:cNvSpPr txBox="1"/>
          <p:nvPr/>
        </p:nvSpPr>
        <p:spPr>
          <a:xfrm>
            <a:off x="913886" y="2067600"/>
            <a:ext cx="8304600" cy="3498000"/>
          </a:xfrm>
          <a:prstGeom prst="rect">
            <a:avLst/>
          </a:prstGeom>
          <a:noFill/>
          <a:ln>
            <a:noFill/>
          </a:ln>
        </p:spPr>
        <p:txBody>
          <a:bodyPr spcFirstLastPara="1" wrap="square" lIns="91425" tIns="45700" rIns="91425" bIns="45700" anchor="t" anchorCtr="0">
            <a:noAutofit/>
          </a:bodyPr>
          <a:lstStyle/>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Upload</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Gửi Email</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Xuất Excel</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Hiệu năng</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Bảo mật</a:t>
            </a:r>
            <a:endParaRPr sz="2900" b="1">
              <a:solidFill>
                <a:srgbClr val="333333"/>
              </a:solidFill>
              <a:latin typeface="Quattrocento Sans"/>
              <a:ea typeface="Quattrocento Sans"/>
              <a:cs typeface="Quattrocento Sans"/>
              <a:sym typeface="Quattrocen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g116633eea3b_0_22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05" name="Google Shape;305;g116633eea3b_0_225"/>
          <p:cNvSpPr txBox="1"/>
          <p:nvPr/>
        </p:nvSpPr>
        <p:spPr>
          <a:xfrm>
            <a:off x="744425" y="1737550"/>
            <a:ext cx="10837800" cy="5156400"/>
          </a:xfrm>
          <a:prstGeom prst="rect">
            <a:avLst/>
          </a:prstGeom>
          <a:noFill/>
          <a:ln>
            <a:noFill/>
          </a:ln>
        </p:spPr>
        <p:txBody>
          <a:bodyPr spcFirstLastPara="1" wrap="square" lIns="91425" tIns="45700" rIns="91425" bIns="45700" anchor="t" anchorCtr="0">
            <a:noAutofit/>
          </a:bodyPr>
          <a:lstStyle/>
          <a:p>
            <a:pPr marL="457200" marR="0" lvl="0"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Giả sử rằng ứng dụng của bạn hỗ trợ các chức năng sau:</a:t>
            </a:r>
            <a:endParaRPr sz="3500">
              <a:latin typeface="Quattrocento Sans"/>
              <a:ea typeface="Quattrocento Sans"/>
              <a:cs typeface="Quattrocento Sans"/>
              <a:sym typeface="Quattrocento Sans"/>
            </a:endParaRPr>
          </a:p>
          <a:p>
            <a:pPr marL="1371600" marR="0" lvl="0"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Forms with various fields</a:t>
            </a:r>
            <a:endParaRPr sz="3500">
              <a:latin typeface="Quattrocento Sans"/>
              <a:ea typeface="Quattrocento Sans"/>
              <a:cs typeface="Quattrocento Sans"/>
              <a:sym typeface="Quattrocento Sans"/>
            </a:endParaRPr>
          </a:p>
          <a:p>
            <a:pPr marL="1371600" marR="0" lvl="0"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Child windows</a:t>
            </a:r>
            <a:endParaRPr sz="3500">
              <a:latin typeface="Quattrocento Sans"/>
              <a:ea typeface="Quattrocento Sans"/>
              <a:cs typeface="Quattrocento Sans"/>
              <a:sym typeface="Quattrocento Sans"/>
            </a:endParaRPr>
          </a:p>
          <a:p>
            <a:pPr marL="1371600" marR="0" lvl="0"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The application interacts with the database</a:t>
            </a:r>
            <a:endParaRPr sz="3500">
              <a:latin typeface="Quattrocento Sans"/>
              <a:ea typeface="Quattrocento Sans"/>
              <a:cs typeface="Quattrocento Sans"/>
              <a:sym typeface="Quattrocento Sans"/>
            </a:endParaRPr>
          </a:p>
          <a:p>
            <a:pPr marL="1371600" marR="0" lvl="0"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Various search filter criteria and display results</a:t>
            </a:r>
            <a:endParaRPr sz="3500">
              <a:latin typeface="Quattrocento Sans"/>
              <a:ea typeface="Quattrocento Sans"/>
              <a:cs typeface="Quattrocento Sans"/>
              <a:sym typeface="Quattrocento Sans"/>
            </a:endParaRPr>
          </a:p>
          <a:p>
            <a:pPr marL="1371600" marR="0" lvl="0"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Image upload</a:t>
            </a:r>
            <a:endParaRPr sz="3500">
              <a:latin typeface="Quattrocento Sans"/>
              <a:ea typeface="Quattrocento Sans"/>
              <a:cs typeface="Quattrocento Sans"/>
              <a:sym typeface="Quattrocento Sans"/>
            </a:endParaRPr>
          </a:p>
          <a:p>
            <a:pPr marL="1371600" marR="0" lvl="0"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Send email functionality</a:t>
            </a:r>
            <a:endParaRPr sz="3500">
              <a:latin typeface="Quattrocento Sans"/>
              <a:ea typeface="Quattrocento Sans"/>
              <a:cs typeface="Quattrocento Sans"/>
              <a:sym typeface="Quattrocento Sans"/>
            </a:endParaRPr>
          </a:p>
          <a:p>
            <a:pPr marL="1371600" marR="0" lvl="0" indent="-450850" algn="l" rtl="0">
              <a:lnSpc>
                <a:spcPct val="100000"/>
              </a:lnSpc>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Data export functionality</a:t>
            </a:r>
            <a:endParaRPr sz="3500">
              <a:latin typeface="Quattrocento Sans"/>
              <a:ea typeface="Quattrocento Sans"/>
              <a:cs typeface="Quattrocento Sans"/>
              <a:sym typeface="Quattrocento Sans"/>
            </a:endParaRPr>
          </a:p>
          <a:p>
            <a:pPr marL="0" marR="0" lvl="0" indent="0" algn="l" rtl="0">
              <a:lnSpc>
                <a:spcPct val="100000"/>
              </a:lnSpc>
              <a:spcBef>
                <a:spcPts val="0"/>
              </a:spcBef>
              <a:spcAft>
                <a:spcPts val="0"/>
              </a:spcAft>
              <a:buNone/>
            </a:pPr>
            <a:endParaRPr sz="3500">
              <a:latin typeface="Quattrocento Sans"/>
              <a:ea typeface="Quattrocento Sans"/>
              <a:cs typeface="Quattrocento Sans"/>
              <a:sym typeface="Quattrocento Sans"/>
            </a:endParaRPr>
          </a:p>
        </p:txBody>
      </p:sp>
      <p:sp>
        <p:nvSpPr>
          <p:cNvPr id="306" name="Google Shape;306;g116633eea3b_0_225"/>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Tình huống khi kiểm thử ứng dụng web</a:t>
            </a:r>
            <a:endParaRPr sz="40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g116633eea3b_0_23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12" name="Google Shape;312;g116633eea3b_0_233"/>
          <p:cNvSpPr txBox="1"/>
          <p:nvPr/>
        </p:nvSpPr>
        <p:spPr>
          <a:xfrm>
            <a:off x="617100" y="850800"/>
            <a:ext cx="112797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Một số tình huống chung:</a:t>
            </a:r>
            <a:endParaRPr sz="36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Tất cả các trường bắt buộc phải được xác thực và được biểu thị bằng biểu tượng dấu hoa thị (*).</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 Ứng dụng bị treo hoặc các trang không khả dụng nên được chuyển hướng đến trang lỗi.</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văn bản trên tất cả các trang để tìm lỗi chính tả và ngữ pháp.</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các trường nhập số với giá trị đầu vào ký tự. Một thông báo xác thực thích hợp sẽ xuất hiện.</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 Kiểm tra các số âm nếu được phép đối với các trường số.</a:t>
            </a:r>
            <a:endParaRPr sz="35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2">
                                            <p:txEl>
                                              <p:pRg st="0" end="0"/>
                                            </p:txEl>
                                          </p:spTgt>
                                        </p:tgtEl>
                                        <p:attrNameLst>
                                          <p:attrName>style.visibility</p:attrName>
                                        </p:attrNameLst>
                                      </p:cBhvr>
                                      <p:to>
                                        <p:strVal val="visible"/>
                                      </p:to>
                                    </p:set>
                                    <p:anim calcmode="lin" valueType="num">
                                      <p:cBhvr additive="base">
                                        <p:cTn id="7" dur="1000"/>
                                        <p:tgtEl>
                                          <p:spTgt spid="31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12">
                                            <p:txEl>
                                              <p:pRg st="1" end="1"/>
                                            </p:txEl>
                                          </p:spTgt>
                                        </p:tgtEl>
                                        <p:attrNameLst>
                                          <p:attrName>style.visibility</p:attrName>
                                        </p:attrNameLst>
                                      </p:cBhvr>
                                      <p:to>
                                        <p:strVal val="visible"/>
                                      </p:to>
                                    </p:set>
                                    <p:anim calcmode="lin" valueType="num">
                                      <p:cBhvr additive="base">
                                        <p:cTn id="12" dur="1000"/>
                                        <p:tgtEl>
                                          <p:spTgt spid="31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12">
                                            <p:txEl>
                                              <p:pRg st="2" end="2"/>
                                            </p:txEl>
                                          </p:spTgt>
                                        </p:tgtEl>
                                        <p:attrNameLst>
                                          <p:attrName>style.visibility</p:attrName>
                                        </p:attrNameLst>
                                      </p:cBhvr>
                                      <p:to>
                                        <p:strVal val="visible"/>
                                      </p:to>
                                    </p:set>
                                    <p:anim calcmode="lin" valueType="num">
                                      <p:cBhvr additive="base">
                                        <p:cTn id="17" dur="1000"/>
                                        <p:tgtEl>
                                          <p:spTgt spid="31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12">
                                            <p:txEl>
                                              <p:pRg st="3" end="3"/>
                                            </p:txEl>
                                          </p:spTgt>
                                        </p:tgtEl>
                                        <p:attrNameLst>
                                          <p:attrName>style.visibility</p:attrName>
                                        </p:attrNameLst>
                                      </p:cBhvr>
                                      <p:to>
                                        <p:strVal val="visible"/>
                                      </p:to>
                                    </p:set>
                                    <p:anim calcmode="lin" valueType="num">
                                      <p:cBhvr additive="base">
                                        <p:cTn id="22" dur="1000"/>
                                        <p:tgtEl>
                                          <p:spTgt spid="312">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12">
                                            <p:txEl>
                                              <p:pRg st="4" end="4"/>
                                            </p:txEl>
                                          </p:spTgt>
                                        </p:tgtEl>
                                        <p:attrNameLst>
                                          <p:attrName>style.visibility</p:attrName>
                                        </p:attrNameLst>
                                      </p:cBhvr>
                                      <p:to>
                                        <p:strVal val="visible"/>
                                      </p:to>
                                    </p:set>
                                    <p:anim calcmode="lin" valueType="num">
                                      <p:cBhvr additive="base">
                                        <p:cTn id="27" dur="1000"/>
                                        <p:tgtEl>
                                          <p:spTgt spid="312">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12">
                                            <p:txEl>
                                              <p:pRg st="5" end="5"/>
                                            </p:txEl>
                                          </p:spTgt>
                                        </p:tgtEl>
                                        <p:attrNameLst>
                                          <p:attrName>style.visibility</p:attrName>
                                        </p:attrNameLst>
                                      </p:cBhvr>
                                      <p:to>
                                        <p:strVal val="visible"/>
                                      </p:to>
                                    </p:set>
                                    <p:anim calcmode="lin" valueType="num">
                                      <p:cBhvr additive="base">
                                        <p:cTn id="32" dur="1000"/>
                                        <p:tgtEl>
                                          <p:spTgt spid="312">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116633eea3b_0_24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18" name="Google Shape;318;g116633eea3b_0_243"/>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chức năng của các nút có sẵn trên tất cả các trang.</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Người dùng sẽ không thể gửi một trang hai lần bằng cách nhấn nút gửi liên tiếp.</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văn bản trên tất cả các trang để tìm lỗi chính tả và ngữ pháp.</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Sai số chia cho 0 cần được xử lý cho bất kỳ phép tính nào.</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 Dữ liệu đầu vào có vị trí trống đầu tiên và cuối cùng cần được xử lý chính xác.</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8">
                                            <p:txEl>
                                              <p:pRg st="0" end="0"/>
                                            </p:txEl>
                                          </p:spTgt>
                                        </p:tgtEl>
                                        <p:attrNameLst>
                                          <p:attrName>style.visibility</p:attrName>
                                        </p:attrNameLst>
                                      </p:cBhvr>
                                      <p:to>
                                        <p:strVal val="visible"/>
                                      </p:to>
                                    </p:set>
                                    <p:anim calcmode="lin" valueType="num">
                                      <p:cBhvr additive="base">
                                        <p:cTn id="7" dur="1000"/>
                                        <p:tgtEl>
                                          <p:spTgt spid="31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18">
                                            <p:txEl>
                                              <p:pRg st="1" end="1"/>
                                            </p:txEl>
                                          </p:spTgt>
                                        </p:tgtEl>
                                        <p:attrNameLst>
                                          <p:attrName>style.visibility</p:attrName>
                                        </p:attrNameLst>
                                      </p:cBhvr>
                                      <p:to>
                                        <p:strVal val="visible"/>
                                      </p:to>
                                    </p:set>
                                    <p:anim calcmode="lin" valueType="num">
                                      <p:cBhvr additive="base">
                                        <p:cTn id="12" dur="1000"/>
                                        <p:tgtEl>
                                          <p:spTgt spid="31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18">
                                            <p:txEl>
                                              <p:pRg st="2" end="2"/>
                                            </p:txEl>
                                          </p:spTgt>
                                        </p:tgtEl>
                                        <p:attrNameLst>
                                          <p:attrName>style.visibility</p:attrName>
                                        </p:attrNameLst>
                                      </p:cBhvr>
                                      <p:to>
                                        <p:strVal val="visible"/>
                                      </p:to>
                                    </p:set>
                                    <p:anim calcmode="lin" valueType="num">
                                      <p:cBhvr additive="base">
                                        <p:cTn id="17" dur="1000"/>
                                        <p:tgtEl>
                                          <p:spTgt spid="31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18">
                                            <p:txEl>
                                              <p:pRg st="3" end="3"/>
                                            </p:txEl>
                                          </p:spTgt>
                                        </p:tgtEl>
                                        <p:attrNameLst>
                                          <p:attrName>style.visibility</p:attrName>
                                        </p:attrNameLst>
                                      </p:cBhvr>
                                      <p:to>
                                        <p:strVal val="visible"/>
                                      </p:to>
                                    </p:set>
                                    <p:anim calcmode="lin" valueType="num">
                                      <p:cBhvr additive="base">
                                        <p:cTn id="22" dur="1000"/>
                                        <p:tgtEl>
                                          <p:spTgt spid="318">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18">
                                            <p:txEl>
                                              <p:pRg st="4" end="4"/>
                                            </p:txEl>
                                          </p:spTgt>
                                        </p:tgtEl>
                                        <p:attrNameLst>
                                          <p:attrName>style.visibility</p:attrName>
                                        </p:attrNameLst>
                                      </p:cBhvr>
                                      <p:to>
                                        <p:strVal val="visible"/>
                                      </p:to>
                                    </p:set>
                                    <p:anim calcmode="lin" valueType="num">
                                      <p:cBhvr additive="base">
                                        <p:cTn id="27" dur="1000"/>
                                        <p:tgtEl>
                                          <p:spTgt spid="318">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g116633eea3b_0_25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24" name="Google Shape;324;g116633eea3b_0_252"/>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GUI và các kịch bản kiểm tra khả năng sử dụng:</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Tất cả các trường trên trang ( Ví dụ, hộp văn bản, tùy chọn radio, danh sách thả xuống) phải được căn chỉnh đúng cách.</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tất cả các trang để tìm hình ảnh bị hỏng.</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tất cả các trang để tìm các liên kết bị hỏng.</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Tất cả các trang phải có tiêu đề.</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Đồng hồ cát sẽ được hiển thị khi ứng dụng đang bận.</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4">
                                            <p:txEl>
                                              <p:pRg st="0" end="0"/>
                                            </p:txEl>
                                          </p:spTgt>
                                        </p:tgtEl>
                                        <p:attrNameLst>
                                          <p:attrName>style.visibility</p:attrName>
                                        </p:attrNameLst>
                                      </p:cBhvr>
                                      <p:to>
                                        <p:strVal val="visible"/>
                                      </p:to>
                                    </p:set>
                                    <p:anim calcmode="lin" valueType="num">
                                      <p:cBhvr additive="base">
                                        <p:cTn id="7" dur="1000"/>
                                        <p:tgtEl>
                                          <p:spTgt spid="32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24">
                                            <p:txEl>
                                              <p:pRg st="1" end="1"/>
                                            </p:txEl>
                                          </p:spTgt>
                                        </p:tgtEl>
                                        <p:attrNameLst>
                                          <p:attrName>style.visibility</p:attrName>
                                        </p:attrNameLst>
                                      </p:cBhvr>
                                      <p:to>
                                        <p:strVal val="visible"/>
                                      </p:to>
                                    </p:set>
                                    <p:anim calcmode="lin" valueType="num">
                                      <p:cBhvr additive="base">
                                        <p:cTn id="12" dur="1000"/>
                                        <p:tgtEl>
                                          <p:spTgt spid="32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24">
                                            <p:txEl>
                                              <p:pRg st="2" end="2"/>
                                            </p:txEl>
                                          </p:spTgt>
                                        </p:tgtEl>
                                        <p:attrNameLst>
                                          <p:attrName>style.visibility</p:attrName>
                                        </p:attrNameLst>
                                      </p:cBhvr>
                                      <p:to>
                                        <p:strVal val="visible"/>
                                      </p:to>
                                    </p:set>
                                    <p:anim calcmode="lin" valueType="num">
                                      <p:cBhvr additive="base">
                                        <p:cTn id="17" dur="1000"/>
                                        <p:tgtEl>
                                          <p:spTgt spid="32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24">
                                            <p:txEl>
                                              <p:pRg st="3" end="3"/>
                                            </p:txEl>
                                          </p:spTgt>
                                        </p:tgtEl>
                                        <p:attrNameLst>
                                          <p:attrName>style.visibility</p:attrName>
                                        </p:attrNameLst>
                                      </p:cBhvr>
                                      <p:to>
                                        <p:strVal val="visible"/>
                                      </p:to>
                                    </p:set>
                                    <p:anim calcmode="lin" valueType="num">
                                      <p:cBhvr additive="base">
                                        <p:cTn id="22" dur="1000"/>
                                        <p:tgtEl>
                                          <p:spTgt spid="324">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24">
                                            <p:txEl>
                                              <p:pRg st="4" end="4"/>
                                            </p:txEl>
                                          </p:spTgt>
                                        </p:tgtEl>
                                        <p:attrNameLst>
                                          <p:attrName>style.visibility</p:attrName>
                                        </p:attrNameLst>
                                      </p:cBhvr>
                                      <p:to>
                                        <p:strVal val="visible"/>
                                      </p:to>
                                    </p:set>
                                    <p:anim calcmode="lin" valueType="num">
                                      <p:cBhvr additive="base">
                                        <p:cTn id="27" dur="1000"/>
                                        <p:tgtEl>
                                          <p:spTgt spid="324">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24">
                                            <p:txEl>
                                              <p:pRg st="5" end="5"/>
                                            </p:txEl>
                                          </p:spTgt>
                                        </p:tgtEl>
                                        <p:attrNameLst>
                                          <p:attrName>style.visibility</p:attrName>
                                        </p:attrNameLst>
                                      </p:cBhvr>
                                      <p:to>
                                        <p:strVal val="visible"/>
                                      </p:to>
                                    </p:set>
                                    <p:anim calcmode="lin" valueType="num">
                                      <p:cBhvr additive="base">
                                        <p:cTn id="32" dur="1000"/>
                                        <p:tgtEl>
                                          <p:spTgt spid="324">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116633eea3b_0_26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30" name="Google Shape;330;g116633eea3b_0_263"/>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tình huống kiểm tra cho tiêu chí bộ lọc:</a:t>
            </a:r>
            <a:endParaRPr sz="36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Người dùng có thể lọc kết quả bằng cách sử dụng tất cả các tham số trên trang.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Tinh chỉnh chức năng tìm kiếm sẽ tải trang tìm kiếm với tất cả các tham số tìm kiếm do người dùng lựa chọn.</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Khi có ít nhất một tiêu chí bộ lọc được yêu cầu để thực hiện thao tác tìm kiếm, thì hãy đảm bảo rằng thông báo lỗi thích hợp được hiển thị khi người dùng gửi trang mà không chọn bất kỳ tiêu chí bộ lọc nào.</a:t>
            </a:r>
            <a:endParaRPr sz="35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0">
                                            <p:txEl>
                                              <p:pRg st="0" end="0"/>
                                            </p:txEl>
                                          </p:spTgt>
                                        </p:tgtEl>
                                        <p:attrNameLst>
                                          <p:attrName>style.visibility</p:attrName>
                                        </p:attrNameLst>
                                      </p:cBhvr>
                                      <p:to>
                                        <p:strVal val="visible"/>
                                      </p:to>
                                    </p:set>
                                    <p:anim calcmode="lin" valueType="num">
                                      <p:cBhvr additive="base">
                                        <p:cTn id="7" dur="1000"/>
                                        <p:tgtEl>
                                          <p:spTgt spid="33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30">
                                            <p:txEl>
                                              <p:pRg st="1" end="1"/>
                                            </p:txEl>
                                          </p:spTgt>
                                        </p:tgtEl>
                                        <p:attrNameLst>
                                          <p:attrName>style.visibility</p:attrName>
                                        </p:attrNameLst>
                                      </p:cBhvr>
                                      <p:to>
                                        <p:strVal val="visible"/>
                                      </p:to>
                                    </p:set>
                                    <p:anim calcmode="lin" valueType="num">
                                      <p:cBhvr additive="base">
                                        <p:cTn id="12" dur="1000"/>
                                        <p:tgtEl>
                                          <p:spTgt spid="33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30">
                                            <p:txEl>
                                              <p:pRg st="2" end="2"/>
                                            </p:txEl>
                                          </p:spTgt>
                                        </p:tgtEl>
                                        <p:attrNameLst>
                                          <p:attrName>style.visibility</p:attrName>
                                        </p:attrNameLst>
                                      </p:cBhvr>
                                      <p:to>
                                        <p:strVal val="visible"/>
                                      </p:to>
                                    </p:set>
                                    <p:anim calcmode="lin" valueType="num">
                                      <p:cBhvr additive="base">
                                        <p:cTn id="17" dur="1000"/>
                                        <p:tgtEl>
                                          <p:spTgt spid="33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30">
                                            <p:txEl>
                                              <p:pRg st="3" end="3"/>
                                            </p:txEl>
                                          </p:spTgt>
                                        </p:tgtEl>
                                        <p:attrNameLst>
                                          <p:attrName>style.visibility</p:attrName>
                                        </p:attrNameLst>
                                      </p:cBhvr>
                                      <p:to>
                                        <p:strVal val="visible"/>
                                      </p:to>
                                    </p:set>
                                    <p:anim calcmode="lin" valueType="num">
                                      <p:cBhvr additive="base">
                                        <p:cTn id="22" dur="1000"/>
                                        <p:tgtEl>
                                          <p:spTgt spid="330">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g116633eea3b_0_27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36" name="Google Shape;336;g116633eea3b_0_270"/>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Khi ít nhất một lựa chọn tiêu chí bộ lọc không bắt buộc, người dùng sẽ có thể gửi trang và tiêu chí tìm kiếm mặc định sẽ được sử dụng để truy vấn kết quả.</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Thông báo xác thực thích hợp sẽ được hiển thị cho tất cả các giá trị không hợp lệ cho tiêu chí bộ lọc.</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6">
                                            <p:txEl>
                                              <p:pRg st="0" end="0"/>
                                            </p:txEl>
                                          </p:spTgt>
                                        </p:tgtEl>
                                        <p:attrNameLst>
                                          <p:attrName>style.visibility</p:attrName>
                                        </p:attrNameLst>
                                      </p:cBhvr>
                                      <p:to>
                                        <p:strVal val="visible"/>
                                      </p:to>
                                    </p:set>
                                    <p:anim calcmode="lin" valueType="num">
                                      <p:cBhvr additive="base">
                                        <p:cTn id="7" dur="1000"/>
                                        <p:tgtEl>
                                          <p:spTgt spid="33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36">
                                            <p:txEl>
                                              <p:pRg st="1" end="1"/>
                                            </p:txEl>
                                          </p:spTgt>
                                        </p:tgtEl>
                                        <p:attrNameLst>
                                          <p:attrName>style.visibility</p:attrName>
                                        </p:attrNameLst>
                                      </p:cBhvr>
                                      <p:to>
                                        <p:strVal val="visible"/>
                                      </p:to>
                                    </p:set>
                                    <p:anim calcmode="lin" valueType="num">
                                      <p:cBhvr additive="base">
                                        <p:cTn id="12" dur="1000"/>
                                        <p:tgtEl>
                                          <p:spTgt spid="336">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116633eea3b_0_27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42" name="Google Shape;342;g116633eea3b_0_275"/>
          <p:cNvSpPr txBox="1"/>
          <p:nvPr/>
        </p:nvSpPr>
        <p:spPr>
          <a:xfrm>
            <a:off x="617100" y="850800"/>
            <a:ext cx="11479800" cy="5732562"/>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200" dirty="0" err="1">
                <a:solidFill>
                  <a:schemeClr val="dk1"/>
                </a:solidFill>
                <a:latin typeface="Quattrocento Sans"/>
                <a:ea typeface="Quattrocento Sans"/>
                <a:cs typeface="Quattrocento Sans"/>
                <a:sym typeface="Quattrocento Sans"/>
              </a:rPr>
              <a:t>Các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tình</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huống</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thử</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nghiệm</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cho</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lưới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kết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quả</a:t>
            </a:r>
            <a:r>
              <a:rPr lang="en-US" sz="3200" dirty="0">
                <a:solidFill>
                  <a:schemeClr val="dk1"/>
                </a:solidFill>
                <a:latin typeface="Quattrocento Sans"/>
                <a:ea typeface="Quattrocento Sans"/>
                <a:cs typeface="Quattrocento Sans"/>
                <a:sym typeface="Quattrocento Sans"/>
              </a:rPr>
              <a:t>:</a:t>
            </a:r>
            <a:endParaRPr sz="3200" dirty="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200" dirty="0" err="1">
                <a:solidFill>
                  <a:schemeClr val="dk1"/>
                </a:solidFill>
                <a:latin typeface="Quattrocento Sans"/>
                <a:ea typeface="Quattrocento Sans"/>
                <a:cs typeface="Quattrocento Sans"/>
                <a:sym typeface="Quattrocento Sans"/>
              </a:rPr>
              <a:t>Biểu</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tượng</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tải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trang</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sẽ</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được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hiển</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thị</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khi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mất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nhiều</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thời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gian</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hơn</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thời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gian</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mặc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định</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để</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tải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trang</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kết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quả</a:t>
            </a:r>
            <a:r>
              <a:rPr lang="en-US" sz="3200" dirty="0">
                <a:solidFill>
                  <a:schemeClr val="dk1"/>
                </a:solidFill>
                <a:latin typeface="Quattrocento Sans"/>
                <a:ea typeface="Quattrocento Sans"/>
                <a:cs typeface="Quattrocento Sans"/>
                <a:sym typeface="Quattrocento Sans"/>
              </a:rPr>
              <a:t>.</a:t>
            </a:r>
            <a:endParaRPr sz="3200" dirty="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200" dirty="0" err="1">
                <a:solidFill>
                  <a:schemeClr val="dk1"/>
                </a:solidFill>
                <a:latin typeface="Quattrocento Sans"/>
                <a:ea typeface="Quattrocento Sans"/>
                <a:cs typeface="Quattrocento Sans"/>
                <a:sym typeface="Quattrocento Sans"/>
              </a:rPr>
              <a:t>Kiểm</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tra</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xem</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tất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cả</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các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tham</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số</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tìm</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kiếm</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có</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được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sử</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dụng</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để</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tìm</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nạp</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dữ</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liệu</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được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hiển</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thị</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trên</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lưới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kết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quả</a:t>
            </a:r>
            <a:r>
              <a:rPr lang="en-US" sz="3200" dirty="0">
                <a:solidFill>
                  <a:schemeClr val="dk1"/>
                </a:solidFill>
                <a:latin typeface="Quattrocento Sans"/>
                <a:ea typeface="Quattrocento Sans"/>
                <a:cs typeface="Quattrocento Sans"/>
                <a:sym typeface="Quattrocento Sans"/>
              </a:rPr>
              <a:t> hay </a:t>
            </a:r>
            <a:r>
              <a:rPr lang="en-US" sz="3200" dirty="0" err="1">
                <a:solidFill>
                  <a:schemeClr val="dk1"/>
                </a:solidFill>
                <a:latin typeface="Quattrocento Sans"/>
                <a:ea typeface="Quattrocento Sans"/>
                <a:cs typeface="Quattrocento Sans"/>
                <a:sym typeface="Quattrocento Sans"/>
              </a:rPr>
              <a:t>không</a:t>
            </a:r>
            <a:r>
              <a:rPr lang="en-US" sz="3200" dirty="0">
                <a:solidFill>
                  <a:schemeClr val="dk1"/>
                </a:solidFill>
                <a:latin typeface="Quattrocento Sans"/>
                <a:ea typeface="Quattrocento Sans"/>
                <a:cs typeface="Quattrocento Sans"/>
                <a:sym typeface="Quattrocento Sans"/>
              </a:rPr>
              <a:t>.</a:t>
            </a:r>
            <a:endParaRPr sz="3200" dirty="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200" dirty="0" err="1">
                <a:solidFill>
                  <a:schemeClr val="dk1"/>
                </a:solidFill>
                <a:latin typeface="Quattrocento Sans"/>
                <a:ea typeface="Quattrocento Sans"/>
                <a:cs typeface="Quattrocento Sans"/>
                <a:sym typeface="Quattrocento Sans"/>
              </a:rPr>
              <a:t>Tổng</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số</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kết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quả</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sẽ</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được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hiển</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thị</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trong</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lưới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kết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quả</a:t>
            </a:r>
            <a:r>
              <a:rPr lang="en-US" sz="3200" dirty="0">
                <a:solidFill>
                  <a:schemeClr val="dk1"/>
                </a:solidFill>
                <a:latin typeface="Quattrocento Sans"/>
                <a:ea typeface="Quattrocento Sans"/>
                <a:cs typeface="Quattrocento Sans"/>
                <a:sym typeface="Quattrocento Sans"/>
              </a:rPr>
              <a:t>.</a:t>
            </a:r>
            <a:endParaRPr sz="3200" dirty="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200" dirty="0" err="1">
                <a:solidFill>
                  <a:schemeClr val="dk1"/>
                </a:solidFill>
                <a:latin typeface="Quattrocento Sans"/>
                <a:ea typeface="Quattrocento Sans"/>
                <a:cs typeface="Quattrocento Sans"/>
                <a:sym typeface="Quattrocento Sans"/>
              </a:rPr>
              <a:t>Các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giá</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trị</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lưới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kết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quả</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nên</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được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sắp</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xếp</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theo</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cột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mặc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định</a:t>
            </a:r>
            <a:r>
              <a:rPr lang="en-US" sz="3200" dirty="0">
                <a:solidFill>
                  <a:schemeClr val="dk1"/>
                </a:solidFill>
                <a:latin typeface="Quattrocento Sans"/>
                <a:ea typeface="Quattrocento Sans"/>
                <a:cs typeface="Quattrocento Sans"/>
                <a:sym typeface="Quattrocento Sans"/>
              </a:rPr>
              <a:t>.</a:t>
            </a:r>
            <a:endParaRPr sz="3200" dirty="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200" dirty="0" err="1">
                <a:solidFill>
                  <a:schemeClr val="dk1"/>
                </a:solidFill>
                <a:latin typeface="Quattrocento Sans"/>
                <a:ea typeface="Quattrocento Sans"/>
                <a:cs typeface="Quattrocento Sans"/>
                <a:sym typeface="Quattrocento Sans"/>
              </a:rPr>
              <a:t>Lưới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kết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quả</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nên</a:t>
            </a:r>
            <a:r>
              <a:rPr lang="en-US" sz="3200" dirty="0">
                <a:solidFill>
                  <a:schemeClr val="dk1"/>
                </a:solidFill>
                <a:latin typeface="Quattrocento Sans"/>
                <a:ea typeface="Quattrocento Sans"/>
                <a:cs typeface="Quattrocento Sans"/>
                <a:sym typeface="Quattrocento Sans"/>
              </a:rPr>
              <a:t> bao </a:t>
            </a:r>
            <a:r>
              <a:rPr lang="en-US" sz="3200" dirty="0" err="1">
                <a:solidFill>
                  <a:schemeClr val="dk1"/>
                </a:solidFill>
                <a:latin typeface="Quattrocento Sans"/>
                <a:ea typeface="Quattrocento Sans"/>
                <a:cs typeface="Quattrocento Sans"/>
                <a:sym typeface="Quattrocento Sans"/>
              </a:rPr>
              <a:t>gồm</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tất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cả</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các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cột</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được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chỉ</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định</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với</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các</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giá</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trị</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chính</a:t>
            </a:r>
            <a:r>
              <a:rPr lang="en-US" sz="3200" dirty="0">
                <a:solidFill>
                  <a:schemeClr val="dk1"/>
                </a:solidFill>
                <a:latin typeface="Quattrocento Sans"/>
                <a:ea typeface="Quattrocento Sans"/>
                <a:cs typeface="Quattrocento Sans"/>
                <a:sym typeface="Quattrocento Sans"/>
              </a:rPr>
              <a:t> </a:t>
            </a:r>
            <a:r>
              <a:rPr lang="en-US" sz="3200" dirty="0" err="1">
                <a:solidFill>
                  <a:schemeClr val="dk1"/>
                </a:solidFill>
                <a:latin typeface="Quattrocento Sans"/>
                <a:ea typeface="Quattrocento Sans"/>
                <a:cs typeface="Quattrocento Sans"/>
                <a:sym typeface="Quattrocento Sans"/>
              </a:rPr>
              <a:t>xác</a:t>
            </a:r>
            <a:r>
              <a:rPr lang="en-US" sz="3200" dirty="0">
                <a:solidFill>
                  <a:schemeClr val="dk1"/>
                </a:solidFill>
                <a:latin typeface="Quattrocento Sans"/>
                <a:ea typeface="Quattrocento Sans"/>
                <a:cs typeface="Quattrocento Sans"/>
                <a:sym typeface="Quattrocento Sans"/>
              </a:rPr>
              <a:t>.</a:t>
            </a:r>
            <a:endParaRPr sz="32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2">
                                            <p:txEl>
                                              <p:pRg st="0" end="0"/>
                                            </p:txEl>
                                          </p:spTgt>
                                        </p:tgtEl>
                                        <p:attrNameLst>
                                          <p:attrName>style.visibility</p:attrName>
                                        </p:attrNameLst>
                                      </p:cBhvr>
                                      <p:to>
                                        <p:strVal val="visible"/>
                                      </p:to>
                                    </p:set>
                                    <p:anim calcmode="lin" valueType="num">
                                      <p:cBhvr additive="base">
                                        <p:cTn id="7" dur="1000"/>
                                        <p:tgtEl>
                                          <p:spTgt spid="34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42">
                                            <p:txEl>
                                              <p:pRg st="1" end="1"/>
                                            </p:txEl>
                                          </p:spTgt>
                                        </p:tgtEl>
                                        <p:attrNameLst>
                                          <p:attrName>style.visibility</p:attrName>
                                        </p:attrNameLst>
                                      </p:cBhvr>
                                      <p:to>
                                        <p:strVal val="visible"/>
                                      </p:to>
                                    </p:set>
                                    <p:anim calcmode="lin" valueType="num">
                                      <p:cBhvr additive="base">
                                        <p:cTn id="12" dur="1000"/>
                                        <p:tgtEl>
                                          <p:spTgt spid="34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42">
                                            <p:txEl>
                                              <p:pRg st="2" end="2"/>
                                            </p:txEl>
                                          </p:spTgt>
                                        </p:tgtEl>
                                        <p:attrNameLst>
                                          <p:attrName>style.visibility</p:attrName>
                                        </p:attrNameLst>
                                      </p:cBhvr>
                                      <p:to>
                                        <p:strVal val="visible"/>
                                      </p:to>
                                    </p:set>
                                    <p:anim calcmode="lin" valueType="num">
                                      <p:cBhvr additive="base">
                                        <p:cTn id="17" dur="1000"/>
                                        <p:tgtEl>
                                          <p:spTgt spid="34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42">
                                            <p:txEl>
                                              <p:pRg st="3" end="3"/>
                                            </p:txEl>
                                          </p:spTgt>
                                        </p:tgtEl>
                                        <p:attrNameLst>
                                          <p:attrName>style.visibility</p:attrName>
                                        </p:attrNameLst>
                                      </p:cBhvr>
                                      <p:to>
                                        <p:strVal val="visible"/>
                                      </p:to>
                                    </p:set>
                                    <p:anim calcmode="lin" valueType="num">
                                      <p:cBhvr additive="base">
                                        <p:cTn id="22" dur="1000"/>
                                        <p:tgtEl>
                                          <p:spTgt spid="342">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42">
                                            <p:txEl>
                                              <p:pRg st="4" end="4"/>
                                            </p:txEl>
                                          </p:spTgt>
                                        </p:tgtEl>
                                        <p:attrNameLst>
                                          <p:attrName>style.visibility</p:attrName>
                                        </p:attrNameLst>
                                      </p:cBhvr>
                                      <p:to>
                                        <p:strVal val="visible"/>
                                      </p:to>
                                    </p:set>
                                    <p:anim calcmode="lin" valueType="num">
                                      <p:cBhvr additive="base">
                                        <p:cTn id="27" dur="1000"/>
                                        <p:tgtEl>
                                          <p:spTgt spid="342">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42">
                                            <p:txEl>
                                              <p:pRg st="5" end="5"/>
                                            </p:txEl>
                                          </p:spTgt>
                                        </p:tgtEl>
                                        <p:attrNameLst>
                                          <p:attrName>style.visibility</p:attrName>
                                        </p:attrNameLst>
                                      </p:cBhvr>
                                      <p:to>
                                        <p:strVal val="visible"/>
                                      </p:to>
                                    </p:set>
                                    <p:anim calcmode="lin" valueType="num">
                                      <p:cBhvr additive="base">
                                        <p:cTn id="32" dur="1000"/>
                                        <p:tgtEl>
                                          <p:spTgt spid="342">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116633eea3b_0_28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48" name="Google Shape;348;g116633eea3b_0_286"/>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Phân trang nên được bật khi có nhiều kết quả hơn số kết quả mặc định trên mỗi trang.</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chức năng phân trang trang Tiếp theo, Trước đó, Đầu tiên và Cuối cùng.</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bản ghi trùng lặp không được hiển thị trong lưới kết quả.</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xem các ký hiệu thích hợp được sử dụng để hiển thị các giá trị cột, ví dụ: ký hiệu % có được hiển thị để tính phần trăm hay không.</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8">
                                            <p:txEl>
                                              <p:pRg st="0" end="0"/>
                                            </p:txEl>
                                          </p:spTgt>
                                        </p:tgtEl>
                                        <p:attrNameLst>
                                          <p:attrName>style.visibility</p:attrName>
                                        </p:attrNameLst>
                                      </p:cBhvr>
                                      <p:to>
                                        <p:strVal val="visible"/>
                                      </p:to>
                                    </p:set>
                                    <p:anim calcmode="lin" valueType="num">
                                      <p:cBhvr additive="base">
                                        <p:cTn id="7" dur="1000"/>
                                        <p:tgtEl>
                                          <p:spTgt spid="34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48">
                                            <p:txEl>
                                              <p:pRg st="1" end="1"/>
                                            </p:txEl>
                                          </p:spTgt>
                                        </p:tgtEl>
                                        <p:attrNameLst>
                                          <p:attrName>style.visibility</p:attrName>
                                        </p:attrNameLst>
                                      </p:cBhvr>
                                      <p:to>
                                        <p:strVal val="visible"/>
                                      </p:to>
                                    </p:set>
                                    <p:anim calcmode="lin" valueType="num">
                                      <p:cBhvr additive="base">
                                        <p:cTn id="12" dur="1000"/>
                                        <p:tgtEl>
                                          <p:spTgt spid="34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48">
                                            <p:txEl>
                                              <p:pRg st="2" end="2"/>
                                            </p:txEl>
                                          </p:spTgt>
                                        </p:tgtEl>
                                        <p:attrNameLst>
                                          <p:attrName>style.visibility</p:attrName>
                                        </p:attrNameLst>
                                      </p:cBhvr>
                                      <p:to>
                                        <p:strVal val="visible"/>
                                      </p:to>
                                    </p:set>
                                    <p:anim calcmode="lin" valueType="num">
                                      <p:cBhvr additive="base">
                                        <p:cTn id="17" dur="1000"/>
                                        <p:tgtEl>
                                          <p:spTgt spid="34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48">
                                            <p:txEl>
                                              <p:pRg st="3" end="3"/>
                                            </p:txEl>
                                          </p:spTgt>
                                        </p:tgtEl>
                                        <p:attrNameLst>
                                          <p:attrName>style.visibility</p:attrName>
                                        </p:attrNameLst>
                                      </p:cBhvr>
                                      <p:to>
                                        <p:strVal val="visible"/>
                                      </p:to>
                                    </p:set>
                                    <p:anim calcmode="lin" valueType="num">
                                      <p:cBhvr additive="base">
                                        <p:cTn id="22" dur="1000"/>
                                        <p:tgtEl>
                                          <p:spTgt spid="348">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g116633eea3b_0_29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54" name="Google Shape;354;g116633eea3b_0_295"/>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tình huống thử nghiệm cho cửa sổ:</a:t>
            </a:r>
            <a:endParaRPr sz="36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xem kích thước cửa sổ mặc định có đúng không.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xem kích thước cửa sổ con có đúng không.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xem các cửa sổ con có được đóng lại khi đóng cửa sổ cha / người mở hay không.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Nếu cửa sổ con được mở, người dùng sẽ không thể sử dụng hoặc cập nhật bất kỳ trường nào trong nền hoặc cửa sổ mẹ.</a:t>
            </a:r>
            <a:endParaRPr sz="35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anim calcmode="lin" valueType="num">
                                      <p:cBhvr additive="base">
                                        <p:cTn id="7" dur="1000"/>
                                        <p:tgtEl>
                                          <p:spTgt spid="35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54">
                                            <p:txEl>
                                              <p:pRg st="1" end="1"/>
                                            </p:txEl>
                                          </p:spTgt>
                                        </p:tgtEl>
                                        <p:attrNameLst>
                                          <p:attrName>style.visibility</p:attrName>
                                        </p:attrNameLst>
                                      </p:cBhvr>
                                      <p:to>
                                        <p:strVal val="visible"/>
                                      </p:to>
                                    </p:set>
                                    <p:anim calcmode="lin" valueType="num">
                                      <p:cBhvr additive="base">
                                        <p:cTn id="12" dur="1000"/>
                                        <p:tgtEl>
                                          <p:spTgt spid="35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54">
                                            <p:txEl>
                                              <p:pRg st="2" end="2"/>
                                            </p:txEl>
                                          </p:spTgt>
                                        </p:tgtEl>
                                        <p:attrNameLst>
                                          <p:attrName>style.visibility</p:attrName>
                                        </p:attrNameLst>
                                      </p:cBhvr>
                                      <p:to>
                                        <p:strVal val="visible"/>
                                      </p:to>
                                    </p:set>
                                    <p:anim calcmode="lin" valueType="num">
                                      <p:cBhvr additive="base">
                                        <p:cTn id="17" dur="1000"/>
                                        <p:tgtEl>
                                          <p:spTgt spid="35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54">
                                            <p:txEl>
                                              <p:pRg st="3" end="3"/>
                                            </p:txEl>
                                          </p:spTgt>
                                        </p:tgtEl>
                                        <p:attrNameLst>
                                          <p:attrName>style.visibility</p:attrName>
                                        </p:attrNameLst>
                                      </p:cBhvr>
                                      <p:to>
                                        <p:strVal val="visible"/>
                                      </p:to>
                                    </p:set>
                                    <p:anim calcmode="lin" valueType="num">
                                      <p:cBhvr additive="base">
                                        <p:cTn id="22" dur="1000"/>
                                        <p:tgtEl>
                                          <p:spTgt spid="354">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54">
                                            <p:txEl>
                                              <p:pRg st="4" end="4"/>
                                            </p:txEl>
                                          </p:spTgt>
                                        </p:tgtEl>
                                        <p:attrNameLst>
                                          <p:attrName>style.visibility</p:attrName>
                                        </p:attrNameLst>
                                      </p:cBhvr>
                                      <p:to>
                                        <p:strVal val="visible"/>
                                      </p:to>
                                    </p:set>
                                    <p:anim calcmode="lin" valueType="num">
                                      <p:cBhvr additive="base">
                                        <p:cTn id="27" dur="1000"/>
                                        <p:tgtEl>
                                          <p:spTgt spid="354">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g116633eea3b_0_30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60" name="Google Shape;360;g116633eea3b_0_302"/>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cửa sổ để thu nhỏ, tối đa hóa và đóng chức năng.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xem cửa sổ có thể thay đổi kích thước lớn hay không.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chức năng thanh cuộn cho cửa sổ cha và con.</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chức năng của nút hủy cho cửa sổ con.</a:t>
            </a:r>
            <a:endParaRPr sz="35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0">
                                            <p:txEl>
                                              <p:pRg st="0" end="0"/>
                                            </p:txEl>
                                          </p:spTgt>
                                        </p:tgtEl>
                                        <p:attrNameLst>
                                          <p:attrName>style.visibility</p:attrName>
                                        </p:attrNameLst>
                                      </p:cBhvr>
                                      <p:to>
                                        <p:strVal val="visible"/>
                                      </p:to>
                                    </p:set>
                                    <p:anim calcmode="lin" valueType="num">
                                      <p:cBhvr additive="base">
                                        <p:cTn id="7" dur="1000"/>
                                        <p:tgtEl>
                                          <p:spTgt spid="36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60">
                                            <p:txEl>
                                              <p:pRg st="1" end="1"/>
                                            </p:txEl>
                                          </p:spTgt>
                                        </p:tgtEl>
                                        <p:attrNameLst>
                                          <p:attrName>style.visibility</p:attrName>
                                        </p:attrNameLst>
                                      </p:cBhvr>
                                      <p:to>
                                        <p:strVal val="visible"/>
                                      </p:to>
                                    </p:set>
                                    <p:anim calcmode="lin" valueType="num">
                                      <p:cBhvr additive="base">
                                        <p:cTn id="12" dur="1000"/>
                                        <p:tgtEl>
                                          <p:spTgt spid="36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60">
                                            <p:txEl>
                                              <p:pRg st="2" end="2"/>
                                            </p:txEl>
                                          </p:spTgt>
                                        </p:tgtEl>
                                        <p:attrNameLst>
                                          <p:attrName>style.visibility</p:attrName>
                                        </p:attrNameLst>
                                      </p:cBhvr>
                                      <p:to>
                                        <p:strVal val="visible"/>
                                      </p:to>
                                    </p:set>
                                    <p:anim calcmode="lin" valueType="num">
                                      <p:cBhvr additive="base">
                                        <p:cTn id="17" dur="1000"/>
                                        <p:tgtEl>
                                          <p:spTgt spid="36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60">
                                            <p:txEl>
                                              <p:pRg st="3" end="3"/>
                                            </p:txEl>
                                          </p:spTgt>
                                        </p:tgtEl>
                                        <p:attrNameLst>
                                          <p:attrName>style.visibility</p:attrName>
                                        </p:attrNameLst>
                                      </p:cBhvr>
                                      <p:to>
                                        <p:strVal val="visible"/>
                                      </p:to>
                                    </p:set>
                                    <p:anim calcmode="lin" valueType="num">
                                      <p:cBhvr additive="base">
                                        <p:cTn id="22" dur="1000"/>
                                        <p:tgtEl>
                                          <p:spTgt spid="360">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116633eea3b_0_30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66" name="Google Shape;366;g116633eea3b_0_307"/>
          <p:cNvSpPr txBox="1"/>
          <p:nvPr/>
        </p:nvSpPr>
        <p:spPr>
          <a:xfrm>
            <a:off x="617100" y="850800"/>
            <a:ext cx="11176794"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300" dirty="0" err="1">
                <a:solidFill>
                  <a:schemeClr val="dk1"/>
                </a:solidFill>
                <a:latin typeface="Quattrocento Sans"/>
                <a:ea typeface="Quattrocento Sans"/>
                <a:cs typeface="Quattrocento Sans"/>
                <a:sym typeface="Quattrocento Sans"/>
              </a:rPr>
              <a:t>Các</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kịch</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bản</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thử</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nghiệm</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kiểm</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tra</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cơ</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sở</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dữ</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liệu</a:t>
            </a:r>
            <a:r>
              <a:rPr lang="en-US" sz="3300" dirty="0">
                <a:solidFill>
                  <a:schemeClr val="dk1"/>
                </a:solidFill>
                <a:latin typeface="Quattrocento Sans"/>
                <a:ea typeface="Quattrocento Sans"/>
                <a:cs typeface="Quattrocento Sans"/>
                <a:sym typeface="Quattrocento Sans"/>
              </a:rPr>
              <a:t>:</a:t>
            </a:r>
            <a:endParaRPr sz="3300" dirty="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300" dirty="0" err="1">
                <a:solidFill>
                  <a:schemeClr val="dk1"/>
                </a:solidFill>
                <a:latin typeface="Quattrocento Sans"/>
                <a:ea typeface="Quattrocento Sans"/>
                <a:cs typeface="Quattrocento Sans"/>
                <a:sym typeface="Quattrocento Sans"/>
              </a:rPr>
              <a:t>Kiểm</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tra</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xem</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dữ</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liệu</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chính</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xác</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có</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được</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lưu</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trong</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cơ</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sở</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dữ</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liệu</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khi</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gửi</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trang</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thành</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công</a:t>
            </a:r>
            <a:r>
              <a:rPr lang="en-US" sz="3300" dirty="0">
                <a:solidFill>
                  <a:schemeClr val="dk1"/>
                </a:solidFill>
                <a:latin typeface="Quattrocento Sans"/>
                <a:ea typeface="Quattrocento Sans"/>
                <a:cs typeface="Quattrocento Sans"/>
                <a:sym typeface="Quattrocento Sans"/>
              </a:rPr>
              <a:t> hay </a:t>
            </a:r>
            <a:r>
              <a:rPr lang="en-US" sz="3300" dirty="0" err="1">
                <a:solidFill>
                  <a:schemeClr val="dk1"/>
                </a:solidFill>
                <a:latin typeface="Quattrocento Sans"/>
                <a:ea typeface="Quattrocento Sans"/>
                <a:cs typeface="Quattrocento Sans"/>
                <a:sym typeface="Quattrocento Sans"/>
              </a:rPr>
              <a:t>không</a:t>
            </a:r>
            <a:r>
              <a:rPr lang="en-US" sz="3300" dirty="0">
                <a:solidFill>
                  <a:schemeClr val="dk1"/>
                </a:solidFill>
                <a:latin typeface="Quattrocento Sans"/>
                <a:ea typeface="Quattrocento Sans"/>
                <a:cs typeface="Quattrocento Sans"/>
                <a:sym typeface="Quattrocento Sans"/>
              </a:rPr>
              <a:t>.</a:t>
            </a:r>
            <a:endParaRPr sz="3300" dirty="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300" dirty="0" err="1">
                <a:solidFill>
                  <a:schemeClr val="dk1"/>
                </a:solidFill>
                <a:latin typeface="Quattrocento Sans"/>
                <a:ea typeface="Quattrocento Sans"/>
                <a:cs typeface="Quattrocento Sans"/>
                <a:sym typeface="Quattrocento Sans"/>
              </a:rPr>
              <a:t>Kiểm</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tra</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giá</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trị</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cho</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các</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cột</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không</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chấp</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nhận</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giá</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trị</a:t>
            </a:r>
            <a:r>
              <a:rPr lang="en-US" sz="3300" dirty="0">
                <a:solidFill>
                  <a:schemeClr val="dk1"/>
                </a:solidFill>
                <a:latin typeface="Quattrocento Sans"/>
                <a:ea typeface="Quattrocento Sans"/>
                <a:cs typeface="Quattrocento Sans"/>
                <a:sym typeface="Quattrocento Sans"/>
              </a:rPr>
              <a:t> null.</a:t>
            </a:r>
            <a:endParaRPr sz="3300" dirty="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300" dirty="0" err="1">
                <a:solidFill>
                  <a:schemeClr val="dk1"/>
                </a:solidFill>
                <a:latin typeface="Quattrocento Sans"/>
                <a:ea typeface="Quattrocento Sans"/>
                <a:cs typeface="Quattrocento Sans"/>
                <a:sym typeface="Quattrocento Sans"/>
              </a:rPr>
              <a:t>Các</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bảng</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phải</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có</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cột</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khóa</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chính</a:t>
            </a:r>
            <a:r>
              <a:rPr lang="en-US" sz="3300" dirty="0">
                <a:solidFill>
                  <a:schemeClr val="dk1"/>
                </a:solidFill>
                <a:latin typeface="Quattrocento Sans"/>
                <a:ea typeface="Quattrocento Sans"/>
                <a:cs typeface="Quattrocento Sans"/>
                <a:sym typeface="Quattrocento Sans"/>
              </a:rPr>
              <a:t>.</a:t>
            </a:r>
            <a:endParaRPr sz="3300" dirty="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300" dirty="0" err="1">
                <a:solidFill>
                  <a:schemeClr val="dk1"/>
                </a:solidFill>
                <a:latin typeface="Quattrocento Sans"/>
                <a:ea typeface="Quattrocento Sans"/>
                <a:cs typeface="Quattrocento Sans"/>
                <a:sym typeface="Quattrocento Sans"/>
              </a:rPr>
              <a:t>Các</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cột</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của</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bảng</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phải</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có</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sẵn</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thông</a:t>
            </a:r>
            <a:r>
              <a:rPr lang="en-US" sz="3300" dirty="0">
                <a:solidFill>
                  <a:schemeClr val="dk1"/>
                </a:solidFill>
                <a:latin typeface="Quattrocento Sans"/>
                <a:ea typeface="Quattrocento Sans"/>
                <a:cs typeface="Quattrocento Sans"/>
                <a:sym typeface="Quattrocento Sans"/>
              </a:rPr>
              <a:t> tin </a:t>
            </a:r>
            <a:r>
              <a:rPr lang="en-US" sz="3300" dirty="0" err="1">
                <a:solidFill>
                  <a:schemeClr val="dk1"/>
                </a:solidFill>
                <a:latin typeface="Quattrocento Sans"/>
                <a:ea typeface="Quattrocento Sans"/>
                <a:cs typeface="Quattrocento Sans"/>
                <a:sym typeface="Quattrocento Sans"/>
              </a:rPr>
              <a:t>mô</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tả</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ngoại</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trừ</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các</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cột</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kiểm</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tra</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như</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ngày</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tạo</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được</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tạo</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bởi</a:t>
            </a:r>
            <a:r>
              <a:rPr lang="en-US" sz="3300" dirty="0">
                <a:solidFill>
                  <a:schemeClr val="dk1"/>
                </a:solidFill>
                <a:latin typeface="Quattrocento Sans"/>
                <a:ea typeface="Quattrocento Sans"/>
                <a:cs typeface="Quattrocento Sans"/>
                <a:sym typeface="Quattrocento Sans"/>
              </a:rPr>
              <a:t>, v.v.)</a:t>
            </a:r>
            <a:endParaRPr sz="3300" dirty="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300" dirty="0" err="1">
                <a:solidFill>
                  <a:schemeClr val="dk1"/>
                </a:solidFill>
                <a:latin typeface="Quattrocento Sans"/>
                <a:ea typeface="Quattrocento Sans"/>
                <a:cs typeface="Quattrocento Sans"/>
                <a:sym typeface="Quattrocento Sans"/>
              </a:rPr>
              <a:t>Dữ</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liệu</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nên</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được</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khôi</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phục</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trong</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trường</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hợp</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giao</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dịch</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không</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thành</a:t>
            </a:r>
            <a:r>
              <a:rPr lang="en-US" sz="3300" dirty="0">
                <a:solidFill>
                  <a:schemeClr val="dk1"/>
                </a:solidFill>
                <a:latin typeface="Quattrocento Sans"/>
                <a:ea typeface="Quattrocento Sans"/>
                <a:cs typeface="Quattrocento Sans"/>
                <a:sym typeface="Quattrocento Sans"/>
              </a:rPr>
              <a:t> </a:t>
            </a:r>
            <a:r>
              <a:rPr lang="en-US" sz="3300" dirty="0" err="1">
                <a:solidFill>
                  <a:schemeClr val="dk1"/>
                </a:solidFill>
                <a:latin typeface="Quattrocento Sans"/>
                <a:ea typeface="Quattrocento Sans"/>
                <a:cs typeface="Quattrocento Sans"/>
                <a:sym typeface="Quattrocento Sans"/>
              </a:rPr>
              <a:t>công</a:t>
            </a:r>
            <a:r>
              <a:rPr lang="en-US" sz="3300" dirty="0">
                <a:solidFill>
                  <a:schemeClr val="dk1"/>
                </a:solidFill>
                <a:latin typeface="Quattrocento Sans"/>
                <a:ea typeface="Quattrocento Sans"/>
                <a:cs typeface="Quattrocento Sans"/>
                <a:sym typeface="Quattrocento Sans"/>
              </a:rPr>
              <a:t>.</a:t>
            </a:r>
            <a:endParaRPr sz="33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6">
                                            <p:txEl>
                                              <p:pRg st="0" end="0"/>
                                            </p:txEl>
                                          </p:spTgt>
                                        </p:tgtEl>
                                        <p:attrNameLst>
                                          <p:attrName>style.visibility</p:attrName>
                                        </p:attrNameLst>
                                      </p:cBhvr>
                                      <p:to>
                                        <p:strVal val="visible"/>
                                      </p:to>
                                    </p:set>
                                    <p:anim calcmode="lin" valueType="num">
                                      <p:cBhvr additive="base">
                                        <p:cTn id="7" dur="1000"/>
                                        <p:tgtEl>
                                          <p:spTgt spid="36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66">
                                            <p:txEl>
                                              <p:pRg st="1" end="1"/>
                                            </p:txEl>
                                          </p:spTgt>
                                        </p:tgtEl>
                                        <p:attrNameLst>
                                          <p:attrName>style.visibility</p:attrName>
                                        </p:attrNameLst>
                                      </p:cBhvr>
                                      <p:to>
                                        <p:strVal val="visible"/>
                                      </p:to>
                                    </p:set>
                                    <p:anim calcmode="lin" valueType="num">
                                      <p:cBhvr additive="base">
                                        <p:cTn id="12" dur="1000"/>
                                        <p:tgtEl>
                                          <p:spTgt spid="36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66">
                                            <p:txEl>
                                              <p:pRg st="2" end="2"/>
                                            </p:txEl>
                                          </p:spTgt>
                                        </p:tgtEl>
                                        <p:attrNameLst>
                                          <p:attrName>style.visibility</p:attrName>
                                        </p:attrNameLst>
                                      </p:cBhvr>
                                      <p:to>
                                        <p:strVal val="visible"/>
                                      </p:to>
                                    </p:set>
                                    <p:anim calcmode="lin" valueType="num">
                                      <p:cBhvr additive="base">
                                        <p:cTn id="17" dur="1000"/>
                                        <p:tgtEl>
                                          <p:spTgt spid="36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66">
                                            <p:txEl>
                                              <p:pRg st="3" end="3"/>
                                            </p:txEl>
                                          </p:spTgt>
                                        </p:tgtEl>
                                        <p:attrNameLst>
                                          <p:attrName>style.visibility</p:attrName>
                                        </p:attrNameLst>
                                      </p:cBhvr>
                                      <p:to>
                                        <p:strVal val="visible"/>
                                      </p:to>
                                    </p:set>
                                    <p:anim calcmode="lin" valueType="num">
                                      <p:cBhvr additive="base">
                                        <p:cTn id="22" dur="1000"/>
                                        <p:tgtEl>
                                          <p:spTgt spid="36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66">
                                            <p:txEl>
                                              <p:pRg st="4" end="4"/>
                                            </p:txEl>
                                          </p:spTgt>
                                        </p:tgtEl>
                                        <p:attrNameLst>
                                          <p:attrName>style.visibility</p:attrName>
                                        </p:attrNameLst>
                                      </p:cBhvr>
                                      <p:to>
                                        <p:strVal val="visible"/>
                                      </p:to>
                                    </p:set>
                                    <p:anim calcmode="lin" valueType="num">
                                      <p:cBhvr additive="base">
                                        <p:cTn id="27" dur="1000"/>
                                        <p:tgtEl>
                                          <p:spTgt spid="36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66">
                                            <p:txEl>
                                              <p:pRg st="5" end="5"/>
                                            </p:txEl>
                                          </p:spTgt>
                                        </p:tgtEl>
                                        <p:attrNameLst>
                                          <p:attrName>style.visibility</p:attrName>
                                        </p:attrNameLst>
                                      </p:cBhvr>
                                      <p:to>
                                        <p:strVal val="visible"/>
                                      </p:to>
                                    </p:set>
                                    <p:anim calcmode="lin" valueType="num">
                                      <p:cBhvr additive="base">
                                        <p:cTn id="32" dur="1000"/>
                                        <p:tgtEl>
                                          <p:spTgt spid="366">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116633eea3b_0_32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72" name="Google Shape;372;g116633eea3b_0_323"/>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xem dữ liệu đầu vào có bị cắt bớt khi lưu hay không. Độ dài trường hiển thị cho người dùng trên trang và trong lược đồ cơ sở dữ liệu phải giống nhau.</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Khoảng trống ở đầu và cuối của trường đầu vào nên được cắt bớt trước khi chuyển dữ liệu vào cơ sở dữ liệu.</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Giá trị rỗng không được phép cho cột Khóa chính.</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tính toàn vẹn của dữ liệu. Dữ liệu nên được lưu trữ trong một hoặc nhiều bảng dựa trên thiết kế.</a:t>
            </a:r>
            <a:endParaRPr sz="35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2">
                                            <p:txEl>
                                              <p:pRg st="0" end="0"/>
                                            </p:txEl>
                                          </p:spTgt>
                                        </p:tgtEl>
                                        <p:attrNameLst>
                                          <p:attrName>style.visibility</p:attrName>
                                        </p:attrNameLst>
                                      </p:cBhvr>
                                      <p:to>
                                        <p:strVal val="visible"/>
                                      </p:to>
                                    </p:set>
                                    <p:anim calcmode="lin" valueType="num">
                                      <p:cBhvr additive="base">
                                        <p:cTn id="7" dur="1000"/>
                                        <p:tgtEl>
                                          <p:spTgt spid="37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72">
                                            <p:txEl>
                                              <p:pRg st="1" end="1"/>
                                            </p:txEl>
                                          </p:spTgt>
                                        </p:tgtEl>
                                        <p:attrNameLst>
                                          <p:attrName>style.visibility</p:attrName>
                                        </p:attrNameLst>
                                      </p:cBhvr>
                                      <p:to>
                                        <p:strVal val="visible"/>
                                      </p:to>
                                    </p:set>
                                    <p:anim calcmode="lin" valueType="num">
                                      <p:cBhvr additive="base">
                                        <p:cTn id="12" dur="1000"/>
                                        <p:tgtEl>
                                          <p:spTgt spid="37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72">
                                            <p:txEl>
                                              <p:pRg st="2" end="2"/>
                                            </p:txEl>
                                          </p:spTgt>
                                        </p:tgtEl>
                                        <p:attrNameLst>
                                          <p:attrName>style.visibility</p:attrName>
                                        </p:attrNameLst>
                                      </p:cBhvr>
                                      <p:to>
                                        <p:strVal val="visible"/>
                                      </p:to>
                                    </p:set>
                                    <p:anim calcmode="lin" valueType="num">
                                      <p:cBhvr additive="base">
                                        <p:cTn id="17" dur="1000"/>
                                        <p:tgtEl>
                                          <p:spTgt spid="37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72">
                                            <p:txEl>
                                              <p:pRg st="3" end="3"/>
                                            </p:txEl>
                                          </p:spTgt>
                                        </p:tgtEl>
                                        <p:attrNameLst>
                                          <p:attrName>style.visibility</p:attrName>
                                        </p:attrNameLst>
                                      </p:cBhvr>
                                      <p:to>
                                        <p:strVal val="visible"/>
                                      </p:to>
                                    </p:set>
                                    <p:anim calcmode="lin" valueType="num">
                                      <p:cBhvr additive="base">
                                        <p:cTn id="22" dur="1000"/>
                                        <p:tgtEl>
                                          <p:spTgt spid="372">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116633eea3b_0_33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78" name="Google Shape;378;g116633eea3b_0_332"/>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tình huống thử nghiệm cho chức năng tải lên hình ảnh:</a:t>
            </a:r>
            <a:endParaRPr sz="36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đường dẫn hình ảnh đã tải lên.</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chức năng tải lên và thay đổi hình ảnh.</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chức năng tải lên hình ảnh với các tệp hình ảnh có các phần mở rộng khác nhau ( Ví dụ: JPEG, PNG, BMP, v.v.)</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chức năng tải lên hình ảnh với các hình ảnh có khoảng trắng hoặc bất kỳ ký tự đặc biệt nào khác được phép trong tên tệp.</a:t>
            </a:r>
            <a:endParaRPr sz="35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8">
                                            <p:txEl>
                                              <p:pRg st="0" end="0"/>
                                            </p:txEl>
                                          </p:spTgt>
                                        </p:tgtEl>
                                        <p:attrNameLst>
                                          <p:attrName>style.visibility</p:attrName>
                                        </p:attrNameLst>
                                      </p:cBhvr>
                                      <p:to>
                                        <p:strVal val="visible"/>
                                      </p:to>
                                    </p:set>
                                    <p:anim calcmode="lin" valueType="num">
                                      <p:cBhvr additive="base">
                                        <p:cTn id="7" dur="1000"/>
                                        <p:tgtEl>
                                          <p:spTgt spid="37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78">
                                            <p:txEl>
                                              <p:pRg st="1" end="1"/>
                                            </p:txEl>
                                          </p:spTgt>
                                        </p:tgtEl>
                                        <p:attrNameLst>
                                          <p:attrName>style.visibility</p:attrName>
                                        </p:attrNameLst>
                                      </p:cBhvr>
                                      <p:to>
                                        <p:strVal val="visible"/>
                                      </p:to>
                                    </p:set>
                                    <p:anim calcmode="lin" valueType="num">
                                      <p:cBhvr additive="base">
                                        <p:cTn id="12" dur="1000"/>
                                        <p:tgtEl>
                                          <p:spTgt spid="37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78">
                                            <p:txEl>
                                              <p:pRg st="2" end="2"/>
                                            </p:txEl>
                                          </p:spTgt>
                                        </p:tgtEl>
                                        <p:attrNameLst>
                                          <p:attrName>style.visibility</p:attrName>
                                        </p:attrNameLst>
                                      </p:cBhvr>
                                      <p:to>
                                        <p:strVal val="visible"/>
                                      </p:to>
                                    </p:set>
                                    <p:anim calcmode="lin" valueType="num">
                                      <p:cBhvr additive="base">
                                        <p:cTn id="17" dur="1000"/>
                                        <p:tgtEl>
                                          <p:spTgt spid="37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78">
                                            <p:txEl>
                                              <p:pRg st="3" end="3"/>
                                            </p:txEl>
                                          </p:spTgt>
                                        </p:tgtEl>
                                        <p:attrNameLst>
                                          <p:attrName>style.visibility</p:attrName>
                                        </p:attrNameLst>
                                      </p:cBhvr>
                                      <p:to>
                                        <p:strVal val="visible"/>
                                      </p:to>
                                    </p:set>
                                    <p:anim calcmode="lin" valueType="num">
                                      <p:cBhvr additive="base">
                                        <p:cTn id="22" dur="1000"/>
                                        <p:tgtEl>
                                          <p:spTgt spid="378">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78">
                                            <p:txEl>
                                              <p:pRg st="4" end="4"/>
                                            </p:txEl>
                                          </p:spTgt>
                                        </p:tgtEl>
                                        <p:attrNameLst>
                                          <p:attrName>style.visibility</p:attrName>
                                        </p:attrNameLst>
                                      </p:cBhvr>
                                      <p:to>
                                        <p:strVal val="visible"/>
                                      </p:to>
                                    </p:set>
                                    <p:anim calcmode="lin" valueType="num">
                                      <p:cBhvr additive="base">
                                        <p:cTn id="27" dur="1000"/>
                                        <p:tgtEl>
                                          <p:spTgt spid="378">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g116633eea3b_0_34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84" name="Google Shape;384;g116633eea3b_0_342"/>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hình ảnh tải lên với kích thước hình ảnh lớn hơn kích thước tối đa cho phép.Kiểm tra chức năng tải lên hình ảnh với các loại tệp khác với hình ảnh ( Ví dụ: txt, doc, pdf, exe, v.v.). </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xem hình ảnh có chiều cao và chiều rộng được chỉ định.</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chức năng tải lên nhiều hình ảnh.</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chất lượng hình ảnh sau khi tải lên.</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xem người dùng có thể sử dụng</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84">
                                            <p:txEl>
                                              <p:pRg st="0" end="0"/>
                                            </p:txEl>
                                          </p:spTgt>
                                        </p:tgtEl>
                                        <p:attrNameLst>
                                          <p:attrName>style.visibility</p:attrName>
                                        </p:attrNameLst>
                                      </p:cBhvr>
                                      <p:to>
                                        <p:strVal val="visible"/>
                                      </p:to>
                                    </p:set>
                                    <p:anim calcmode="lin" valueType="num">
                                      <p:cBhvr additive="base">
                                        <p:cTn id="7" dur="1000"/>
                                        <p:tgtEl>
                                          <p:spTgt spid="38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84">
                                            <p:txEl>
                                              <p:pRg st="1" end="1"/>
                                            </p:txEl>
                                          </p:spTgt>
                                        </p:tgtEl>
                                        <p:attrNameLst>
                                          <p:attrName>style.visibility</p:attrName>
                                        </p:attrNameLst>
                                      </p:cBhvr>
                                      <p:to>
                                        <p:strVal val="visible"/>
                                      </p:to>
                                    </p:set>
                                    <p:anim calcmode="lin" valueType="num">
                                      <p:cBhvr additive="base">
                                        <p:cTn id="12" dur="1000"/>
                                        <p:tgtEl>
                                          <p:spTgt spid="38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84">
                                            <p:txEl>
                                              <p:pRg st="2" end="2"/>
                                            </p:txEl>
                                          </p:spTgt>
                                        </p:tgtEl>
                                        <p:attrNameLst>
                                          <p:attrName>style.visibility</p:attrName>
                                        </p:attrNameLst>
                                      </p:cBhvr>
                                      <p:to>
                                        <p:strVal val="visible"/>
                                      </p:to>
                                    </p:set>
                                    <p:anim calcmode="lin" valueType="num">
                                      <p:cBhvr additive="base">
                                        <p:cTn id="17" dur="1000"/>
                                        <p:tgtEl>
                                          <p:spTgt spid="38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84">
                                            <p:txEl>
                                              <p:pRg st="3" end="3"/>
                                            </p:txEl>
                                          </p:spTgt>
                                        </p:tgtEl>
                                        <p:attrNameLst>
                                          <p:attrName>style.visibility</p:attrName>
                                        </p:attrNameLst>
                                      </p:cBhvr>
                                      <p:to>
                                        <p:strVal val="visible"/>
                                      </p:to>
                                    </p:set>
                                    <p:anim calcmode="lin" valueType="num">
                                      <p:cBhvr additive="base">
                                        <p:cTn id="22" dur="1000"/>
                                        <p:tgtEl>
                                          <p:spTgt spid="384">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84">
                                            <p:txEl>
                                              <p:pRg st="4" end="4"/>
                                            </p:txEl>
                                          </p:spTgt>
                                        </p:tgtEl>
                                        <p:attrNameLst>
                                          <p:attrName>style.visibility</p:attrName>
                                        </p:attrNameLst>
                                      </p:cBhvr>
                                      <p:to>
                                        <p:strVal val="visible"/>
                                      </p:to>
                                    </p:set>
                                    <p:anim calcmode="lin" valueType="num">
                                      <p:cBhvr additive="base">
                                        <p:cTn id="27" dur="1000"/>
                                        <p:tgtEl>
                                          <p:spTgt spid="384">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g116633eea3b_0_35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90" name="Google Shape;390;g116633eea3b_0_353"/>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tình huống thử nghiệm để gửi email:</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Địa chỉ email nên được xác thực.</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Tiêu đề email không được để trống.</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Tên người gửi email không được để trống.</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email văn bản thuần túy.</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các email định dạng HTML.</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email có tệp đính kèm.</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để gửi chức năng email đến người nhận đơn lẻ, nhiều người hoặc danh sách phân phối.</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để gửi một lượng lớn email.</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90">
                                            <p:txEl>
                                              <p:pRg st="0" end="0"/>
                                            </p:txEl>
                                          </p:spTgt>
                                        </p:tgtEl>
                                        <p:attrNameLst>
                                          <p:attrName>style.visibility</p:attrName>
                                        </p:attrNameLst>
                                      </p:cBhvr>
                                      <p:to>
                                        <p:strVal val="visible"/>
                                      </p:to>
                                    </p:set>
                                    <p:anim calcmode="lin" valueType="num">
                                      <p:cBhvr additive="base">
                                        <p:cTn id="7" dur="1000"/>
                                        <p:tgtEl>
                                          <p:spTgt spid="39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90">
                                            <p:txEl>
                                              <p:pRg st="1" end="1"/>
                                            </p:txEl>
                                          </p:spTgt>
                                        </p:tgtEl>
                                        <p:attrNameLst>
                                          <p:attrName>style.visibility</p:attrName>
                                        </p:attrNameLst>
                                      </p:cBhvr>
                                      <p:to>
                                        <p:strVal val="visible"/>
                                      </p:to>
                                    </p:set>
                                    <p:anim calcmode="lin" valueType="num">
                                      <p:cBhvr additive="base">
                                        <p:cTn id="12" dur="1000"/>
                                        <p:tgtEl>
                                          <p:spTgt spid="39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90">
                                            <p:txEl>
                                              <p:pRg st="2" end="2"/>
                                            </p:txEl>
                                          </p:spTgt>
                                        </p:tgtEl>
                                        <p:attrNameLst>
                                          <p:attrName>style.visibility</p:attrName>
                                        </p:attrNameLst>
                                      </p:cBhvr>
                                      <p:to>
                                        <p:strVal val="visible"/>
                                      </p:to>
                                    </p:set>
                                    <p:anim calcmode="lin" valueType="num">
                                      <p:cBhvr additive="base">
                                        <p:cTn id="17" dur="1000"/>
                                        <p:tgtEl>
                                          <p:spTgt spid="39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90">
                                            <p:txEl>
                                              <p:pRg st="3" end="3"/>
                                            </p:txEl>
                                          </p:spTgt>
                                        </p:tgtEl>
                                        <p:attrNameLst>
                                          <p:attrName>style.visibility</p:attrName>
                                        </p:attrNameLst>
                                      </p:cBhvr>
                                      <p:to>
                                        <p:strVal val="visible"/>
                                      </p:to>
                                    </p:set>
                                    <p:anim calcmode="lin" valueType="num">
                                      <p:cBhvr additive="base">
                                        <p:cTn id="22" dur="1000"/>
                                        <p:tgtEl>
                                          <p:spTgt spid="390">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90">
                                            <p:txEl>
                                              <p:pRg st="4" end="4"/>
                                            </p:txEl>
                                          </p:spTgt>
                                        </p:tgtEl>
                                        <p:attrNameLst>
                                          <p:attrName>style.visibility</p:attrName>
                                        </p:attrNameLst>
                                      </p:cBhvr>
                                      <p:to>
                                        <p:strVal val="visible"/>
                                      </p:to>
                                    </p:set>
                                    <p:anim calcmode="lin" valueType="num">
                                      <p:cBhvr additive="base">
                                        <p:cTn id="27" dur="1000"/>
                                        <p:tgtEl>
                                          <p:spTgt spid="390">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90">
                                            <p:txEl>
                                              <p:pRg st="5" end="5"/>
                                            </p:txEl>
                                          </p:spTgt>
                                        </p:tgtEl>
                                        <p:attrNameLst>
                                          <p:attrName>style.visibility</p:attrName>
                                        </p:attrNameLst>
                                      </p:cBhvr>
                                      <p:to>
                                        <p:strVal val="visible"/>
                                      </p:to>
                                    </p:set>
                                    <p:anim calcmode="lin" valueType="num">
                                      <p:cBhvr additive="base">
                                        <p:cTn id="32" dur="1000"/>
                                        <p:tgtEl>
                                          <p:spTgt spid="390">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90">
                                            <p:txEl>
                                              <p:pRg st="6" end="6"/>
                                            </p:txEl>
                                          </p:spTgt>
                                        </p:tgtEl>
                                        <p:attrNameLst>
                                          <p:attrName>style.visibility</p:attrName>
                                        </p:attrNameLst>
                                      </p:cBhvr>
                                      <p:to>
                                        <p:strVal val="visible"/>
                                      </p:to>
                                    </p:set>
                                    <p:anim calcmode="lin" valueType="num">
                                      <p:cBhvr additive="base">
                                        <p:cTn id="37" dur="1000"/>
                                        <p:tgtEl>
                                          <p:spTgt spid="390">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390">
                                            <p:txEl>
                                              <p:pRg st="7" end="7"/>
                                            </p:txEl>
                                          </p:spTgt>
                                        </p:tgtEl>
                                        <p:attrNameLst>
                                          <p:attrName>style.visibility</p:attrName>
                                        </p:attrNameLst>
                                      </p:cBhvr>
                                      <p:to>
                                        <p:strVal val="visible"/>
                                      </p:to>
                                    </p:set>
                                    <p:anim calcmode="lin" valueType="num">
                                      <p:cBhvr additive="base">
                                        <p:cTn id="42" dur="1000"/>
                                        <p:tgtEl>
                                          <p:spTgt spid="390">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390">
                                            <p:txEl>
                                              <p:pRg st="8" end="8"/>
                                            </p:txEl>
                                          </p:spTgt>
                                        </p:tgtEl>
                                        <p:attrNameLst>
                                          <p:attrName>style.visibility</p:attrName>
                                        </p:attrNameLst>
                                      </p:cBhvr>
                                      <p:to>
                                        <p:strVal val="visible"/>
                                      </p:to>
                                    </p:set>
                                    <p:anim calcmode="lin" valueType="num">
                                      <p:cBhvr additive="base">
                                        <p:cTn id="47" dur="1000"/>
                                        <p:tgtEl>
                                          <p:spTgt spid="390">
                                            <p:txEl>
                                              <p:pRg st="8" end="8"/>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g116633eea3b_0_39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396" name="Google Shape;396;g116633eea3b_0_396"/>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tình huống xuất Excel:</a:t>
            </a:r>
            <a:endParaRPr sz="36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Tệp sẽ được xuất với phần mở rộng tệp thích hợp.</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định dạng ngày tháng nếu tệp Excel xuất ra có chứa các cột ngày tháng.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định dạng số cho các giá trị số hoặc tiền tệ. Định dạng phải giống như được hiển thị trên trang.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Tệp được xuất ra phải có các cột với tên cột thích hợp.</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xem dữ liệu hiển thị trên trang và tệp Excel xuất ra có giống nhau không.</a:t>
            </a:r>
            <a:endParaRPr sz="35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96">
                                            <p:txEl>
                                              <p:pRg st="0" end="0"/>
                                            </p:txEl>
                                          </p:spTgt>
                                        </p:tgtEl>
                                        <p:attrNameLst>
                                          <p:attrName>style.visibility</p:attrName>
                                        </p:attrNameLst>
                                      </p:cBhvr>
                                      <p:to>
                                        <p:strVal val="visible"/>
                                      </p:to>
                                    </p:set>
                                    <p:anim calcmode="lin" valueType="num">
                                      <p:cBhvr additive="base">
                                        <p:cTn id="7" dur="1000"/>
                                        <p:tgtEl>
                                          <p:spTgt spid="39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96">
                                            <p:txEl>
                                              <p:pRg st="1" end="1"/>
                                            </p:txEl>
                                          </p:spTgt>
                                        </p:tgtEl>
                                        <p:attrNameLst>
                                          <p:attrName>style.visibility</p:attrName>
                                        </p:attrNameLst>
                                      </p:cBhvr>
                                      <p:to>
                                        <p:strVal val="visible"/>
                                      </p:to>
                                    </p:set>
                                    <p:anim calcmode="lin" valueType="num">
                                      <p:cBhvr additive="base">
                                        <p:cTn id="12" dur="1000"/>
                                        <p:tgtEl>
                                          <p:spTgt spid="39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96">
                                            <p:txEl>
                                              <p:pRg st="2" end="2"/>
                                            </p:txEl>
                                          </p:spTgt>
                                        </p:tgtEl>
                                        <p:attrNameLst>
                                          <p:attrName>style.visibility</p:attrName>
                                        </p:attrNameLst>
                                      </p:cBhvr>
                                      <p:to>
                                        <p:strVal val="visible"/>
                                      </p:to>
                                    </p:set>
                                    <p:anim calcmode="lin" valueType="num">
                                      <p:cBhvr additive="base">
                                        <p:cTn id="17" dur="1000"/>
                                        <p:tgtEl>
                                          <p:spTgt spid="39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96">
                                            <p:txEl>
                                              <p:pRg st="3" end="3"/>
                                            </p:txEl>
                                          </p:spTgt>
                                        </p:tgtEl>
                                        <p:attrNameLst>
                                          <p:attrName>style.visibility</p:attrName>
                                        </p:attrNameLst>
                                      </p:cBhvr>
                                      <p:to>
                                        <p:strVal val="visible"/>
                                      </p:to>
                                    </p:set>
                                    <p:anim calcmode="lin" valueType="num">
                                      <p:cBhvr additive="base">
                                        <p:cTn id="22" dur="1000"/>
                                        <p:tgtEl>
                                          <p:spTgt spid="39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96">
                                            <p:txEl>
                                              <p:pRg st="4" end="4"/>
                                            </p:txEl>
                                          </p:spTgt>
                                        </p:tgtEl>
                                        <p:attrNameLst>
                                          <p:attrName>style.visibility</p:attrName>
                                        </p:attrNameLst>
                                      </p:cBhvr>
                                      <p:to>
                                        <p:strVal val="visible"/>
                                      </p:to>
                                    </p:set>
                                    <p:anim calcmode="lin" valueType="num">
                                      <p:cBhvr additive="base">
                                        <p:cTn id="27" dur="1000"/>
                                        <p:tgtEl>
                                          <p:spTgt spid="39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96">
                                            <p:txEl>
                                              <p:pRg st="5" end="5"/>
                                            </p:txEl>
                                          </p:spTgt>
                                        </p:tgtEl>
                                        <p:attrNameLst>
                                          <p:attrName>style.visibility</p:attrName>
                                        </p:attrNameLst>
                                      </p:cBhvr>
                                      <p:to>
                                        <p:strVal val="visible"/>
                                      </p:to>
                                    </p:set>
                                    <p:anim calcmode="lin" valueType="num">
                                      <p:cBhvr additive="base">
                                        <p:cTn id="32" dur="1000"/>
                                        <p:tgtEl>
                                          <p:spTgt spid="396">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g116633eea3b_0_41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402" name="Google Shape;402;g116633eea3b_0_411"/>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tình huống kiểm tra thử nghiệm hiệu suất</a:t>
            </a:r>
            <a:endParaRPr sz="36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xem thời gian tải trang có nằm trong phạm vi chấp nhận được không.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xem trang có tải trên kết nối chậm không.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thời gian phản hồi cho bất kỳ hành động nào trong các điều kiện tải nhẹ, bình thường, trung bình và nặng.</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thời gian thực hiện truy vấn cơ sở dữ liệu.</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việc sử dụng CPU và bộ nhớ trong điều kiện tải cao điểm.</a:t>
            </a:r>
            <a:endParaRPr sz="35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2">
                                            <p:txEl>
                                              <p:pRg st="0" end="0"/>
                                            </p:txEl>
                                          </p:spTgt>
                                        </p:tgtEl>
                                        <p:attrNameLst>
                                          <p:attrName>style.visibility</p:attrName>
                                        </p:attrNameLst>
                                      </p:cBhvr>
                                      <p:to>
                                        <p:strVal val="visible"/>
                                      </p:to>
                                    </p:set>
                                    <p:anim calcmode="lin" valueType="num">
                                      <p:cBhvr additive="base">
                                        <p:cTn id="7" dur="1000"/>
                                        <p:tgtEl>
                                          <p:spTgt spid="40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02">
                                            <p:txEl>
                                              <p:pRg st="1" end="1"/>
                                            </p:txEl>
                                          </p:spTgt>
                                        </p:tgtEl>
                                        <p:attrNameLst>
                                          <p:attrName>style.visibility</p:attrName>
                                        </p:attrNameLst>
                                      </p:cBhvr>
                                      <p:to>
                                        <p:strVal val="visible"/>
                                      </p:to>
                                    </p:set>
                                    <p:anim calcmode="lin" valueType="num">
                                      <p:cBhvr additive="base">
                                        <p:cTn id="12" dur="1000"/>
                                        <p:tgtEl>
                                          <p:spTgt spid="40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02">
                                            <p:txEl>
                                              <p:pRg st="2" end="2"/>
                                            </p:txEl>
                                          </p:spTgt>
                                        </p:tgtEl>
                                        <p:attrNameLst>
                                          <p:attrName>style.visibility</p:attrName>
                                        </p:attrNameLst>
                                      </p:cBhvr>
                                      <p:to>
                                        <p:strVal val="visible"/>
                                      </p:to>
                                    </p:set>
                                    <p:anim calcmode="lin" valueType="num">
                                      <p:cBhvr additive="base">
                                        <p:cTn id="17" dur="1000"/>
                                        <p:tgtEl>
                                          <p:spTgt spid="40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02">
                                            <p:txEl>
                                              <p:pRg st="3" end="3"/>
                                            </p:txEl>
                                          </p:spTgt>
                                        </p:tgtEl>
                                        <p:attrNameLst>
                                          <p:attrName>style.visibility</p:attrName>
                                        </p:attrNameLst>
                                      </p:cBhvr>
                                      <p:to>
                                        <p:strVal val="visible"/>
                                      </p:to>
                                    </p:set>
                                    <p:anim calcmode="lin" valueType="num">
                                      <p:cBhvr additive="base">
                                        <p:cTn id="22" dur="1000"/>
                                        <p:tgtEl>
                                          <p:spTgt spid="402">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402">
                                            <p:txEl>
                                              <p:pRg st="4" end="4"/>
                                            </p:txEl>
                                          </p:spTgt>
                                        </p:tgtEl>
                                        <p:attrNameLst>
                                          <p:attrName>style.visibility</p:attrName>
                                        </p:attrNameLst>
                                      </p:cBhvr>
                                      <p:to>
                                        <p:strVal val="visible"/>
                                      </p:to>
                                    </p:set>
                                    <p:anim calcmode="lin" valueType="num">
                                      <p:cBhvr additive="base">
                                        <p:cTn id="27" dur="1000"/>
                                        <p:tgtEl>
                                          <p:spTgt spid="402">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402">
                                            <p:txEl>
                                              <p:pRg st="5" end="5"/>
                                            </p:txEl>
                                          </p:spTgt>
                                        </p:tgtEl>
                                        <p:attrNameLst>
                                          <p:attrName>style.visibility</p:attrName>
                                        </p:attrNameLst>
                                      </p:cBhvr>
                                      <p:to>
                                        <p:strVal val="visible"/>
                                      </p:to>
                                    </p:set>
                                    <p:anim calcmode="lin" valueType="num">
                                      <p:cBhvr additive="base">
                                        <p:cTn id="32" dur="1000"/>
                                        <p:tgtEl>
                                          <p:spTgt spid="402">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g116633eea3b_0_42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408" name="Google Shape;408;g116633eea3b_0_422"/>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914400" lvl="1"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tình huống kiểm tra kiểm tra bảo mật</a:t>
            </a:r>
            <a:endParaRPr sz="36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các cuộc tấn công SQL injection.</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Các trang bảo mật nên sử dụng giao thức HTTPS.</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Sự cố trang không được tiết lộ thông tin ứng dụng hoặc máy chủ. Trang lỗi sẽ được hiển thị cho điều này.</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Thông báo lỗi không được tiết lộ bất kỳ thông tin nhạy cảm nào.</a:t>
            </a:r>
            <a:endParaRPr sz="3500">
              <a:solidFill>
                <a:schemeClr val="dk1"/>
              </a:solidFill>
              <a:latin typeface="Quattrocento Sans"/>
              <a:ea typeface="Quattrocento Sans"/>
              <a:cs typeface="Quattrocento Sans"/>
              <a:sym typeface="Quattrocento Sans"/>
            </a:endParaRPr>
          </a:p>
          <a:p>
            <a:pPr marL="1371600" lvl="2" indent="-450850" algn="l" rtl="0">
              <a:spcBef>
                <a:spcPts val="0"/>
              </a:spcBef>
              <a:spcAft>
                <a:spcPts val="0"/>
              </a:spcAft>
              <a:buClr>
                <a:srgbClr val="FF5A33"/>
              </a:buClr>
              <a:buSzPts val="3500"/>
              <a:buFont typeface="Quattrocento Sans"/>
              <a:buChar char="➢"/>
            </a:pPr>
            <a:r>
              <a:rPr lang="en-US" sz="3500">
                <a:solidFill>
                  <a:schemeClr val="dk1"/>
                </a:solidFill>
                <a:latin typeface="Quattrocento Sans"/>
                <a:ea typeface="Quattrocento Sans"/>
                <a:cs typeface="Quattrocento Sans"/>
                <a:sym typeface="Quattrocento Sans"/>
              </a:rPr>
              <a:t>Kiểm tra bảo mật mật khẩu và thực thi chính sách mật khẩu.</a:t>
            </a:r>
            <a:endParaRPr sz="35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8">
                                            <p:txEl>
                                              <p:pRg st="0" end="0"/>
                                            </p:txEl>
                                          </p:spTgt>
                                        </p:tgtEl>
                                        <p:attrNameLst>
                                          <p:attrName>style.visibility</p:attrName>
                                        </p:attrNameLst>
                                      </p:cBhvr>
                                      <p:to>
                                        <p:strVal val="visible"/>
                                      </p:to>
                                    </p:set>
                                    <p:anim calcmode="lin" valueType="num">
                                      <p:cBhvr additive="base">
                                        <p:cTn id="7" dur="1000"/>
                                        <p:tgtEl>
                                          <p:spTgt spid="40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08">
                                            <p:txEl>
                                              <p:pRg st="1" end="1"/>
                                            </p:txEl>
                                          </p:spTgt>
                                        </p:tgtEl>
                                        <p:attrNameLst>
                                          <p:attrName>style.visibility</p:attrName>
                                        </p:attrNameLst>
                                      </p:cBhvr>
                                      <p:to>
                                        <p:strVal val="visible"/>
                                      </p:to>
                                    </p:set>
                                    <p:anim calcmode="lin" valueType="num">
                                      <p:cBhvr additive="base">
                                        <p:cTn id="12" dur="1000"/>
                                        <p:tgtEl>
                                          <p:spTgt spid="40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08">
                                            <p:txEl>
                                              <p:pRg st="2" end="2"/>
                                            </p:txEl>
                                          </p:spTgt>
                                        </p:tgtEl>
                                        <p:attrNameLst>
                                          <p:attrName>style.visibility</p:attrName>
                                        </p:attrNameLst>
                                      </p:cBhvr>
                                      <p:to>
                                        <p:strVal val="visible"/>
                                      </p:to>
                                    </p:set>
                                    <p:anim calcmode="lin" valueType="num">
                                      <p:cBhvr additive="base">
                                        <p:cTn id="17" dur="1000"/>
                                        <p:tgtEl>
                                          <p:spTgt spid="40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08">
                                            <p:txEl>
                                              <p:pRg st="3" end="3"/>
                                            </p:txEl>
                                          </p:spTgt>
                                        </p:tgtEl>
                                        <p:attrNameLst>
                                          <p:attrName>style.visibility</p:attrName>
                                        </p:attrNameLst>
                                      </p:cBhvr>
                                      <p:to>
                                        <p:strVal val="visible"/>
                                      </p:to>
                                    </p:set>
                                    <p:anim calcmode="lin" valueType="num">
                                      <p:cBhvr additive="base">
                                        <p:cTn id="22" dur="1000"/>
                                        <p:tgtEl>
                                          <p:spTgt spid="408">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408">
                                            <p:txEl>
                                              <p:pRg st="4" end="4"/>
                                            </p:txEl>
                                          </p:spTgt>
                                        </p:tgtEl>
                                        <p:attrNameLst>
                                          <p:attrName>style.visibility</p:attrName>
                                        </p:attrNameLst>
                                      </p:cBhvr>
                                      <p:to>
                                        <p:strVal val="visible"/>
                                      </p:to>
                                    </p:set>
                                    <p:anim calcmode="lin" valueType="num">
                                      <p:cBhvr additive="base">
                                        <p:cTn id="27" dur="1000"/>
                                        <p:tgtEl>
                                          <p:spTgt spid="408">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408">
                                            <p:txEl>
                                              <p:pRg st="5" end="5"/>
                                            </p:txEl>
                                          </p:spTgt>
                                        </p:tgtEl>
                                        <p:attrNameLst>
                                          <p:attrName>style.visibility</p:attrName>
                                        </p:attrNameLst>
                                      </p:cBhvr>
                                      <p:to>
                                        <p:strVal val="visible"/>
                                      </p:to>
                                    </p:set>
                                    <p:anim calcmode="lin" valueType="num">
                                      <p:cBhvr additive="base">
                                        <p:cTn id="32" dur="1000"/>
                                        <p:tgtEl>
                                          <p:spTgt spid="408">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g116633eea3b_0_43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case</a:t>
            </a:r>
            <a:endParaRPr/>
          </a:p>
        </p:txBody>
      </p:sp>
      <p:sp>
        <p:nvSpPr>
          <p:cNvPr id="414" name="Google Shape;414;g116633eea3b_0_433"/>
          <p:cNvSpPr txBox="1"/>
          <p:nvPr/>
        </p:nvSpPr>
        <p:spPr>
          <a:xfrm>
            <a:off x="617100" y="850800"/>
            <a:ext cx="11479800" cy="6007200"/>
          </a:xfrm>
          <a:prstGeom prst="rect">
            <a:avLst/>
          </a:prstGeom>
          <a:noFill/>
          <a:ln>
            <a:noFill/>
          </a:ln>
        </p:spPr>
        <p:txBody>
          <a:bodyPr spcFirstLastPara="1" wrap="square" lIns="91425" tIns="45700" rIns="91425" bIns="45700" anchor="t" anchorCtr="0">
            <a:noAutofit/>
          </a:bodyPr>
          <a:lstStyle/>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chức năng đăng xuất ứng dụng. </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Thông tin cookie chỉ nên được lưu trữ ở định dạng được mã hóa.</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Mật khẩu không nên được lưu trữ trong cookie.</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trường nhạy cảm như mật khẩu và thông tin thẻ tín dụng không được bật tính năng tự động điền.</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Mật khẩu và các trường nhạy cảm khác nên được che trong khi nhập.</a:t>
            </a:r>
            <a:endParaRPr sz="3600">
              <a:solidFill>
                <a:schemeClr val="dk1"/>
              </a:solidFill>
              <a:latin typeface="Quattrocento Sans"/>
              <a:ea typeface="Quattrocento Sans"/>
              <a:cs typeface="Quattrocento Sans"/>
              <a:sym typeface="Quattrocento Sans"/>
            </a:endParaRPr>
          </a:p>
          <a:p>
            <a:pPr marL="1371600" lvl="2" indent="-457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Xác minh chức năng CAPTCHA.</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14">
                                            <p:txEl>
                                              <p:pRg st="0" end="0"/>
                                            </p:txEl>
                                          </p:spTgt>
                                        </p:tgtEl>
                                        <p:attrNameLst>
                                          <p:attrName>style.visibility</p:attrName>
                                        </p:attrNameLst>
                                      </p:cBhvr>
                                      <p:to>
                                        <p:strVal val="visible"/>
                                      </p:to>
                                    </p:set>
                                    <p:anim calcmode="lin" valueType="num">
                                      <p:cBhvr additive="base">
                                        <p:cTn id="7" dur="1000"/>
                                        <p:tgtEl>
                                          <p:spTgt spid="41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14">
                                            <p:txEl>
                                              <p:pRg st="1" end="1"/>
                                            </p:txEl>
                                          </p:spTgt>
                                        </p:tgtEl>
                                        <p:attrNameLst>
                                          <p:attrName>style.visibility</p:attrName>
                                        </p:attrNameLst>
                                      </p:cBhvr>
                                      <p:to>
                                        <p:strVal val="visible"/>
                                      </p:to>
                                    </p:set>
                                    <p:anim calcmode="lin" valueType="num">
                                      <p:cBhvr additive="base">
                                        <p:cTn id="12" dur="1000"/>
                                        <p:tgtEl>
                                          <p:spTgt spid="41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14">
                                            <p:txEl>
                                              <p:pRg st="2" end="2"/>
                                            </p:txEl>
                                          </p:spTgt>
                                        </p:tgtEl>
                                        <p:attrNameLst>
                                          <p:attrName>style.visibility</p:attrName>
                                        </p:attrNameLst>
                                      </p:cBhvr>
                                      <p:to>
                                        <p:strVal val="visible"/>
                                      </p:to>
                                    </p:set>
                                    <p:anim calcmode="lin" valueType="num">
                                      <p:cBhvr additive="base">
                                        <p:cTn id="17" dur="1000"/>
                                        <p:tgtEl>
                                          <p:spTgt spid="41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14">
                                            <p:txEl>
                                              <p:pRg st="3" end="3"/>
                                            </p:txEl>
                                          </p:spTgt>
                                        </p:tgtEl>
                                        <p:attrNameLst>
                                          <p:attrName>style.visibility</p:attrName>
                                        </p:attrNameLst>
                                      </p:cBhvr>
                                      <p:to>
                                        <p:strVal val="visible"/>
                                      </p:to>
                                    </p:set>
                                    <p:anim calcmode="lin" valueType="num">
                                      <p:cBhvr additive="base">
                                        <p:cTn id="22" dur="1000"/>
                                        <p:tgtEl>
                                          <p:spTgt spid="414">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414">
                                            <p:txEl>
                                              <p:pRg st="4" end="4"/>
                                            </p:txEl>
                                          </p:spTgt>
                                        </p:tgtEl>
                                        <p:attrNameLst>
                                          <p:attrName>style.visibility</p:attrName>
                                        </p:attrNameLst>
                                      </p:cBhvr>
                                      <p:to>
                                        <p:strVal val="visible"/>
                                      </p:to>
                                    </p:set>
                                    <p:anim calcmode="lin" valueType="num">
                                      <p:cBhvr additive="base">
                                        <p:cTn id="27" dur="1000"/>
                                        <p:tgtEl>
                                          <p:spTgt spid="414">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414">
                                            <p:txEl>
                                              <p:pRg st="5" end="5"/>
                                            </p:txEl>
                                          </p:spTgt>
                                        </p:tgtEl>
                                        <p:attrNameLst>
                                          <p:attrName>style.visibility</p:attrName>
                                        </p:attrNameLst>
                                      </p:cBhvr>
                                      <p:to>
                                        <p:strVal val="visible"/>
                                      </p:to>
                                    </p:set>
                                    <p:anim calcmode="lin" valueType="num">
                                      <p:cBhvr additive="base">
                                        <p:cTn id="32" dur="1000"/>
                                        <p:tgtEl>
                                          <p:spTgt spid="414">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g11668136614_0_18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Tóm tắt bài học</a:t>
            </a:r>
            <a:endParaRPr/>
          </a:p>
        </p:txBody>
      </p:sp>
      <p:sp>
        <p:nvSpPr>
          <p:cNvPr id="420" name="Google Shape;420;g11668136614_0_186"/>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421" name="Google Shape;421;g11668136614_0_186"/>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11668136614_0_186"/>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3" name="Google Shape;423;g11668136614_0_186"/>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2900" b="1">
                <a:solidFill>
                  <a:srgbClr val="333333"/>
                </a:solidFill>
                <a:latin typeface="Quattrocento Sans"/>
                <a:ea typeface="Quattrocento Sans"/>
                <a:cs typeface="Quattrocento Sans"/>
                <a:sym typeface="Quattrocento Sans"/>
              </a:rPr>
              <a:t>Những tính huống thường gặp khi viết TestCase</a:t>
            </a:r>
            <a:endParaRPr sz="2900" b="1">
              <a:solidFill>
                <a:srgbClr val="333333"/>
              </a:solidFill>
              <a:latin typeface="Quattrocento Sans"/>
              <a:ea typeface="Quattrocento Sans"/>
              <a:cs typeface="Quattrocento Sans"/>
              <a:sym typeface="Quattrocento Sans"/>
            </a:endParaRPr>
          </a:p>
          <a:p>
            <a:pPr marL="914400" lvl="0"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Chung</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Giao diện và khả năng sử dụng</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Tiêu chí lọc</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Lưới kết quả</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cửa sổ</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Cơ sở dữ liệu</a:t>
            </a:r>
            <a:endParaRPr sz="2900" b="1">
              <a:solidFill>
                <a:srgbClr val="333333"/>
              </a:solidFill>
              <a:latin typeface="Quattrocento Sans"/>
              <a:ea typeface="Quattrocento Sans"/>
              <a:cs typeface="Quattrocento Sans"/>
              <a:sym typeface="Quattrocento Sans"/>
            </a:endParaRPr>
          </a:p>
        </p:txBody>
      </p:sp>
      <p:sp>
        <p:nvSpPr>
          <p:cNvPr id="424" name="Google Shape;424;g11668136614_0_186"/>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425" name="Google Shape;425;g11668136614_0_186"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116633eea3b_0_46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Tóm tắt bài học</a:t>
            </a:r>
            <a:endParaRPr/>
          </a:p>
        </p:txBody>
      </p:sp>
      <p:sp>
        <p:nvSpPr>
          <p:cNvPr id="431" name="Google Shape;431;g116633eea3b_0_463"/>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432" name="Google Shape;432;g116633eea3b_0_463"/>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116633eea3b_0_463"/>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4" name="Google Shape;434;g116633eea3b_0_463"/>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435" name="Google Shape;435;g116633eea3b_0_463"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
        <p:nvSpPr>
          <p:cNvPr id="436" name="Google Shape;436;g116633eea3b_0_463"/>
          <p:cNvSpPr txBox="1"/>
          <p:nvPr/>
        </p:nvSpPr>
        <p:spPr>
          <a:xfrm>
            <a:off x="700561" y="2153700"/>
            <a:ext cx="8304600" cy="3498000"/>
          </a:xfrm>
          <a:prstGeom prst="rect">
            <a:avLst/>
          </a:prstGeom>
          <a:noFill/>
          <a:ln>
            <a:noFill/>
          </a:ln>
        </p:spPr>
        <p:txBody>
          <a:bodyPr spcFirstLastPara="1" wrap="square" lIns="91425" tIns="45700" rIns="91425" bIns="45700" anchor="t" anchorCtr="0">
            <a:noAutofit/>
          </a:bodyPr>
          <a:lstStyle/>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Upload</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Gửi Email</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Xuất Excel</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Hiệu năng</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Tình huống Bảo mật</a:t>
            </a:r>
            <a:endParaRPr sz="2900" b="1">
              <a:solidFill>
                <a:srgbClr val="333333"/>
              </a:solidFill>
              <a:latin typeface="Quattrocento Sans"/>
              <a:ea typeface="Quattrocento Sans"/>
              <a:cs typeface="Quattrocento Sans"/>
              <a:sym typeface="Quattrocento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g11668136614_0_3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442" name="Google Shape;442;g11668136614_0_34"/>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443" name="Google Shape;443;g11668136614_0_34"/>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4" name="Google Shape;444;g11668136614_0_34"/>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5" name="Google Shape;445;g11668136614_0_34"/>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31800" algn="l" rtl="0">
              <a:lnSpc>
                <a:spcPct val="115000"/>
              </a:lnSpc>
              <a:spcBef>
                <a:spcPts val="0"/>
              </a:spcBef>
              <a:spcAft>
                <a:spcPts val="0"/>
              </a:spcAft>
              <a:buClr>
                <a:srgbClr val="333333"/>
              </a:buClr>
              <a:buSzPts val="3200"/>
              <a:buFont typeface="Quattrocento Sans"/>
              <a:buChar char="•"/>
            </a:pPr>
            <a:r>
              <a:rPr lang="en-US" sz="3200" b="1">
                <a:solidFill>
                  <a:srgbClr val="333333"/>
                </a:solidFill>
                <a:latin typeface="Quattrocento Sans"/>
                <a:ea typeface="Quattrocento Sans"/>
                <a:cs typeface="Quattrocento Sans"/>
                <a:sym typeface="Quattrocento Sans"/>
              </a:rPr>
              <a:t>Hoạt động quản lý lỗi, sự cố trong quá trình kiểm thử phần mềm</a:t>
            </a:r>
            <a:endParaRPr sz="3200" b="1">
              <a:solidFill>
                <a:srgbClr val="333333"/>
              </a:solidFill>
              <a:latin typeface="Quattrocento Sans"/>
              <a:ea typeface="Quattrocento Sans"/>
              <a:cs typeface="Quattrocento Sans"/>
              <a:sym typeface="Quattrocento Sans"/>
            </a:endParaRPr>
          </a:p>
          <a:p>
            <a:pPr marL="914400" lvl="1" indent="-431800" algn="l" rtl="0">
              <a:lnSpc>
                <a:spcPct val="115000"/>
              </a:lnSpc>
              <a:spcBef>
                <a:spcPts val="0"/>
              </a:spcBef>
              <a:spcAft>
                <a:spcPts val="0"/>
              </a:spcAft>
              <a:buClr>
                <a:srgbClr val="333333"/>
              </a:buClr>
              <a:buSzPts val="3200"/>
              <a:buFont typeface="Quattrocento Sans"/>
              <a:buChar char="○"/>
            </a:pPr>
            <a:r>
              <a:rPr lang="en-US" sz="3200" b="1">
                <a:solidFill>
                  <a:srgbClr val="333333"/>
                </a:solidFill>
                <a:latin typeface="Quattrocento Sans"/>
                <a:ea typeface="Quattrocento Sans"/>
                <a:cs typeface="Quattrocento Sans"/>
                <a:sym typeface="Quattrocento Sans"/>
              </a:rPr>
              <a:t>Quy trình quản lý lỗi</a:t>
            </a:r>
            <a:endParaRPr sz="3200" b="1">
              <a:solidFill>
                <a:srgbClr val="333333"/>
              </a:solidFill>
              <a:latin typeface="Quattrocento Sans"/>
              <a:ea typeface="Quattrocento Sans"/>
              <a:cs typeface="Quattrocento Sans"/>
              <a:sym typeface="Quattrocento Sans"/>
            </a:endParaRPr>
          </a:p>
          <a:p>
            <a:pPr marL="914400" lvl="1" indent="-431800" algn="l" rtl="0">
              <a:lnSpc>
                <a:spcPct val="115000"/>
              </a:lnSpc>
              <a:spcBef>
                <a:spcPts val="0"/>
              </a:spcBef>
              <a:spcAft>
                <a:spcPts val="0"/>
              </a:spcAft>
              <a:buClr>
                <a:srgbClr val="333333"/>
              </a:buClr>
              <a:buSzPts val="3200"/>
              <a:buFont typeface="Quattrocento Sans"/>
              <a:buChar char="○"/>
            </a:pPr>
            <a:r>
              <a:rPr lang="en-US" sz="3200" b="1">
                <a:solidFill>
                  <a:srgbClr val="333333"/>
                </a:solidFill>
                <a:latin typeface="Quattrocento Sans"/>
                <a:ea typeface="Quattrocento Sans"/>
                <a:cs typeface="Quattrocento Sans"/>
                <a:sym typeface="Quattrocento Sans"/>
              </a:rPr>
              <a:t>Viết báo cáo kiểm thử</a:t>
            </a:r>
            <a:endParaRPr sz="3200" b="1">
              <a:solidFill>
                <a:srgbClr val="333333"/>
              </a:solidFill>
              <a:latin typeface="Quattrocento Sans"/>
              <a:ea typeface="Quattrocento Sans"/>
              <a:cs typeface="Quattrocento Sans"/>
              <a:sym typeface="Quattrocento Sans"/>
            </a:endParaRPr>
          </a:p>
          <a:p>
            <a:pPr marL="914400" lvl="1" indent="-431800" algn="l" rtl="0">
              <a:lnSpc>
                <a:spcPct val="115000"/>
              </a:lnSpc>
              <a:spcBef>
                <a:spcPts val="0"/>
              </a:spcBef>
              <a:spcAft>
                <a:spcPts val="0"/>
              </a:spcAft>
              <a:buClr>
                <a:srgbClr val="333333"/>
              </a:buClr>
              <a:buSzPts val="3200"/>
              <a:buFont typeface="Quattrocento Sans"/>
              <a:buChar char="○"/>
            </a:pPr>
            <a:r>
              <a:rPr lang="en-US" sz="3200" b="1">
                <a:solidFill>
                  <a:srgbClr val="333333"/>
                </a:solidFill>
                <a:latin typeface="Quattrocento Sans"/>
                <a:ea typeface="Quattrocento Sans"/>
                <a:cs typeface="Quattrocento Sans"/>
                <a:sym typeface="Quattrocento Sans"/>
              </a:rPr>
              <a:t>Công cụ hỗ trợ kiểm thử</a:t>
            </a:r>
            <a:endParaRPr sz="3200" b="1">
              <a:solidFill>
                <a:srgbClr val="333333"/>
              </a:solidFill>
              <a:latin typeface="Quattrocento Sans"/>
              <a:ea typeface="Quattrocento Sans"/>
              <a:cs typeface="Quattrocento Sans"/>
              <a:sym typeface="Quattrocento Sans"/>
            </a:endParaRPr>
          </a:p>
        </p:txBody>
      </p:sp>
      <p:sp>
        <p:nvSpPr>
          <p:cNvPr id="446" name="Google Shape;446;g11668136614_0_34"/>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tiếp theo</a:t>
            </a:r>
            <a:endParaRPr sz="2800" b="1" i="0" u="none" strike="noStrike" cap="none">
              <a:solidFill>
                <a:srgbClr val="F79646"/>
              </a:solidFill>
              <a:latin typeface="Quattrocento Sans"/>
              <a:ea typeface="Quattrocento Sans"/>
              <a:cs typeface="Quattrocento Sans"/>
              <a:sym typeface="Quattrocento Sans"/>
            </a:endParaRPr>
          </a:p>
        </p:txBody>
      </p:sp>
      <p:pic>
        <p:nvPicPr>
          <p:cNvPr id="447" name="Google Shape;447;g11668136614_0_34" descr="D:\Pictures\PNG\present.png"/>
          <p:cNvPicPr preferRelativeResize="0"/>
          <p:nvPr/>
        </p:nvPicPr>
        <p:blipFill rotWithShape="1">
          <a:blip r:embed="rId3">
            <a:alphaModFix/>
          </a:blip>
          <a:srcRect/>
          <a:stretch/>
        </p:blipFill>
        <p:spPr>
          <a:xfrm flipH="1">
            <a:off x="9469017" y="1480800"/>
            <a:ext cx="2113383" cy="48933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pic>
        <p:nvPicPr>
          <p:cNvPr id="452" name="Google Shape;452;g115e76f5ad1_0_226"/>
          <p:cNvPicPr preferRelativeResize="0"/>
          <p:nvPr/>
        </p:nvPicPr>
        <p:blipFill rotWithShape="1">
          <a:blip r:embed="rId3">
            <a:alphaModFix/>
          </a:blip>
          <a:srcRect/>
          <a:stretch/>
        </p:blipFill>
        <p:spPr>
          <a:xfrm>
            <a:off x="-5953" y="0"/>
            <a:ext cx="12197953" cy="6858000"/>
          </a:xfrm>
          <a:prstGeom prst="rect">
            <a:avLst/>
          </a:prstGeom>
          <a:noFill/>
          <a:ln>
            <a:noFill/>
          </a:ln>
        </p:spPr>
      </p:pic>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3089</Words>
  <Application>Microsoft Office PowerPoint</Application>
  <PresentationFormat>Widescreen</PresentationFormat>
  <Paragraphs>251</Paragraphs>
  <Slides>48</Slides>
  <Notes>48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48</vt:i4>
      </vt:variant>
    </vt:vector>
  </HeadingPairs>
  <TitlesOfParts>
    <vt:vector size="56" baseType="lpstr">
      <vt:lpstr>Noto Sans Symbols</vt:lpstr>
      <vt:lpstr>Courier New</vt:lpstr>
      <vt:lpstr>Quattrocento Sans</vt:lpstr>
      <vt:lpstr>Roboto</vt:lpstr>
      <vt:lpstr>Arial</vt:lpstr>
      <vt:lpstr>Calibri</vt:lpstr>
      <vt:lpstr>Custom Design</vt:lpstr>
      <vt:lpstr>Custom</vt:lpstr>
      <vt:lpstr>kiểm thử cơ bản(P1)</vt:lpstr>
      <vt:lpstr>Nội dung</vt:lpstr>
      <vt:lpstr>PowerPoint Presentation</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Tóm tắt bài học</vt:lpstr>
      <vt:lpstr>Nội dung bài học tiếp theo</vt:lpstr>
      <vt:lpstr>Nội dung bài học tiếp theo</vt:lpstr>
      <vt:lpstr>PowerPoint Presentation</vt:lpstr>
      <vt:lpstr>kiểm thử cơ bản(P2)</vt:lpstr>
      <vt:lpstr>Nội dung</vt:lpstr>
      <vt:lpstr>Nội dung</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test case</vt:lpstr>
      <vt:lpstr>Tóm tắt bài học</vt:lpstr>
      <vt:lpstr>Tóm tắt bài học</vt:lpstr>
      <vt:lpstr>Nội dung bài học tiếp theo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Hans</dc:creator>
  <cp:lastModifiedBy>This MC</cp:lastModifiedBy>
  <cp:revision>1</cp:revision>
  <dcterms:created xsi:type="dcterms:W3CDTF">2013-04-23T08:05:33Z</dcterms:created>
  <dcterms:modified xsi:type="dcterms:W3CDTF">2024-07-29T03:48:36Z</dcterms:modified>
</cp:coreProperties>
</file>
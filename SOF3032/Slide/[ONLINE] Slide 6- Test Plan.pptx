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3" r:id="rId2"/>
  </p:sldMasterIdLst>
  <p:notesMasterIdLst>
    <p:notesMasterId r:id="rId6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Lst>
  <p:sldSz cx="12192000" cy="6858000"/>
  <p:notesSz cx="6858000" cy="9144000"/>
  <p:embeddedFontLst>
    <p:embeddedFont>
      <p:font typeface="Quattrocento Sans" panose="020B0502050000020003" pitchFamily="34" charset="0"/>
      <p:regular r:id="rId69"/>
      <p:bold r:id="rId70"/>
      <p:italic r:id="rId71"/>
      <p:boldItalic r:id="rId72"/>
    </p:embeddedFont>
    <p:embeddedFont>
      <p:font typeface="Roboto" panose="02000000000000000000" pitchFamily="2" charset="0"/>
      <p:regular r:id="rId73"/>
      <p:bold r:id="rId74"/>
      <p:italic r:id="rId75"/>
      <p:boldItalic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1" roundtripDataSignature="AMtx7mhuTEYdWDhFf8NhlOhNGh++F+VC9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0BAC3E6-0D91-4EE4-A904-E20CA6FAAC95}">
  <a:tblStyle styleId="{70BAC3E6-0D91-4EE4-A904-E20CA6FAAC9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48"/>
      </p:cViewPr>
      <p:guideLst>
        <p:guide orient="horz" pos="2160"/>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notesMaster" Target="notesMasters/notesMaster1.xml"/><Relationship Id="rId76" Type="http://schemas.openxmlformats.org/officeDocument/2006/relationships/font" Target="fonts/font8.fntdata"/><Relationship Id="rId84"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font" Target="fonts/font3.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font" Target="fonts/font6.fntdata"/><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font" Target="fonts/font5.fntdata"/><Relationship Id="rId81"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font" Target="fonts/font1.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4.fntdata"/><Relationship Id="rId85"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2.fntdata"/><Relationship Id="rId75" Type="http://schemas.openxmlformats.org/officeDocument/2006/relationships/font" Target="fonts/font7.fntdata"/><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115e76f5ad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g115e76f5a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115e76f5ad1_0_10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 name="Google Shape;212;g115e76f5ad1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15e76f5ad1_0_3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g115e76f5ad1_0_3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115e76f5ad1_0_4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9" name="Google Shape;229;g115e76f5ad1_0_4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16f0f54a95_0_1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6" name="Google Shape;236;g116f0f54a95_0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116f0f54a95_0_1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5" name="Google Shape;245;g116f0f54a95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16f0f54a95_0_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g116f0f54a95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116f0f54a95_0_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g116f0f54a95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116f0f54a95_0_1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g116f0f54a95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116f0f54a95_0_1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g116f0f54a9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116f0f54a95_0_1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g116f0f54a95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116f0f54a95_0_1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g116f0f54a95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116f0f54a95_0_18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g116f0f54a95_0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116f0f54a95_0_20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g116f0f54a95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16f0f54a95_0_18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g116f0f54a95_0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116f0f54a95_0_19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g116f0f54a95_0_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116f0f54a95_0_2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g116f0f54a95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116f0f54a95_0_2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g116f0f54a95_0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116f0f54a95_0_2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g116f0f54a95_0_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116f0f54a95_0_2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g116f0f54a95_0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116f0f54a95_0_2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g116f0f54a95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116f0f54a95_0_2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g116f0f54a95_0_2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116f0f54a95_0_2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9" name="Google Shape;359;g116f0f54a95_0_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116f0f54a95_0_2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6" name="Google Shape;366;g116f0f54a95_0_2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116f0f54a95_0_2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3" name="Google Shape;373;g116f0f54a95_0_2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116f0f54a95_0_28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g116f0f54a95_0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116f0f54a95_0_29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 name="Google Shape;387;g116f0f54a95_0_2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116f0f54a95_0_28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g116f0f54a95_0_2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116f0f54a95_0_3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9" name="Google Shape;399;g116f0f54a95_0_3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116f0f54a95_0_30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5" name="Google Shape;405;g116f0f54a95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116f0f54a95_0_3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2" name="Google Shape;412;g116f0f54a95_0_3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116f0f54a95_0_3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9" name="Google Shape;419;g116f0f54a95_0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11757251f1a_0_4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5" name="Google Shape;425;g11757251f1a_0_4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11757251f1a_0_47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6" name="Google Shape;436;g11757251f1a_0_4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11757251f1a_0_48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7" name="Google Shape;447;g11757251f1a_0_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11757251f1a_0_49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2" name="Google Shape;452;g11757251f1a_0_4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11757251f1a_0_49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9" name="Google Shape;459;g11757251f1a_0_4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11757251f1a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9" name="Google Shape;469;g11757251f1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11757251f1a_0_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6" name="Google Shape;476;g11757251f1a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11757251f1a_0_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2" name="Google Shape;482;g11757251f1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11757251f1a_0_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9" name="Google Shape;489;g11757251f1a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11757251f1a_0_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5" name="Google Shape;495;g11757251f1a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11757251f1a_0_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g11757251f1a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11757251f1a_0_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g11757251f1a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11757251f1a_0_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4" name="Google Shape;514;g11757251f1a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11757251f1a_0_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0" name="Google Shape;520;g11757251f1a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11757251f1a_0_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7" name="Google Shape;527;g11757251f1a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11757251f1a_0_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3" name="Google Shape;533;g11757251f1a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11757251f1a_0_10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0" name="Google Shape;540;g11757251f1a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11757251f1a_0_1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7" name="Google Shape;547;g11757251f1a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11757251f1a_0_1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4" name="Google Shape;554;g11757251f1a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11757251f1a_0_1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1" name="Google Shape;561;g11757251f1a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11757251f1a_0_1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8" name="Google Shape;568;g11757251f1a_0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11757251f1a_0_1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4" name="Google Shape;574;g11757251f1a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11757251f1a_0_1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0" name="Google Shape;580;g11757251f1a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11757251f1a_0_1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7" name="Google Shape;587;g11757251f1a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11757251f1a_0_1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5" name="Google Shape;595;g11757251f1a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11757251f1a_0_1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1" name="Google Shape;601;g11757251f1a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11757251f1a_0_19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8" name="Google Shape;608;g11757251f1a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11757251f1a_0_2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6" name="Google Shape;616;g11757251f1a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11757251f1a_0_2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2" name="Google Shape;622;g11757251f1a_0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11757251f1a_0_2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8" name="Google Shape;628;g11757251f1a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g11757251f1a_0_2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4" name="Google Shape;634;g11757251f1a_0_2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11757251f1a_0_2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5" name="Google Shape;645;g11757251f1a_0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115e76f5ad1_0_2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6" name="Google Shape;656;g115e76f5ad1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pic>
        <p:nvPicPr>
          <p:cNvPr id="16" name="Google Shape;16;p15"/>
          <p:cNvPicPr preferRelativeResize="0"/>
          <p:nvPr/>
        </p:nvPicPr>
        <p:blipFill rotWithShape="1">
          <a:blip r:embed="rId2">
            <a:alphaModFix/>
          </a:blip>
          <a:srcRect/>
          <a:stretch/>
        </p:blipFill>
        <p:spPr>
          <a:xfrm>
            <a:off x="-4763" y="-4763"/>
            <a:ext cx="12201525" cy="6867525"/>
          </a:xfrm>
          <a:prstGeom prst="rect">
            <a:avLst/>
          </a:prstGeom>
          <a:noFill/>
          <a:ln>
            <a:noFill/>
          </a:ln>
        </p:spPr>
      </p:pic>
      <p:sp>
        <p:nvSpPr>
          <p:cNvPr id="17" name="Google Shape;17;p15"/>
          <p:cNvSpPr txBox="1">
            <a:spLocks noGrp="1"/>
          </p:cNvSpPr>
          <p:nvPr>
            <p:ph type="subTitle" idx="1"/>
          </p:nvPr>
        </p:nvSpPr>
        <p:spPr>
          <a:xfrm>
            <a:off x="5486400" y="4953000"/>
            <a:ext cx="6705600" cy="9906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440"/>
              </a:spcBef>
              <a:spcAft>
                <a:spcPts val="0"/>
              </a:spcAft>
              <a:buClr>
                <a:srgbClr val="FF5A33"/>
              </a:buClr>
              <a:buSzPts val="2200"/>
              <a:buNone/>
              <a:defRPr sz="2200" b="1" cap="small">
                <a:solidFill>
                  <a:srgbClr val="FF5A33"/>
                </a:solidFill>
                <a:latin typeface="Quattrocento Sans"/>
                <a:ea typeface="Quattrocento Sans"/>
                <a:cs typeface="Quattrocento Sans"/>
                <a:sym typeface="Quattrocento Sans"/>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cxnSp>
        <p:nvCxnSpPr>
          <p:cNvPr id="18" name="Google Shape;18;p15"/>
          <p:cNvCxnSpPr/>
          <p:nvPr/>
        </p:nvCxnSpPr>
        <p:spPr>
          <a:xfrm>
            <a:off x="5583936" y="4953000"/>
            <a:ext cx="6303264" cy="0"/>
          </a:xfrm>
          <a:prstGeom prst="straightConnector1">
            <a:avLst/>
          </a:prstGeom>
          <a:noFill/>
          <a:ln w="9525" cap="flat" cmpd="sng">
            <a:solidFill>
              <a:srgbClr val="FF5A33"/>
            </a:solidFill>
            <a:prstDash val="dot"/>
            <a:round/>
            <a:headEnd type="none" w="sm" len="sm"/>
            <a:tailEnd type="none" w="sm" len="sm"/>
          </a:ln>
        </p:spPr>
      </p:cxnSp>
      <p:sp>
        <p:nvSpPr>
          <p:cNvPr id="19" name="Google Shape;19;p15"/>
          <p:cNvSpPr/>
          <p:nvPr/>
        </p:nvSpPr>
        <p:spPr>
          <a:xfrm>
            <a:off x="1060704" y="2133600"/>
            <a:ext cx="3308096" cy="3048000"/>
          </a:xfrm>
          <a:prstGeom prst="ellipse">
            <a:avLst/>
          </a:prstGeom>
          <a:solidFill>
            <a:schemeClr val="lt1"/>
          </a:solidFill>
          <a:ln>
            <a:noFill/>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20;p15"/>
          <p:cNvSpPr txBox="1">
            <a:spLocks noGrp="1"/>
          </p:cNvSpPr>
          <p:nvPr>
            <p:ph type="title"/>
          </p:nvPr>
        </p:nvSpPr>
        <p:spPr>
          <a:xfrm>
            <a:off x="5506720" y="4284596"/>
            <a:ext cx="6100064" cy="70498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FF5A33"/>
              </a:buClr>
              <a:buSzPts val="3400"/>
              <a:buFont typeface="Calibri"/>
              <a:buNone/>
              <a:defRPr sz="3400" b="1" cap="small">
                <a:solidFill>
                  <a:srgbClr val="FF5A33"/>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5"/>
          <p:cNvSpPr>
            <a:spLocks noGrp="1"/>
          </p:cNvSpPr>
          <p:nvPr>
            <p:ph type="pic" idx="2"/>
          </p:nvPr>
        </p:nvSpPr>
        <p:spPr>
          <a:xfrm>
            <a:off x="1016000" y="2743200"/>
            <a:ext cx="3352800" cy="1828800"/>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6"/>
          <p:cNvSpPr txBox="1">
            <a:spLocks noGrp="1"/>
          </p:cNvSpPr>
          <p:nvPr>
            <p:ph type="title"/>
          </p:nvPr>
        </p:nvSpPr>
        <p:spPr>
          <a:xfrm>
            <a:off x="2235202" y="274638"/>
            <a:ext cx="9347198" cy="48736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rgbClr val="FF5A33"/>
              </a:buClr>
              <a:buSzPts val="2800"/>
              <a:buFont typeface="Quattrocento Sans"/>
              <a:buNone/>
              <a:defRPr sz="2800" b="1" cap="small">
                <a:solidFill>
                  <a:srgbClr val="FF5A33"/>
                </a:solidFill>
                <a:latin typeface="Quattrocento Sans"/>
                <a:ea typeface="Quattrocento Sans"/>
                <a:cs typeface="Quattrocento Sans"/>
                <a:sym typeface="Quattrocento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rgbClr val="FF5A33"/>
              </a:buClr>
              <a:buSzPts val="2800"/>
              <a:buFont typeface="Noto Sans Symbols"/>
              <a:buChar char="❑"/>
              <a:defRPr sz="2800">
                <a:latin typeface="Quattrocento Sans"/>
                <a:ea typeface="Quattrocento Sans"/>
                <a:cs typeface="Quattrocento Sans"/>
                <a:sym typeface="Quattrocento Sans"/>
              </a:defRPr>
            </a:lvl1pPr>
            <a:lvl2pPr marL="914400" lvl="1" indent="-381000" algn="l">
              <a:lnSpc>
                <a:spcPct val="100000"/>
              </a:lnSpc>
              <a:spcBef>
                <a:spcPts val="480"/>
              </a:spcBef>
              <a:spcAft>
                <a:spcPts val="0"/>
              </a:spcAft>
              <a:buClr>
                <a:srgbClr val="FF5A33"/>
              </a:buClr>
              <a:buSzPts val="2400"/>
              <a:buFont typeface="Noto Sans Symbols"/>
              <a:buChar char="❖"/>
              <a:defRPr sz="2400">
                <a:latin typeface="Quattrocento Sans"/>
                <a:ea typeface="Quattrocento Sans"/>
                <a:cs typeface="Quattrocento Sans"/>
                <a:sym typeface="Quattrocento Sans"/>
              </a:defRPr>
            </a:lvl2pPr>
            <a:lvl3pPr marL="1371600" lvl="2" indent="-355600" algn="l">
              <a:lnSpc>
                <a:spcPct val="100000"/>
              </a:lnSpc>
              <a:spcBef>
                <a:spcPts val="400"/>
              </a:spcBef>
              <a:spcAft>
                <a:spcPts val="0"/>
              </a:spcAft>
              <a:buClr>
                <a:srgbClr val="FF5A33"/>
              </a:buClr>
              <a:buSzPts val="2000"/>
              <a:buFont typeface="Noto Sans Symbols"/>
              <a:buChar char="⮚"/>
              <a:defRPr sz="2000">
                <a:latin typeface="Quattrocento Sans"/>
                <a:ea typeface="Quattrocento Sans"/>
                <a:cs typeface="Quattrocento Sans"/>
                <a:sym typeface="Quattrocento Sans"/>
              </a:defRPr>
            </a:lvl3pPr>
            <a:lvl4pPr marL="1828800" lvl="3" indent="-342900" algn="l">
              <a:lnSpc>
                <a:spcPct val="100000"/>
              </a:lnSpc>
              <a:spcBef>
                <a:spcPts val="360"/>
              </a:spcBef>
              <a:spcAft>
                <a:spcPts val="0"/>
              </a:spcAft>
              <a:buClr>
                <a:srgbClr val="FF5A33"/>
              </a:buClr>
              <a:buSzPts val="1800"/>
              <a:buFont typeface="Noto Sans Symbols"/>
              <a:buChar char="✔"/>
              <a:defRPr sz="1800">
                <a:latin typeface="Quattrocento Sans"/>
                <a:ea typeface="Quattrocento Sans"/>
                <a:cs typeface="Quattrocento Sans"/>
                <a:sym typeface="Quattrocento Sans"/>
              </a:defRPr>
            </a:lvl4pPr>
            <a:lvl5pPr marL="2286000" lvl="4" indent="-342900" algn="l">
              <a:lnSpc>
                <a:spcPct val="100000"/>
              </a:lnSpc>
              <a:spcBef>
                <a:spcPts val="360"/>
              </a:spcBef>
              <a:spcAft>
                <a:spcPts val="0"/>
              </a:spcAft>
              <a:buClr>
                <a:srgbClr val="FF5A33"/>
              </a:buClr>
              <a:buSzPts val="1800"/>
              <a:buFont typeface="Noto Sans Symbols"/>
              <a:buChar char="▪"/>
              <a:defRPr sz="1800">
                <a:latin typeface="Quattrocento Sans"/>
                <a:ea typeface="Quattrocento Sans"/>
                <a:cs typeface="Quattrocento Sans"/>
                <a:sym typeface="Quattrocento Sans"/>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 name="Google Shape;25;p1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8" name="Google Shape;28;p16"/>
          <p:cNvPicPr preferRelativeResize="0"/>
          <p:nvPr/>
        </p:nvPicPr>
        <p:blipFill rotWithShape="1">
          <a:blip r:embed="rId2">
            <a:alphaModFix/>
          </a:blip>
          <a:srcRect/>
          <a:stretch/>
        </p:blipFill>
        <p:spPr>
          <a:xfrm>
            <a:off x="609600" y="156573"/>
            <a:ext cx="1625602" cy="713824"/>
          </a:xfrm>
          <a:prstGeom prst="rect">
            <a:avLst/>
          </a:prstGeom>
          <a:noFill/>
          <a:ln>
            <a:noFill/>
          </a:ln>
        </p:spPr>
      </p:pic>
      <p:cxnSp>
        <p:nvCxnSpPr>
          <p:cNvPr id="29" name="Google Shape;29;p16"/>
          <p:cNvCxnSpPr/>
          <p:nvPr/>
        </p:nvCxnSpPr>
        <p:spPr>
          <a:xfrm>
            <a:off x="609600" y="838200"/>
            <a:ext cx="10972800" cy="0"/>
          </a:xfrm>
          <a:prstGeom prst="straightConnector1">
            <a:avLst/>
          </a:prstGeom>
          <a:noFill/>
          <a:ln w="38100" cap="flat" cmpd="sng">
            <a:solidFill>
              <a:srgbClr val="FF9900"/>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0"/>
        <p:cNvGrpSpPr/>
        <p:nvPr/>
      </p:nvGrpSpPr>
      <p:grpSpPr>
        <a:xfrm>
          <a:off x="0" y="0"/>
          <a:ext cx="0" cy="0"/>
          <a:chOff x="0" y="0"/>
          <a:chExt cx="0" cy="0"/>
        </a:xfrm>
      </p:grpSpPr>
      <p:sp>
        <p:nvSpPr>
          <p:cNvPr id="31" name="Google Shape;31;p1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18"/>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7" name="Google Shape;37;p1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9"/>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3" name="Google Shape;43;p19"/>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4" name="Google Shape;44;p1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0" name="Google Shape;50;p20"/>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1" name="Google Shape;51;p20"/>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2" name="Google Shape;52;p20"/>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3" name="Google Shape;53;p2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6"/>
        <p:cNvGrpSpPr/>
        <p:nvPr/>
      </p:nvGrpSpPr>
      <p:grpSpPr>
        <a:xfrm>
          <a:off x="0" y="0"/>
          <a:ext cx="0" cy="0"/>
          <a:chOff x="0" y="0"/>
          <a:chExt cx="0" cy="0"/>
        </a:xfrm>
      </p:grpSpPr>
      <p:sp>
        <p:nvSpPr>
          <p:cNvPr id="57" name="Google Shape;57;p2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60" name="Google Shape;60;p21"/>
          <p:cNvSpPr/>
          <p:nvPr/>
        </p:nvSpPr>
        <p:spPr>
          <a:xfrm>
            <a:off x="2032000" y="2551018"/>
            <a:ext cx="8534400" cy="326475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Calibri"/>
              <a:ea typeface="Calibri"/>
              <a:cs typeface="Calibri"/>
              <a:sym typeface="Calibri"/>
            </a:endParaRPr>
          </a:p>
        </p:txBody>
      </p:sp>
      <p:pic>
        <p:nvPicPr>
          <p:cNvPr id="61" name="Google Shape;61;p21" descr="http://uconndigitalarts.com/wp-content/uploads/2013/04/original.jpg"/>
          <p:cNvPicPr preferRelativeResize="0"/>
          <p:nvPr/>
        </p:nvPicPr>
        <p:blipFill rotWithShape="1">
          <a:blip r:embed="rId2">
            <a:alphaModFix/>
          </a:blip>
          <a:srcRect t="43978" b="41310"/>
          <a:stretch/>
        </p:blipFill>
        <p:spPr>
          <a:xfrm flipH="1">
            <a:off x="3732707" y="2575401"/>
            <a:ext cx="4568091" cy="283858"/>
          </a:xfrm>
          <a:prstGeom prst="rect">
            <a:avLst/>
          </a:prstGeom>
          <a:noFill/>
          <a:ln>
            <a:noFill/>
          </a:ln>
        </p:spPr>
      </p:pic>
      <p:pic>
        <p:nvPicPr>
          <p:cNvPr id="62" name="Google Shape;62;p21" descr="C:\Users\powerpoint.vn\Downloads\1e2cd4b177168ad16ce2e7c504bba4d2.x400.jpeg"/>
          <p:cNvPicPr preferRelativeResize="0"/>
          <p:nvPr/>
        </p:nvPicPr>
        <p:blipFill rotWithShape="1">
          <a:blip r:embed="rId3">
            <a:alphaModFix/>
          </a:blip>
          <a:srcRect b="55710"/>
          <a:stretch/>
        </p:blipFill>
        <p:spPr>
          <a:xfrm>
            <a:off x="2568620" y="609600"/>
            <a:ext cx="7257961" cy="2828060"/>
          </a:xfrm>
          <a:prstGeom prst="rect">
            <a:avLst/>
          </a:prstGeom>
          <a:noFill/>
          <a:ln>
            <a:noFill/>
          </a:ln>
        </p:spPr>
      </p:pic>
      <p:sp>
        <p:nvSpPr>
          <p:cNvPr id="63" name="Google Shape;63;p21"/>
          <p:cNvSpPr txBox="1"/>
          <p:nvPr/>
        </p:nvSpPr>
        <p:spPr>
          <a:xfrm>
            <a:off x="4103893" y="3124200"/>
            <a:ext cx="4735308" cy="213904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7200"/>
              <a:buFont typeface="Calibri"/>
              <a:buNone/>
            </a:pPr>
            <a:r>
              <a:rPr lang="en-US" sz="7200" b="1" i="0" u="none" strike="noStrike" cap="none">
                <a:solidFill>
                  <a:schemeClr val="lt1"/>
                </a:solidFill>
                <a:latin typeface="Calibri"/>
                <a:ea typeface="Calibri"/>
                <a:cs typeface="Calibri"/>
                <a:sym typeface="Calibri"/>
              </a:rPr>
              <a:t>DEM</a:t>
            </a:r>
            <a:r>
              <a:rPr lang="en-US" sz="11500" b="1" i="0" u="none" strike="noStrike" cap="none">
                <a:solidFill>
                  <a:schemeClr val="lt1"/>
                </a:solidFill>
                <a:latin typeface="Calibri"/>
                <a:ea typeface="Calibri"/>
                <a:cs typeface="Calibri"/>
                <a:sym typeface="Calibri"/>
              </a:rPr>
              <a: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64" name="Google Shape;64;p21" descr="http://www.designofsignage.com/application/symbol/hands/image/600x600/hand-press-button-4.jpg"/>
          <p:cNvPicPr preferRelativeResize="0"/>
          <p:nvPr/>
        </p:nvPicPr>
        <p:blipFill rotWithShape="1">
          <a:blip r:embed="rId4">
            <a:alphaModFix/>
          </a:blip>
          <a:srcRect/>
          <a:stretch/>
        </p:blipFill>
        <p:spPr>
          <a:xfrm>
            <a:off x="6016752" y="3568725"/>
            <a:ext cx="3488947" cy="261671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ippl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22"/>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2"/>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8" name="Google Shape;68;p22"/>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23"/>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3"/>
          <p:cNvSpPr>
            <a:spLocks noGrp="1"/>
          </p:cNvSpPr>
          <p:nvPr>
            <p:ph type="pic" idx="2"/>
          </p:nvPr>
        </p:nvSpPr>
        <p:spPr>
          <a:xfrm>
            <a:off x="2389717" y="612775"/>
            <a:ext cx="7315200" cy="4114800"/>
          </a:xfrm>
          <a:prstGeom prst="rect">
            <a:avLst/>
          </a:prstGeom>
          <a:noFill/>
          <a:ln>
            <a:noFill/>
          </a:ln>
        </p:spPr>
      </p:sp>
      <p:sp>
        <p:nvSpPr>
          <p:cNvPr id="75" name="Google Shape;75;p23"/>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76" name="Google Shape;76;p2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9"/>
        <p:cNvGrpSpPr/>
        <p:nvPr/>
      </p:nvGrpSpPr>
      <p:grpSpPr>
        <a:xfrm>
          <a:off x="0" y="0"/>
          <a:ext cx="0" cy="0"/>
          <a:chOff x="0" y="0"/>
          <a:chExt cx="0" cy="0"/>
        </a:xfrm>
      </p:grpSpPr>
      <p:sp>
        <p:nvSpPr>
          <p:cNvPr id="80" name="Google Shape;80;p2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4"/>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2" name="Google Shape;82;p2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5"/>
        <p:cNvGrpSpPr/>
        <p:nvPr/>
      </p:nvGrpSpPr>
      <p:grpSpPr>
        <a:xfrm>
          <a:off x="0" y="0"/>
          <a:ext cx="0" cy="0"/>
          <a:chOff x="0" y="0"/>
          <a:chExt cx="0" cy="0"/>
        </a:xfrm>
      </p:grpSpPr>
      <p:sp>
        <p:nvSpPr>
          <p:cNvPr id="86" name="Google Shape;86;p25"/>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25"/>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8" name="Google Shape;88;p2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2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mp; Content">
  <p:cSld name="Title &amp; Content">
    <p:spTree>
      <p:nvGrpSpPr>
        <p:cNvPr id="1" name="Shape 91"/>
        <p:cNvGrpSpPr/>
        <p:nvPr/>
      </p:nvGrpSpPr>
      <p:grpSpPr>
        <a:xfrm>
          <a:off x="0" y="0"/>
          <a:ext cx="0" cy="0"/>
          <a:chOff x="0" y="0"/>
          <a:chExt cx="0" cy="0"/>
        </a:xfrm>
      </p:grpSpPr>
      <p:sp>
        <p:nvSpPr>
          <p:cNvPr id="92" name="Google Shape;92;p2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26"/>
          <p:cNvSpPr txBox="1"/>
          <p:nvPr/>
        </p:nvSpPr>
        <p:spPr>
          <a:xfrm>
            <a:off x="2946400" y="274638"/>
            <a:ext cx="8636000" cy="563562"/>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9900"/>
              </a:buClr>
              <a:buSzPts val="3200"/>
              <a:buFont typeface="Quattrocento Sans"/>
              <a:buNone/>
            </a:pPr>
            <a:r>
              <a:rPr lang="en-US" sz="3200" b="1" i="0" u="none" strike="noStrike" cap="small">
                <a:solidFill>
                  <a:srgbClr val="FF9900"/>
                </a:solidFill>
                <a:latin typeface="Quattrocento Sans"/>
                <a:ea typeface="Quattrocento Sans"/>
                <a:cs typeface="Quattrocento Sans"/>
                <a:sym typeface="Quattrocento Sans"/>
              </a:rPr>
              <a:t>Click to edit Master title style</a:t>
            </a:r>
            <a:endParaRPr sz="3200" b="1" i="0" u="none" strike="noStrike" cap="small">
              <a:solidFill>
                <a:srgbClr val="FF9900"/>
              </a:solidFill>
              <a:latin typeface="Quattrocento Sans"/>
              <a:ea typeface="Quattrocento Sans"/>
              <a:cs typeface="Quattrocento Sans"/>
              <a:sym typeface="Quattrocento Sans"/>
            </a:endParaRPr>
          </a:p>
        </p:txBody>
      </p:sp>
      <p:sp>
        <p:nvSpPr>
          <p:cNvPr id="94" name="Google Shape;94;p26"/>
          <p:cNvSpPr txBox="1">
            <a:spLocks noGrp="1"/>
          </p:cNvSpPr>
          <p:nvPr>
            <p:ph type="body" idx="1"/>
          </p:nvPr>
        </p:nvSpPr>
        <p:spPr>
          <a:xfrm>
            <a:off x="609600" y="990600"/>
            <a:ext cx="10972800" cy="5562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95" name="Google Shape;95;p26"/>
          <p:cNvPicPr preferRelativeResize="0"/>
          <p:nvPr/>
        </p:nvPicPr>
        <p:blipFill rotWithShape="1">
          <a:blip r:embed="rId2">
            <a:alphaModFix/>
          </a:blip>
          <a:srcRect/>
          <a:stretch/>
        </p:blipFill>
        <p:spPr>
          <a:xfrm>
            <a:off x="711200" y="228601"/>
            <a:ext cx="2133600" cy="484909"/>
          </a:xfrm>
          <a:prstGeom prst="rect">
            <a:avLst/>
          </a:prstGeom>
          <a:noFill/>
          <a:ln>
            <a:noFill/>
          </a:ln>
        </p:spPr>
      </p:pic>
      <p:cxnSp>
        <p:nvCxnSpPr>
          <p:cNvPr id="96" name="Google Shape;96;p26"/>
          <p:cNvCxnSpPr/>
          <p:nvPr/>
        </p:nvCxnSpPr>
        <p:spPr>
          <a:xfrm rot="10800000">
            <a:off x="711200" y="835152"/>
            <a:ext cx="10871200" cy="0"/>
          </a:xfrm>
          <a:prstGeom prst="straightConnector1">
            <a:avLst/>
          </a:prstGeom>
          <a:noFill/>
          <a:ln w="38100" cap="flat" cmpd="sng">
            <a:solidFill>
              <a:srgbClr val="BD4B48"/>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97"/>
        <p:cNvGrpSpPr/>
        <p:nvPr/>
      </p:nvGrpSpPr>
      <p:grpSpPr>
        <a:xfrm>
          <a:off x="0" y="0"/>
          <a:ext cx="0" cy="0"/>
          <a:chOff x="0" y="0"/>
          <a:chExt cx="0" cy="0"/>
        </a:xfrm>
      </p:grpSpPr>
      <p:sp>
        <p:nvSpPr>
          <p:cNvPr id="98" name="Google Shape;98;p27"/>
          <p:cNvSpPr txBox="1">
            <a:spLocks noGrp="1"/>
          </p:cNvSpPr>
          <p:nvPr>
            <p:ph type="title"/>
          </p:nvPr>
        </p:nvSpPr>
        <p:spPr>
          <a:xfrm>
            <a:off x="2336800" y="198438"/>
            <a:ext cx="9448800" cy="487362"/>
          </a:xfrm>
          <a:prstGeom prst="rect">
            <a:avLst/>
          </a:prstGeom>
          <a:noFill/>
          <a:ln>
            <a:noFill/>
          </a:ln>
        </p:spPr>
        <p:txBody>
          <a:bodyPr spcFirstLastPara="1" wrap="square" lIns="91425" tIns="45700" rIns="91425" bIns="45700" anchor="t" anchorCtr="0">
            <a:normAutofit/>
          </a:bodyPr>
          <a:lstStyle>
            <a:lvl1pPr lvl="0" algn="r">
              <a:lnSpc>
                <a:spcPct val="100000"/>
              </a:lnSpc>
              <a:spcBef>
                <a:spcPts val="0"/>
              </a:spcBef>
              <a:spcAft>
                <a:spcPts val="0"/>
              </a:spcAft>
              <a:buClr>
                <a:schemeClr val="lt1"/>
              </a:buClr>
              <a:buSzPts val="2400"/>
              <a:buFont typeface="Quattrocento Sans"/>
              <a:buNone/>
              <a:defRPr sz="2400" b="0" i="0">
                <a:solidFill>
                  <a:schemeClr val="lt1"/>
                </a:solidFill>
                <a:latin typeface="Quattrocento Sans"/>
                <a:ea typeface="Quattrocento Sans"/>
                <a:cs typeface="Quattrocento Sans"/>
                <a:sym typeface="Quattrocento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7"/>
          <p:cNvSpPr txBox="1">
            <a:spLocks noGrp="1"/>
          </p:cNvSpPr>
          <p:nvPr>
            <p:ph type="body" idx="1"/>
          </p:nvPr>
        </p:nvSpPr>
        <p:spPr>
          <a:xfrm>
            <a:off x="1727200" y="1066800"/>
            <a:ext cx="10363200" cy="4572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80"/>
              </a:spcBef>
              <a:spcAft>
                <a:spcPts val="0"/>
              </a:spcAft>
              <a:buClr>
                <a:schemeClr val="dk1"/>
              </a:buClr>
              <a:buSzPts val="2400"/>
              <a:buFont typeface="Quattrocento Sans"/>
              <a:buNone/>
              <a:defRPr sz="2400" b="1">
                <a:latin typeface="Quattrocento Sans"/>
                <a:ea typeface="Quattrocento Sans"/>
                <a:cs typeface="Quattrocento Sans"/>
                <a:sym typeface="Quattrocento Sans"/>
              </a:defRPr>
            </a:lvl1pPr>
            <a:lvl2pPr marL="914400" lvl="1" indent="-228600" algn="just">
              <a:lnSpc>
                <a:spcPct val="100000"/>
              </a:lnSpc>
              <a:spcBef>
                <a:spcPts val="320"/>
              </a:spcBef>
              <a:spcAft>
                <a:spcPts val="0"/>
              </a:spcAft>
              <a:buClr>
                <a:schemeClr val="dk1"/>
              </a:buClr>
              <a:buSzPts val="1600"/>
              <a:buFont typeface="Roboto"/>
              <a:buNone/>
              <a:defRPr sz="1600">
                <a:latin typeface="Roboto"/>
                <a:ea typeface="Roboto"/>
                <a:cs typeface="Roboto"/>
                <a:sym typeface="Roboto"/>
              </a:defRPr>
            </a:lvl2pPr>
            <a:lvl3pPr marL="1371600" lvl="2" indent="-330200" algn="just">
              <a:lnSpc>
                <a:spcPct val="100000"/>
              </a:lnSpc>
              <a:spcBef>
                <a:spcPts val="320"/>
              </a:spcBef>
              <a:spcAft>
                <a:spcPts val="0"/>
              </a:spcAft>
              <a:buClr>
                <a:schemeClr val="dk1"/>
              </a:buClr>
              <a:buSzPts val="1600"/>
              <a:buChar char="•"/>
              <a:defRPr sz="1600">
                <a:latin typeface="Roboto"/>
                <a:ea typeface="Roboto"/>
                <a:cs typeface="Roboto"/>
                <a:sym typeface="Roboto"/>
              </a:defRPr>
            </a:lvl3pPr>
            <a:lvl4pPr marL="1828800" lvl="3" indent="-330200" algn="just">
              <a:lnSpc>
                <a:spcPct val="100000"/>
              </a:lnSpc>
              <a:spcBef>
                <a:spcPts val="320"/>
              </a:spcBef>
              <a:spcAft>
                <a:spcPts val="0"/>
              </a:spcAft>
              <a:buClr>
                <a:schemeClr val="dk1"/>
              </a:buClr>
              <a:buSzPts val="1600"/>
              <a:buFont typeface="Courier New"/>
              <a:buChar char="o"/>
              <a:defRPr sz="1600">
                <a:latin typeface="Roboto"/>
                <a:ea typeface="Roboto"/>
                <a:cs typeface="Roboto"/>
                <a:sym typeface="Roboto"/>
              </a:defRPr>
            </a:lvl4pPr>
            <a:lvl5pPr marL="2286000" lvl="4" indent="-330200" algn="just">
              <a:lnSpc>
                <a:spcPct val="100000"/>
              </a:lnSpc>
              <a:spcBef>
                <a:spcPts val="320"/>
              </a:spcBef>
              <a:spcAft>
                <a:spcPts val="0"/>
              </a:spcAft>
              <a:buClr>
                <a:schemeClr val="dk1"/>
              </a:buClr>
              <a:buSzPts val="1600"/>
              <a:buChar char="»"/>
              <a:defRPr sz="1600">
                <a:latin typeface="Roboto"/>
                <a:ea typeface="Roboto"/>
                <a:cs typeface="Roboto"/>
                <a:sym typeface="Robot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00" name="Google Shape;100;p27"/>
          <p:cNvSpPr txBox="1">
            <a:spLocks noGrp="1"/>
          </p:cNvSpPr>
          <p:nvPr>
            <p:ph type="body" idx="2"/>
          </p:nvPr>
        </p:nvSpPr>
        <p:spPr>
          <a:xfrm>
            <a:off x="6604000" y="1828800"/>
            <a:ext cx="5384800" cy="27432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80"/>
              </a:spcBef>
              <a:spcAft>
                <a:spcPts val="0"/>
              </a:spcAft>
              <a:buClr>
                <a:schemeClr val="dk1"/>
              </a:buClr>
              <a:buSzPts val="2400"/>
              <a:buFont typeface="Quattrocento Sans"/>
              <a:buNone/>
              <a:defRPr sz="2400" b="0">
                <a:latin typeface="Quattrocento Sans"/>
                <a:ea typeface="Quattrocento Sans"/>
                <a:cs typeface="Quattrocento Sans"/>
                <a:sym typeface="Quattrocento Sans"/>
              </a:defRPr>
            </a:lvl1pPr>
            <a:lvl2pPr marL="914400" lvl="1" indent="-228600" algn="just">
              <a:lnSpc>
                <a:spcPct val="100000"/>
              </a:lnSpc>
              <a:spcBef>
                <a:spcPts val="320"/>
              </a:spcBef>
              <a:spcAft>
                <a:spcPts val="0"/>
              </a:spcAft>
              <a:buClr>
                <a:schemeClr val="dk1"/>
              </a:buClr>
              <a:buSzPts val="1600"/>
              <a:buFont typeface="Roboto"/>
              <a:buNone/>
              <a:defRPr sz="1600">
                <a:latin typeface="Roboto"/>
                <a:ea typeface="Roboto"/>
                <a:cs typeface="Roboto"/>
                <a:sym typeface="Roboto"/>
              </a:defRPr>
            </a:lvl2pPr>
            <a:lvl3pPr marL="1371600" lvl="2" indent="-330200" algn="just">
              <a:lnSpc>
                <a:spcPct val="100000"/>
              </a:lnSpc>
              <a:spcBef>
                <a:spcPts val="320"/>
              </a:spcBef>
              <a:spcAft>
                <a:spcPts val="0"/>
              </a:spcAft>
              <a:buClr>
                <a:schemeClr val="dk1"/>
              </a:buClr>
              <a:buSzPts val="1600"/>
              <a:buChar char="•"/>
              <a:defRPr sz="1600">
                <a:latin typeface="Roboto"/>
                <a:ea typeface="Roboto"/>
                <a:cs typeface="Roboto"/>
                <a:sym typeface="Roboto"/>
              </a:defRPr>
            </a:lvl3pPr>
            <a:lvl4pPr marL="1828800" lvl="3" indent="-330200" algn="just">
              <a:lnSpc>
                <a:spcPct val="100000"/>
              </a:lnSpc>
              <a:spcBef>
                <a:spcPts val="320"/>
              </a:spcBef>
              <a:spcAft>
                <a:spcPts val="0"/>
              </a:spcAft>
              <a:buClr>
                <a:schemeClr val="dk1"/>
              </a:buClr>
              <a:buSzPts val="1600"/>
              <a:buFont typeface="Courier New"/>
              <a:buChar char="o"/>
              <a:defRPr sz="1600">
                <a:latin typeface="Roboto"/>
                <a:ea typeface="Roboto"/>
                <a:cs typeface="Roboto"/>
                <a:sym typeface="Roboto"/>
              </a:defRPr>
            </a:lvl4pPr>
            <a:lvl5pPr marL="2286000" lvl="4" indent="-330200" algn="just">
              <a:lnSpc>
                <a:spcPct val="100000"/>
              </a:lnSpc>
              <a:spcBef>
                <a:spcPts val="320"/>
              </a:spcBef>
              <a:spcAft>
                <a:spcPts val="0"/>
              </a:spcAft>
              <a:buClr>
                <a:schemeClr val="dk1"/>
              </a:buClr>
              <a:buSzPts val="1600"/>
              <a:buChar char="»"/>
              <a:defRPr sz="1600">
                <a:latin typeface="Roboto"/>
                <a:ea typeface="Roboto"/>
                <a:cs typeface="Roboto"/>
                <a:sym typeface="Robot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01" name="Google Shape;101;p27"/>
          <p:cNvSpPr txBox="1">
            <a:spLocks noGrp="1"/>
          </p:cNvSpPr>
          <p:nvPr>
            <p:ph type="sldNum" idx="12"/>
          </p:nvPr>
        </p:nvSpPr>
        <p:spPr>
          <a:xfrm>
            <a:off x="-1828800" y="617220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102"/>
        <p:cNvGrpSpPr/>
        <p:nvPr/>
      </p:nvGrpSpPr>
      <p:grpSpPr>
        <a:xfrm>
          <a:off x="0" y="0"/>
          <a:ext cx="0" cy="0"/>
          <a:chOff x="0" y="0"/>
          <a:chExt cx="0" cy="0"/>
        </a:xfrm>
      </p:grpSpPr>
      <p:sp>
        <p:nvSpPr>
          <p:cNvPr id="103" name="Google Shape;103;p28"/>
          <p:cNvSpPr txBox="1">
            <a:spLocks noGrp="1"/>
          </p:cNvSpPr>
          <p:nvPr>
            <p:ph type="title"/>
          </p:nvPr>
        </p:nvSpPr>
        <p:spPr>
          <a:xfrm>
            <a:off x="2946400" y="274638"/>
            <a:ext cx="8636000" cy="5635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8"/>
          <p:cNvSpPr txBox="1">
            <a:spLocks noGrp="1"/>
          </p:cNvSpPr>
          <p:nvPr>
            <p:ph type="body" idx="1"/>
          </p:nvPr>
        </p:nvSpPr>
        <p:spPr>
          <a:xfrm>
            <a:off x="609600" y="990600"/>
            <a:ext cx="10972800" cy="5562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105" name="Google Shape;105;p28"/>
          <p:cNvPicPr preferRelativeResize="0"/>
          <p:nvPr/>
        </p:nvPicPr>
        <p:blipFill rotWithShape="1">
          <a:blip r:embed="rId2">
            <a:alphaModFix/>
          </a:blip>
          <a:srcRect/>
          <a:stretch/>
        </p:blipFill>
        <p:spPr>
          <a:xfrm>
            <a:off x="711200" y="228601"/>
            <a:ext cx="2133600" cy="48490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2"/>
        <p:cNvGrpSpPr/>
        <p:nvPr/>
      </p:nvGrpSpPr>
      <p:grpSpPr>
        <a:xfrm>
          <a:off x="0" y="0"/>
          <a:ext cx="0" cy="0"/>
          <a:chOff x="0" y="0"/>
          <a:chExt cx="0" cy="0"/>
        </a:xfrm>
      </p:grpSpPr>
      <p:sp>
        <p:nvSpPr>
          <p:cNvPr id="113" name="Google Shape;113;g115e76f5ad1_0_360"/>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g115e76f5ad1_0_360"/>
          <p:cNvSpPr txBox="1">
            <a:spLocks noGrp="1"/>
          </p:cNvSpPr>
          <p:nvPr>
            <p:ph type="ftr" idx="11"/>
          </p:nvPr>
        </p:nvSpPr>
        <p:spPr>
          <a:xfrm>
            <a:off x="4165600" y="6356351"/>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g115e76f5ad1_0_360"/>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6"/>
        <p:cNvGrpSpPr/>
        <p:nvPr/>
      </p:nvGrpSpPr>
      <p:grpSpPr>
        <a:xfrm>
          <a:off x="0" y="0"/>
          <a:ext cx="0" cy="0"/>
          <a:chOff x="0" y="0"/>
          <a:chExt cx="0" cy="0"/>
        </a:xfrm>
      </p:grpSpPr>
      <p:sp>
        <p:nvSpPr>
          <p:cNvPr id="117" name="Google Shape;117;g115e76f5ad1_0_35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rgbClr val="FF5A33"/>
              </a:buClr>
              <a:buSzPts val="2800"/>
              <a:buFont typeface="Quattrocento Sans"/>
              <a:buNone/>
              <a:defRPr sz="2800" b="1" cap="small">
                <a:solidFill>
                  <a:srgbClr val="FF5A33"/>
                </a:solidFill>
                <a:latin typeface="Quattrocento Sans"/>
                <a:ea typeface="Quattrocento Sans"/>
                <a:cs typeface="Quattrocento Sans"/>
                <a:sym typeface="Quattrocento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g115e76f5ad1_0_352"/>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rgbClr val="FF5A33"/>
              </a:buClr>
              <a:buSzPts val="2800"/>
              <a:buFont typeface="Noto Sans Symbols"/>
              <a:buChar char="❑"/>
              <a:defRPr sz="2800">
                <a:latin typeface="Quattrocento Sans"/>
                <a:ea typeface="Quattrocento Sans"/>
                <a:cs typeface="Quattrocento Sans"/>
                <a:sym typeface="Quattrocento Sans"/>
              </a:defRPr>
            </a:lvl1pPr>
            <a:lvl2pPr marL="914400" lvl="1" indent="-381000" algn="l">
              <a:lnSpc>
                <a:spcPct val="100000"/>
              </a:lnSpc>
              <a:spcBef>
                <a:spcPts val="480"/>
              </a:spcBef>
              <a:spcAft>
                <a:spcPts val="0"/>
              </a:spcAft>
              <a:buClr>
                <a:srgbClr val="FF5A33"/>
              </a:buClr>
              <a:buSzPts val="2400"/>
              <a:buFont typeface="Noto Sans Symbols"/>
              <a:buChar char="❖"/>
              <a:defRPr sz="2400">
                <a:latin typeface="Quattrocento Sans"/>
                <a:ea typeface="Quattrocento Sans"/>
                <a:cs typeface="Quattrocento Sans"/>
                <a:sym typeface="Quattrocento Sans"/>
              </a:defRPr>
            </a:lvl2pPr>
            <a:lvl3pPr marL="1371600" lvl="2" indent="-355600" algn="l">
              <a:lnSpc>
                <a:spcPct val="100000"/>
              </a:lnSpc>
              <a:spcBef>
                <a:spcPts val="400"/>
              </a:spcBef>
              <a:spcAft>
                <a:spcPts val="0"/>
              </a:spcAft>
              <a:buClr>
                <a:srgbClr val="FF5A33"/>
              </a:buClr>
              <a:buSzPts val="2000"/>
              <a:buFont typeface="Noto Sans Symbols"/>
              <a:buChar char="⮚"/>
              <a:defRPr sz="2000">
                <a:latin typeface="Quattrocento Sans"/>
                <a:ea typeface="Quattrocento Sans"/>
                <a:cs typeface="Quattrocento Sans"/>
                <a:sym typeface="Quattrocento Sans"/>
              </a:defRPr>
            </a:lvl3pPr>
            <a:lvl4pPr marL="1828800" lvl="3" indent="-342900" algn="l">
              <a:lnSpc>
                <a:spcPct val="100000"/>
              </a:lnSpc>
              <a:spcBef>
                <a:spcPts val="360"/>
              </a:spcBef>
              <a:spcAft>
                <a:spcPts val="0"/>
              </a:spcAft>
              <a:buClr>
                <a:srgbClr val="FF5A33"/>
              </a:buClr>
              <a:buSzPts val="1800"/>
              <a:buFont typeface="Noto Sans Symbols"/>
              <a:buChar char="✔"/>
              <a:defRPr sz="1800">
                <a:latin typeface="Quattrocento Sans"/>
                <a:ea typeface="Quattrocento Sans"/>
                <a:cs typeface="Quattrocento Sans"/>
                <a:sym typeface="Quattrocento Sans"/>
              </a:defRPr>
            </a:lvl4pPr>
            <a:lvl5pPr marL="2286000" lvl="4" indent="-342900" algn="l">
              <a:lnSpc>
                <a:spcPct val="100000"/>
              </a:lnSpc>
              <a:spcBef>
                <a:spcPts val="360"/>
              </a:spcBef>
              <a:spcAft>
                <a:spcPts val="0"/>
              </a:spcAft>
              <a:buClr>
                <a:srgbClr val="FF5A33"/>
              </a:buClr>
              <a:buSzPts val="1800"/>
              <a:buFont typeface="Noto Sans Symbols"/>
              <a:buChar char="▪"/>
              <a:defRPr sz="1800">
                <a:latin typeface="Quattrocento Sans"/>
                <a:ea typeface="Quattrocento Sans"/>
                <a:cs typeface="Quattrocento Sans"/>
                <a:sym typeface="Quattrocento Sans"/>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19" name="Google Shape;119;g115e76f5ad1_0_352"/>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g115e76f5ad1_0_352"/>
          <p:cNvSpPr txBox="1">
            <a:spLocks noGrp="1"/>
          </p:cNvSpPr>
          <p:nvPr>
            <p:ph type="ftr" idx="11"/>
          </p:nvPr>
        </p:nvSpPr>
        <p:spPr>
          <a:xfrm>
            <a:off x="4165600" y="6356351"/>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g115e76f5ad1_0_352"/>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22" name="Google Shape;122;g115e76f5ad1_0_352"/>
          <p:cNvPicPr preferRelativeResize="0"/>
          <p:nvPr/>
        </p:nvPicPr>
        <p:blipFill rotWithShape="1">
          <a:blip r:embed="rId2">
            <a:alphaModFix/>
          </a:blip>
          <a:srcRect/>
          <a:stretch/>
        </p:blipFill>
        <p:spPr>
          <a:xfrm>
            <a:off x="609600" y="156573"/>
            <a:ext cx="1625602" cy="713824"/>
          </a:xfrm>
          <a:prstGeom prst="rect">
            <a:avLst/>
          </a:prstGeom>
          <a:noFill/>
          <a:ln>
            <a:noFill/>
          </a:ln>
        </p:spPr>
      </p:pic>
      <p:cxnSp>
        <p:nvCxnSpPr>
          <p:cNvPr id="123" name="Google Shape;123;g115e76f5ad1_0_352"/>
          <p:cNvCxnSpPr/>
          <p:nvPr/>
        </p:nvCxnSpPr>
        <p:spPr>
          <a:xfrm>
            <a:off x="609600" y="838200"/>
            <a:ext cx="10972800" cy="0"/>
          </a:xfrm>
          <a:prstGeom prst="straightConnector1">
            <a:avLst/>
          </a:prstGeom>
          <a:noFill/>
          <a:ln w="38100" cap="flat" cmpd="sng">
            <a:solidFill>
              <a:srgbClr val="FF9900"/>
            </a:solidFill>
            <a:prstDash val="solid"/>
            <a:round/>
            <a:headEnd type="none" w="sm" len="sm"/>
            <a:tailEnd type="none" w="sm" len="sm"/>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24"/>
        <p:cNvGrpSpPr/>
        <p:nvPr/>
      </p:nvGrpSpPr>
      <p:grpSpPr>
        <a:xfrm>
          <a:off x="0" y="0"/>
          <a:ext cx="0" cy="0"/>
          <a:chOff x="0" y="0"/>
          <a:chExt cx="0" cy="0"/>
        </a:xfrm>
      </p:grpSpPr>
      <p:pic>
        <p:nvPicPr>
          <p:cNvPr id="125" name="Google Shape;125;g115e76f5ad1_0_345"/>
          <p:cNvPicPr preferRelativeResize="0"/>
          <p:nvPr/>
        </p:nvPicPr>
        <p:blipFill rotWithShape="1">
          <a:blip r:embed="rId2">
            <a:alphaModFix/>
          </a:blip>
          <a:srcRect/>
          <a:stretch/>
        </p:blipFill>
        <p:spPr>
          <a:xfrm>
            <a:off x="-4763" y="-4763"/>
            <a:ext cx="12201525" cy="6867525"/>
          </a:xfrm>
          <a:prstGeom prst="rect">
            <a:avLst/>
          </a:prstGeom>
          <a:noFill/>
          <a:ln>
            <a:noFill/>
          </a:ln>
        </p:spPr>
      </p:pic>
      <p:sp>
        <p:nvSpPr>
          <p:cNvPr id="126" name="Google Shape;126;g115e76f5ad1_0_345"/>
          <p:cNvSpPr txBox="1">
            <a:spLocks noGrp="1"/>
          </p:cNvSpPr>
          <p:nvPr>
            <p:ph type="subTitle" idx="1"/>
          </p:nvPr>
        </p:nvSpPr>
        <p:spPr>
          <a:xfrm>
            <a:off x="5486400" y="4953000"/>
            <a:ext cx="6705600" cy="9906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440"/>
              </a:spcBef>
              <a:spcAft>
                <a:spcPts val="0"/>
              </a:spcAft>
              <a:buClr>
                <a:srgbClr val="FF5A33"/>
              </a:buClr>
              <a:buSzPts val="2200"/>
              <a:buNone/>
              <a:defRPr sz="2200" b="1" cap="small">
                <a:solidFill>
                  <a:srgbClr val="FF5A33"/>
                </a:solidFill>
                <a:latin typeface="Quattrocento Sans"/>
                <a:ea typeface="Quattrocento Sans"/>
                <a:cs typeface="Quattrocento Sans"/>
                <a:sym typeface="Quattrocento Sans"/>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cxnSp>
        <p:nvCxnSpPr>
          <p:cNvPr id="127" name="Google Shape;127;g115e76f5ad1_0_345"/>
          <p:cNvCxnSpPr/>
          <p:nvPr/>
        </p:nvCxnSpPr>
        <p:spPr>
          <a:xfrm>
            <a:off x="5583936" y="4953000"/>
            <a:ext cx="6303300" cy="0"/>
          </a:xfrm>
          <a:prstGeom prst="straightConnector1">
            <a:avLst/>
          </a:prstGeom>
          <a:noFill/>
          <a:ln w="9525" cap="flat" cmpd="sng">
            <a:solidFill>
              <a:srgbClr val="FF5A33"/>
            </a:solidFill>
            <a:prstDash val="dot"/>
            <a:round/>
            <a:headEnd type="none" w="sm" len="sm"/>
            <a:tailEnd type="none" w="sm" len="sm"/>
          </a:ln>
        </p:spPr>
      </p:cxnSp>
      <p:sp>
        <p:nvSpPr>
          <p:cNvPr id="128" name="Google Shape;128;g115e76f5ad1_0_345"/>
          <p:cNvSpPr/>
          <p:nvPr/>
        </p:nvSpPr>
        <p:spPr>
          <a:xfrm>
            <a:off x="1060704" y="2133600"/>
            <a:ext cx="3308100" cy="3048000"/>
          </a:xfrm>
          <a:prstGeom prst="ellipse">
            <a:avLst/>
          </a:prstGeom>
          <a:solidFill>
            <a:schemeClr val="lt1"/>
          </a:solidFill>
          <a:ln>
            <a:noFill/>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9" name="Google Shape;129;g115e76f5ad1_0_345"/>
          <p:cNvSpPr txBox="1">
            <a:spLocks noGrp="1"/>
          </p:cNvSpPr>
          <p:nvPr>
            <p:ph type="title"/>
          </p:nvPr>
        </p:nvSpPr>
        <p:spPr>
          <a:xfrm>
            <a:off x="5506720" y="4284596"/>
            <a:ext cx="6100200" cy="705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FF5A33"/>
              </a:buClr>
              <a:buSzPts val="3400"/>
              <a:buFont typeface="Calibri"/>
              <a:buNone/>
              <a:defRPr sz="3400" b="1" cap="small">
                <a:solidFill>
                  <a:srgbClr val="FF5A33"/>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g115e76f5ad1_0_345"/>
          <p:cNvSpPr>
            <a:spLocks noGrp="1"/>
          </p:cNvSpPr>
          <p:nvPr>
            <p:ph type="pic" idx="2"/>
          </p:nvPr>
        </p:nvSpPr>
        <p:spPr>
          <a:xfrm>
            <a:off x="1016000" y="2743200"/>
            <a:ext cx="3352800" cy="18288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1"/>
        <p:cNvGrpSpPr/>
        <p:nvPr/>
      </p:nvGrpSpPr>
      <p:grpSpPr>
        <a:xfrm>
          <a:off x="0" y="0"/>
          <a:ext cx="0" cy="0"/>
          <a:chOff x="0" y="0"/>
          <a:chExt cx="0" cy="0"/>
        </a:xfrm>
      </p:grpSpPr>
      <p:sp>
        <p:nvSpPr>
          <p:cNvPr id="132" name="Google Shape;132;g115e76f5ad1_0_364"/>
          <p:cNvSpPr txBox="1">
            <a:spLocks noGrp="1"/>
          </p:cNvSpPr>
          <p:nvPr>
            <p:ph type="title"/>
          </p:nvPr>
        </p:nvSpPr>
        <p:spPr>
          <a:xfrm>
            <a:off x="963084" y="4406901"/>
            <a:ext cx="10363200" cy="13620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g115e76f5ad1_0_36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134" name="Google Shape;134;g115e76f5ad1_0_364"/>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g115e76f5ad1_0_364"/>
          <p:cNvSpPr txBox="1">
            <a:spLocks noGrp="1"/>
          </p:cNvSpPr>
          <p:nvPr>
            <p:ph type="ftr" idx="11"/>
          </p:nvPr>
        </p:nvSpPr>
        <p:spPr>
          <a:xfrm>
            <a:off x="4165600" y="6356351"/>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g115e76f5ad1_0_364"/>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37"/>
        <p:cNvGrpSpPr/>
        <p:nvPr/>
      </p:nvGrpSpPr>
      <p:grpSpPr>
        <a:xfrm>
          <a:off x="0" y="0"/>
          <a:ext cx="0" cy="0"/>
          <a:chOff x="0" y="0"/>
          <a:chExt cx="0" cy="0"/>
        </a:xfrm>
      </p:grpSpPr>
      <p:sp>
        <p:nvSpPr>
          <p:cNvPr id="138" name="Google Shape;138;g115e76f5ad1_0_37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g115e76f5ad1_0_370"/>
          <p:cNvSpPr txBox="1">
            <a:spLocks noGrp="1"/>
          </p:cNvSpPr>
          <p:nvPr>
            <p:ph type="body" idx="1"/>
          </p:nvPr>
        </p:nvSpPr>
        <p:spPr>
          <a:xfrm>
            <a:off x="609600" y="1600201"/>
            <a:ext cx="5384700" cy="45261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40" name="Google Shape;140;g115e76f5ad1_0_370"/>
          <p:cNvSpPr txBox="1">
            <a:spLocks noGrp="1"/>
          </p:cNvSpPr>
          <p:nvPr>
            <p:ph type="body" idx="2"/>
          </p:nvPr>
        </p:nvSpPr>
        <p:spPr>
          <a:xfrm>
            <a:off x="6197600" y="1600201"/>
            <a:ext cx="5384700" cy="45261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141" name="Google Shape;141;g115e76f5ad1_0_370"/>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g115e76f5ad1_0_370"/>
          <p:cNvSpPr txBox="1">
            <a:spLocks noGrp="1"/>
          </p:cNvSpPr>
          <p:nvPr>
            <p:ph type="ftr" idx="11"/>
          </p:nvPr>
        </p:nvSpPr>
        <p:spPr>
          <a:xfrm>
            <a:off x="4165600" y="6356351"/>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g115e76f5ad1_0_370"/>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44"/>
        <p:cNvGrpSpPr/>
        <p:nvPr/>
      </p:nvGrpSpPr>
      <p:grpSpPr>
        <a:xfrm>
          <a:off x="0" y="0"/>
          <a:ext cx="0" cy="0"/>
          <a:chOff x="0" y="0"/>
          <a:chExt cx="0" cy="0"/>
        </a:xfrm>
      </p:grpSpPr>
      <p:sp>
        <p:nvSpPr>
          <p:cNvPr id="145" name="Google Shape;145;g115e76f5ad1_0_37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g115e76f5ad1_0_377"/>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47" name="Google Shape;147;g115e76f5ad1_0_377"/>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48" name="Google Shape;148;g115e76f5ad1_0_377"/>
          <p:cNvSpPr txBox="1">
            <a:spLocks noGrp="1"/>
          </p:cNvSpPr>
          <p:nvPr>
            <p:ph type="body" idx="3"/>
          </p:nvPr>
        </p:nvSpPr>
        <p:spPr>
          <a:xfrm>
            <a:off x="6193368"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49" name="Google Shape;149;g115e76f5ad1_0_377"/>
          <p:cNvSpPr txBox="1">
            <a:spLocks noGrp="1"/>
          </p:cNvSpPr>
          <p:nvPr>
            <p:ph type="body" idx="4"/>
          </p:nvPr>
        </p:nvSpPr>
        <p:spPr>
          <a:xfrm>
            <a:off x="6193368"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50" name="Google Shape;150;g115e76f5ad1_0_377"/>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g115e76f5ad1_0_377"/>
          <p:cNvSpPr txBox="1">
            <a:spLocks noGrp="1"/>
          </p:cNvSpPr>
          <p:nvPr>
            <p:ph type="ftr" idx="11"/>
          </p:nvPr>
        </p:nvSpPr>
        <p:spPr>
          <a:xfrm>
            <a:off x="4165600" y="6356351"/>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g115e76f5ad1_0_377"/>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53"/>
        <p:cNvGrpSpPr/>
        <p:nvPr/>
      </p:nvGrpSpPr>
      <p:grpSpPr>
        <a:xfrm>
          <a:off x="0" y="0"/>
          <a:ext cx="0" cy="0"/>
          <a:chOff x="0" y="0"/>
          <a:chExt cx="0" cy="0"/>
        </a:xfrm>
      </p:grpSpPr>
      <p:sp>
        <p:nvSpPr>
          <p:cNvPr id="154" name="Google Shape;154;g115e76f5ad1_0_386"/>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g115e76f5ad1_0_386"/>
          <p:cNvSpPr txBox="1">
            <a:spLocks noGrp="1"/>
          </p:cNvSpPr>
          <p:nvPr>
            <p:ph type="ftr" idx="11"/>
          </p:nvPr>
        </p:nvSpPr>
        <p:spPr>
          <a:xfrm>
            <a:off x="4165600" y="6356351"/>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g115e76f5ad1_0_386"/>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7" name="Google Shape;157;g115e76f5ad1_0_386"/>
          <p:cNvSpPr/>
          <p:nvPr/>
        </p:nvSpPr>
        <p:spPr>
          <a:xfrm>
            <a:off x="2032000" y="2551018"/>
            <a:ext cx="8534400" cy="32649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Calibri"/>
              <a:ea typeface="Calibri"/>
              <a:cs typeface="Calibri"/>
              <a:sym typeface="Calibri"/>
            </a:endParaRPr>
          </a:p>
        </p:txBody>
      </p:sp>
      <p:pic>
        <p:nvPicPr>
          <p:cNvPr id="158" name="Google Shape;158;g115e76f5ad1_0_386" descr="http://uconndigitalarts.com/wp-content/uploads/2013/04/original.jpg"/>
          <p:cNvPicPr preferRelativeResize="0"/>
          <p:nvPr/>
        </p:nvPicPr>
        <p:blipFill rotWithShape="1">
          <a:blip r:embed="rId2">
            <a:alphaModFix/>
          </a:blip>
          <a:srcRect t="43978" b="41310"/>
          <a:stretch/>
        </p:blipFill>
        <p:spPr>
          <a:xfrm flipH="1">
            <a:off x="3732707" y="2575401"/>
            <a:ext cx="4568091" cy="283858"/>
          </a:xfrm>
          <a:prstGeom prst="rect">
            <a:avLst/>
          </a:prstGeom>
          <a:noFill/>
          <a:ln>
            <a:noFill/>
          </a:ln>
        </p:spPr>
      </p:pic>
      <p:pic>
        <p:nvPicPr>
          <p:cNvPr id="159" name="Google Shape;159;g115e76f5ad1_0_386" descr="C:\Users\powerpoint.vn\Downloads\1e2cd4b177168ad16ce2e7c504bba4d2.x400.jpeg"/>
          <p:cNvPicPr preferRelativeResize="0"/>
          <p:nvPr/>
        </p:nvPicPr>
        <p:blipFill rotWithShape="1">
          <a:blip r:embed="rId3">
            <a:alphaModFix/>
          </a:blip>
          <a:srcRect b="55709"/>
          <a:stretch/>
        </p:blipFill>
        <p:spPr>
          <a:xfrm>
            <a:off x="2568620" y="609600"/>
            <a:ext cx="7257961" cy="2828060"/>
          </a:xfrm>
          <a:prstGeom prst="rect">
            <a:avLst/>
          </a:prstGeom>
          <a:noFill/>
          <a:ln>
            <a:noFill/>
          </a:ln>
        </p:spPr>
      </p:pic>
      <p:sp>
        <p:nvSpPr>
          <p:cNvPr id="160" name="Google Shape;160;g115e76f5ad1_0_386"/>
          <p:cNvSpPr txBox="1"/>
          <p:nvPr/>
        </p:nvSpPr>
        <p:spPr>
          <a:xfrm>
            <a:off x="4103893" y="3124200"/>
            <a:ext cx="4735200" cy="2139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7200"/>
              <a:buFont typeface="Calibri"/>
              <a:buNone/>
            </a:pPr>
            <a:r>
              <a:rPr lang="en-US" sz="7200" b="1" i="0" u="none" strike="noStrike" cap="none">
                <a:solidFill>
                  <a:schemeClr val="lt1"/>
                </a:solidFill>
                <a:latin typeface="Calibri"/>
                <a:ea typeface="Calibri"/>
                <a:cs typeface="Calibri"/>
                <a:sym typeface="Calibri"/>
              </a:rPr>
              <a:t>DEM</a:t>
            </a:r>
            <a:r>
              <a:rPr lang="en-US" sz="11500" b="1" i="0" u="none" strike="noStrike" cap="none">
                <a:solidFill>
                  <a:schemeClr val="lt1"/>
                </a:solidFill>
                <a:latin typeface="Calibri"/>
                <a:ea typeface="Calibri"/>
                <a:cs typeface="Calibri"/>
                <a:sym typeface="Calibri"/>
              </a:rPr>
              <a: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61" name="Google Shape;161;g115e76f5ad1_0_386" descr="http://www.designofsignage.com/application/symbol/hands/image/600x600/hand-press-button-4.jpg"/>
          <p:cNvPicPr preferRelativeResize="0"/>
          <p:nvPr/>
        </p:nvPicPr>
        <p:blipFill rotWithShape="1">
          <a:blip r:embed="rId4">
            <a:alphaModFix/>
          </a:blip>
          <a:srcRect/>
          <a:stretch/>
        </p:blipFill>
        <p:spPr>
          <a:xfrm>
            <a:off x="6016752" y="3568725"/>
            <a:ext cx="3488948" cy="261671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62"/>
        <p:cNvGrpSpPr/>
        <p:nvPr/>
      </p:nvGrpSpPr>
      <p:grpSpPr>
        <a:xfrm>
          <a:off x="0" y="0"/>
          <a:ext cx="0" cy="0"/>
          <a:chOff x="0" y="0"/>
          <a:chExt cx="0" cy="0"/>
        </a:xfrm>
      </p:grpSpPr>
      <p:sp>
        <p:nvSpPr>
          <p:cNvPr id="163" name="Google Shape;163;g115e76f5ad1_0_395"/>
          <p:cNvSpPr txBox="1">
            <a:spLocks noGrp="1"/>
          </p:cNvSpPr>
          <p:nvPr>
            <p:ph type="title"/>
          </p:nvPr>
        </p:nvSpPr>
        <p:spPr>
          <a:xfrm>
            <a:off x="609601" y="273050"/>
            <a:ext cx="4011000" cy="1162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g115e76f5ad1_0_395"/>
          <p:cNvSpPr txBox="1">
            <a:spLocks noGrp="1"/>
          </p:cNvSpPr>
          <p:nvPr>
            <p:ph type="body" idx="1"/>
          </p:nvPr>
        </p:nvSpPr>
        <p:spPr>
          <a:xfrm>
            <a:off x="4766733" y="273051"/>
            <a:ext cx="6815700" cy="5853000"/>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165" name="Google Shape;165;g115e76f5ad1_0_395"/>
          <p:cNvSpPr txBox="1">
            <a:spLocks noGrp="1"/>
          </p:cNvSpPr>
          <p:nvPr>
            <p:ph type="body" idx="2"/>
          </p:nvPr>
        </p:nvSpPr>
        <p:spPr>
          <a:xfrm>
            <a:off x="609601" y="1435101"/>
            <a:ext cx="4011000" cy="46911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66" name="Google Shape;166;g115e76f5ad1_0_39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7" name="Google Shape;167;g115e76f5ad1_0_395"/>
          <p:cNvSpPr txBox="1">
            <a:spLocks noGrp="1"/>
          </p:cNvSpPr>
          <p:nvPr>
            <p:ph type="ftr" idx="11"/>
          </p:nvPr>
        </p:nvSpPr>
        <p:spPr>
          <a:xfrm>
            <a:off x="4165600" y="6356351"/>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g115e76f5ad1_0_39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69"/>
        <p:cNvGrpSpPr/>
        <p:nvPr/>
      </p:nvGrpSpPr>
      <p:grpSpPr>
        <a:xfrm>
          <a:off x="0" y="0"/>
          <a:ext cx="0" cy="0"/>
          <a:chOff x="0" y="0"/>
          <a:chExt cx="0" cy="0"/>
        </a:xfrm>
      </p:grpSpPr>
      <p:sp>
        <p:nvSpPr>
          <p:cNvPr id="170" name="Google Shape;170;g115e76f5ad1_0_402"/>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1" name="Google Shape;171;g115e76f5ad1_0_402"/>
          <p:cNvSpPr>
            <a:spLocks noGrp="1"/>
          </p:cNvSpPr>
          <p:nvPr>
            <p:ph type="pic" idx="2"/>
          </p:nvPr>
        </p:nvSpPr>
        <p:spPr>
          <a:xfrm>
            <a:off x="2389717" y="612775"/>
            <a:ext cx="7315200" cy="4114800"/>
          </a:xfrm>
          <a:prstGeom prst="rect">
            <a:avLst/>
          </a:prstGeom>
          <a:noFill/>
          <a:ln>
            <a:noFill/>
          </a:ln>
        </p:spPr>
      </p:sp>
      <p:sp>
        <p:nvSpPr>
          <p:cNvPr id="172" name="Google Shape;172;g115e76f5ad1_0_402"/>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73" name="Google Shape;173;g115e76f5ad1_0_402"/>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4" name="Google Shape;174;g115e76f5ad1_0_402"/>
          <p:cNvSpPr txBox="1">
            <a:spLocks noGrp="1"/>
          </p:cNvSpPr>
          <p:nvPr>
            <p:ph type="ftr" idx="11"/>
          </p:nvPr>
        </p:nvSpPr>
        <p:spPr>
          <a:xfrm>
            <a:off x="4165600" y="6356351"/>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5" name="Google Shape;175;g115e76f5ad1_0_402"/>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76"/>
        <p:cNvGrpSpPr/>
        <p:nvPr/>
      </p:nvGrpSpPr>
      <p:grpSpPr>
        <a:xfrm>
          <a:off x="0" y="0"/>
          <a:ext cx="0" cy="0"/>
          <a:chOff x="0" y="0"/>
          <a:chExt cx="0" cy="0"/>
        </a:xfrm>
      </p:grpSpPr>
      <p:sp>
        <p:nvSpPr>
          <p:cNvPr id="177" name="Google Shape;177;g115e76f5ad1_0_40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g115e76f5ad1_0_409"/>
          <p:cNvSpPr txBox="1">
            <a:spLocks noGrp="1"/>
          </p:cNvSpPr>
          <p:nvPr>
            <p:ph type="body" idx="1"/>
          </p:nvPr>
        </p:nvSpPr>
        <p:spPr>
          <a:xfrm rot="5400000">
            <a:off x="3832950" y="-1623149"/>
            <a:ext cx="4526100" cy="10972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79" name="Google Shape;179;g115e76f5ad1_0_409"/>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0" name="Google Shape;180;g115e76f5ad1_0_409"/>
          <p:cNvSpPr txBox="1">
            <a:spLocks noGrp="1"/>
          </p:cNvSpPr>
          <p:nvPr>
            <p:ph type="ftr" idx="11"/>
          </p:nvPr>
        </p:nvSpPr>
        <p:spPr>
          <a:xfrm>
            <a:off x="4165600" y="6356351"/>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1" name="Google Shape;181;g115e76f5ad1_0_409"/>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82"/>
        <p:cNvGrpSpPr/>
        <p:nvPr/>
      </p:nvGrpSpPr>
      <p:grpSpPr>
        <a:xfrm>
          <a:off x="0" y="0"/>
          <a:ext cx="0" cy="0"/>
          <a:chOff x="0" y="0"/>
          <a:chExt cx="0" cy="0"/>
        </a:xfrm>
      </p:grpSpPr>
      <p:sp>
        <p:nvSpPr>
          <p:cNvPr id="183" name="Google Shape;183;g115e76f5ad1_0_415"/>
          <p:cNvSpPr txBox="1">
            <a:spLocks noGrp="1"/>
          </p:cNvSpPr>
          <p:nvPr>
            <p:ph type="title"/>
          </p:nvPr>
        </p:nvSpPr>
        <p:spPr>
          <a:xfrm rot="5400000">
            <a:off x="7285050" y="1828789"/>
            <a:ext cx="5851500" cy="27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g115e76f5ad1_0_415"/>
          <p:cNvSpPr txBox="1">
            <a:spLocks noGrp="1"/>
          </p:cNvSpPr>
          <p:nvPr>
            <p:ph type="body" idx="1"/>
          </p:nvPr>
        </p:nvSpPr>
        <p:spPr>
          <a:xfrm rot="5400000">
            <a:off x="1697000" y="-812861"/>
            <a:ext cx="5851500" cy="80265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5" name="Google Shape;185;g115e76f5ad1_0_415"/>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6" name="Google Shape;186;g115e76f5ad1_0_415"/>
          <p:cNvSpPr txBox="1">
            <a:spLocks noGrp="1"/>
          </p:cNvSpPr>
          <p:nvPr>
            <p:ph type="ftr" idx="11"/>
          </p:nvPr>
        </p:nvSpPr>
        <p:spPr>
          <a:xfrm>
            <a:off x="4165600" y="6356351"/>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7" name="Google Shape;187;g115e76f5ad1_0_415"/>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mp; Content">
  <p:cSld name="Title &amp; Content">
    <p:spTree>
      <p:nvGrpSpPr>
        <p:cNvPr id="1" name="Shape 188"/>
        <p:cNvGrpSpPr/>
        <p:nvPr/>
      </p:nvGrpSpPr>
      <p:grpSpPr>
        <a:xfrm>
          <a:off x="0" y="0"/>
          <a:ext cx="0" cy="0"/>
          <a:chOff x="0" y="0"/>
          <a:chExt cx="0" cy="0"/>
        </a:xfrm>
      </p:grpSpPr>
      <p:sp>
        <p:nvSpPr>
          <p:cNvPr id="189" name="Google Shape;189;g115e76f5ad1_0_42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g115e76f5ad1_0_421"/>
          <p:cNvSpPr txBox="1"/>
          <p:nvPr/>
        </p:nvSpPr>
        <p:spPr>
          <a:xfrm>
            <a:off x="2946400" y="274638"/>
            <a:ext cx="8636100" cy="5637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9900"/>
              </a:buClr>
              <a:buSzPts val="3200"/>
              <a:buFont typeface="Quattrocento Sans"/>
              <a:buNone/>
            </a:pPr>
            <a:r>
              <a:rPr lang="en-US" sz="3200" b="1" i="0" u="none" strike="noStrike" cap="small">
                <a:solidFill>
                  <a:srgbClr val="FF9900"/>
                </a:solidFill>
                <a:latin typeface="Quattrocento Sans"/>
                <a:ea typeface="Quattrocento Sans"/>
                <a:cs typeface="Quattrocento Sans"/>
                <a:sym typeface="Quattrocento Sans"/>
              </a:rPr>
              <a:t>Click to edit Master title style</a:t>
            </a:r>
            <a:endParaRPr sz="3200" b="1" i="0" u="none" strike="noStrike" cap="small">
              <a:solidFill>
                <a:srgbClr val="FF9900"/>
              </a:solidFill>
              <a:latin typeface="Quattrocento Sans"/>
              <a:ea typeface="Quattrocento Sans"/>
              <a:cs typeface="Quattrocento Sans"/>
              <a:sym typeface="Quattrocento Sans"/>
            </a:endParaRPr>
          </a:p>
        </p:txBody>
      </p:sp>
      <p:sp>
        <p:nvSpPr>
          <p:cNvPr id="191" name="Google Shape;191;g115e76f5ad1_0_421"/>
          <p:cNvSpPr txBox="1">
            <a:spLocks noGrp="1"/>
          </p:cNvSpPr>
          <p:nvPr>
            <p:ph type="body" idx="1"/>
          </p:nvPr>
        </p:nvSpPr>
        <p:spPr>
          <a:xfrm>
            <a:off x="609600" y="990600"/>
            <a:ext cx="10972800" cy="5562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192" name="Google Shape;192;g115e76f5ad1_0_421"/>
          <p:cNvPicPr preferRelativeResize="0"/>
          <p:nvPr/>
        </p:nvPicPr>
        <p:blipFill rotWithShape="1">
          <a:blip r:embed="rId2">
            <a:alphaModFix/>
          </a:blip>
          <a:srcRect/>
          <a:stretch/>
        </p:blipFill>
        <p:spPr>
          <a:xfrm>
            <a:off x="711200" y="228601"/>
            <a:ext cx="2133600" cy="484909"/>
          </a:xfrm>
          <a:prstGeom prst="rect">
            <a:avLst/>
          </a:prstGeom>
          <a:noFill/>
          <a:ln>
            <a:noFill/>
          </a:ln>
        </p:spPr>
      </p:pic>
      <p:cxnSp>
        <p:nvCxnSpPr>
          <p:cNvPr id="193" name="Google Shape;193;g115e76f5ad1_0_421"/>
          <p:cNvCxnSpPr/>
          <p:nvPr/>
        </p:nvCxnSpPr>
        <p:spPr>
          <a:xfrm rot="10800000">
            <a:off x="711300" y="835152"/>
            <a:ext cx="10871100" cy="0"/>
          </a:xfrm>
          <a:prstGeom prst="straightConnector1">
            <a:avLst/>
          </a:prstGeom>
          <a:noFill/>
          <a:ln w="38100" cap="flat" cmpd="sng">
            <a:solidFill>
              <a:srgbClr val="BD4B48"/>
            </a:solidFill>
            <a:prstDash val="solid"/>
            <a:round/>
            <a:headEnd type="none" w="sm" len="sm"/>
            <a:tailEnd type="none" w="sm" len="sm"/>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94"/>
        <p:cNvGrpSpPr/>
        <p:nvPr/>
      </p:nvGrpSpPr>
      <p:grpSpPr>
        <a:xfrm>
          <a:off x="0" y="0"/>
          <a:ext cx="0" cy="0"/>
          <a:chOff x="0" y="0"/>
          <a:chExt cx="0" cy="0"/>
        </a:xfrm>
      </p:grpSpPr>
      <p:sp>
        <p:nvSpPr>
          <p:cNvPr id="195" name="Google Shape;195;g115e76f5ad1_0_427"/>
          <p:cNvSpPr txBox="1">
            <a:spLocks noGrp="1"/>
          </p:cNvSpPr>
          <p:nvPr>
            <p:ph type="title"/>
          </p:nvPr>
        </p:nvSpPr>
        <p:spPr>
          <a:xfrm>
            <a:off x="2336800" y="198438"/>
            <a:ext cx="9448800" cy="487500"/>
          </a:xfrm>
          <a:prstGeom prst="rect">
            <a:avLst/>
          </a:prstGeom>
          <a:noFill/>
          <a:ln>
            <a:noFill/>
          </a:ln>
        </p:spPr>
        <p:txBody>
          <a:bodyPr spcFirstLastPara="1" wrap="square" lIns="91425" tIns="45700" rIns="91425" bIns="45700" anchor="t" anchorCtr="0">
            <a:normAutofit/>
          </a:bodyPr>
          <a:lstStyle>
            <a:lvl1pPr lvl="0" algn="r">
              <a:lnSpc>
                <a:spcPct val="100000"/>
              </a:lnSpc>
              <a:spcBef>
                <a:spcPts val="0"/>
              </a:spcBef>
              <a:spcAft>
                <a:spcPts val="0"/>
              </a:spcAft>
              <a:buClr>
                <a:schemeClr val="lt1"/>
              </a:buClr>
              <a:buSzPts val="2400"/>
              <a:buFont typeface="Quattrocento Sans"/>
              <a:buNone/>
              <a:defRPr sz="2400" b="0" i="0">
                <a:solidFill>
                  <a:schemeClr val="lt1"/>
                </a:solidFill>
                <a:latin typeface="Quattrocento Sans"/>
                <a:ea typeface="Quattrocento Sans"/>
                <a:cs typeface="Quattrocento Sans"/>
                <a:sym typeface="Quattrocento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g115e76f5ad1_0_427"/>
          <p:cNvSpPr txBox="1">
            <a:spLocks noGrp="1"/>
          </p:cNvSpPr>
          <p:nvPr>
            <p:ph type="body" idx="1"/>
          </p:nvPr>
        </p:nvSpPr>
        <p:spPr>
          <a:xfrm>
            <a:off x="1727200" y="1066800"/>
            <a:ext cx="10363200" cy="4572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80"/>
              </a:spcBef>
              <a:spcAft>
                <a:spcPts val="0"/>
              </a:spcAft>
              <a:buClr>
                <a:schemeClr val="dk1"/>
              </a:buClr>
              <a:buSzPts val="2400"/>
              <a:buFont typeface="Quattrocento Sans"/>
              <a:buNone/>
              <a:defRPr sz="2400" b="1">
                <a:latin typeface="Quattrocento Sans"/>
                <a:ea typeface="Quattrocento Sans"/>
                <a:cs typeface="Quattrocento Sans"/>
                <a:sym typeface="Quattrocento Sans"/>
              </a:defRPr>
            </a:lvl1pPr>
            <a:lvl2pPr marL="914400" lvl="1" indent="-228600" algn="just">
              <a:lnSpc>
                <a:spcPct val="100000"/>
              </a:lnSpc>
              <a:spcBef>
                <a:spcPts val="320"/>
              </a:spcBef>
              <a:spcAft>
                <a:spcPts val="0"/>
              </a:spcAft>
              <a:buClr>
                <a:schemeClr val="dk1"/>
              </a:buClr>
              <a:buSzPts val="1600"/>
              <a:buFont typeface="Roboto"/>
              <a:buNone/>
              <a:defRPr sz="1600">
                <a:latin typeface="Roboto"/>
                <a:ea typeface="Roboto"/>
                <a:cs typeface="Roboto"/>
                <a:sym typeface="Roboto"/>
              </a:defRPr>
            </a:lvl2pPr>
            <a:lvl3pPr marL="1371600" lvl="2" indent="-330200" algn="just">
              <a:lnSpc>
                <a:spcPct val="100000"/>
              </a:lnSpc>
              <a:spcBef>
                <a:spcPts val="320"/>
              </a:spcBef>
              <a:spcAft>
                <a:spcPts val="0"/>
              </a:spcAft>
              <a:buClr>
                <a:schemeClr val="dk1"/>
              </a:buClr>
              <a:buSzPts val="1600"/>
              <a:buChar char="•"/>
              <a:defRPr sz="1600">
                <a:latin typeface="Roboto"/>
                <a:ea typeface="Roboto"/>
                <a:cs typeface="Roboto"/>
                <a:sym typeface="Roboto"/>
              </a:defRPr>
            </a:lvl3pPr>
            <a:lvl4pPr marL="1828800" lvl="3" indent="-330200" algn="just">
              <a:lnSpc>
                <a:spcPct val="100000"/>
              </a:lnSpc>
              <a:spcBef>
                <a:spcPts val="320"/>
              </a:spcBef>
              <a:spcAft>
                <a:spcPts val="0"/>
              </a:spcAft>
              <a:buClr>
                <a:schemeClr val="dk1"/>
              </a:buClr>
              <a:buSzPts val="1600"/>
              <a:buFont typeface="Courier New"/>
              <a:buChar char="o"/>
              <a:defRPr sz="1600">
                <a:latin typeface="Roboto"/>
                <a:ea typeface="Roboto"/>
                <a:cs typeface="Roboto"/>
                <a:sym typeface="Roboto"/>
              </a:defRPr>
            </a:lvl4pPr>
            <a:lvl5pPr marL="2286000" lvl="4" indent="-330200" algn="just">
              <a:lnSpc>
                <a:spcPct val="100000"/>
              </a:lnSpc>
              <a:spcBef>
                <a:spcPts val="320"/>
              </a:spcBef>
              <a:spcAft>
                <a:spcPts val="0"/>
              </a:spcAft>
              <a:buClr>
                <a:schemeClr val="dk1"/>
              </a:buClr>
              <a:buSzPts val="1600"/>
              <a:buChar char="»"/>
              <a:defRPr sz="1600">
                <a:latin typeface="Roboto"/>
                <a:ea typeface="Roboto"/>
                <a:cs typeface="Roboto"/>
                <a:sym typeface="Robot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97" name="Google Shape;197;g115e76f5ad1_0_427"/>
          <p:cNvSpPr txBox="1">
            <a:spLocks noGrp="1"/>
          </p:cNvSpPr>
          <p:nvPr>
            <p:ph type="body" idx="2"/>
          </p:nvPr>
        </p:nvSpPr>
        <p:spPr>
          <a:xfrm>
            <a:off x="6604000" y="1828800"/>
            <a:ext cx="5384700" cy="27432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80"/>
              </a:spcBef>
              <a:spcAft>
                <a:spcPts val="0"/>
              </a:spcAft>
              <a:buClr>
                <a:schemeClr val="dk1"/>
              </a:buClr>
              <a:buSzPts val="2400"/>
              <a:buFont typeface="Quattrocento Sans"/>
              <a:buNone/>
              <a:defRPr sz="2400" b="0">
                <a:latin typeface="Quattrocento Sans"/>
                <a:ea typeface="Quattrocento Sans"/>
                <a:cs typeface="Quattrocento Sans"/>
                <a:sym typeface="Quattrocento Sans"/>
              </a:defRPr>
            </a:lvl1pPr>
            <a:lvl2pPr marL="914400" lvl="1" indent="-228600" algn="just">
              <a:lnSpc>
                <a:spcPct val="100000"/>
              </a:lnSpc>
              <a:spcBef>
                <a:spcPts val="320"/>
              </a:spcBef>
              <a:spcAft>
                <a:spcPts val="0"/>
              </a:spcAft>
              <a:buClr>
                <a:schemeClr val="dk1"/>
              </a:buClr>
              <a:buSzPts val="1600"/>
              <a:buFont typeface="Roboto"/>
              <a:buNone/>
              <a:defRPr sz="1600">
                <a:latin typeface="Roboto"/>
                <a:ea typeface="Roboto"/>
                <a:cs typeface="Roboto"/>
                <a:sym typeface="Roboto"/>
              </a:defRPr>
            </a:lvl2pPr>
            <a:lvl3pPr marL="1371600" lvl="2" indent="-330200" algn="just">
              <a:lnSpc>
                <a:spcPct val="100000"/>
              </a:lnSpc>
              <a:spcBef>
                <a:spcPts val="320"/>
              </a:spcBef>
              <a:spcAft>
                <a:spcPts val="0"/>
              </a:spcAft>
              <a:buClr>
                <a:schemeClr val="dk1"/>
              </a:buClr>
              <a:buSzPts val="1600"/>
              <a:buChar char="•"/>
              <a:defRPr sz="1600">
                <a:latin typeface="Roboto"/>
                <a:ea typeface="Roboto"/>
                <a:cs typeface="Roboto"/>
                <a:sym typeface="Roboto"/>
              </a:defRPr>
            </a:lvl3pPr>
            <a:lvl4pPr marL="1828800" lvl="3" indent="-330200" algn="just">
              <a:lnSpc>
                <a:spcPct val="100000"/>
              </a:lnSpc>
              <a:spcBef>
                <a:spcPts val="320"/>
              </a:spcBef>
              <a:spcAft>
                <a:spcPts val="0"/>
              </a:spcAft>
              <a:buClr>
                <a:schemeClr val="dk1"/>
              </a:buClr>
              <a:buSzPts val="1600"/>
              <a:buFont typeface="Courier New"/>
              <a:buChar char="o"/>
              <a:defRPr sz="1600">
                <a:latin typeface="Roboto"/>
                <a:ea typeface="Roboto"/>
                <a:cs typeface="Roboto"/>
                <a:sym typeface="Roboto"/>
              </a:defRPr>
            </a:lvl4pPr>
            <a:lvl5pPr marL="2286000" lvl="4" indent="-330200" algn="just">
              <a:lnSpc>
                <a:spcPct val="100000"/>
              </a:lnSpc>
              <a:spcBef>
                <a:spcPts val="320"/>
              </a:spcBef>
              <a:spcAft>
                <a:spcPts val="0"/>
              </a:spcAft>
              <a:buClr>
                <a:schemeClr val="dk1"/>
              </a:buClr>
              <a:buSzPts val="1600"/>
              <a:buChar char="»"/>
              <a:defRPr sz="1600">
                <a:latin typeface="Roboto"/>
                <a:ea typeface="Roboto"/>
                <a:cs typeface="Roboto"/>
                <a:sym typeface="Roboto"/>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98" name="Google Shape;198;g115e76f5ad1_0_427"/>
          <p:cNvSpPr txBox="1">
            <a:spLocks noGrp="1"/>
          </p:cNvSpPr>
          <p:nvPr>
            <p:ph type="sldNum" idx="12"/>
          </p:nvPr>
        </p:nvSpPr>
        <p:spPr>
          <a:xfrm>
            <a:off x="-1828800" y="6172201"/>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199"/>
        <p:cNvGrpSpPr/>
        <p:nvPr/>
      </p:nvGrpSpPr>
      <p:grpSpPr>
        <a:xfrm>
          <a:off x="0" y="0"/>
          <a:ext cx="0" cy="0"/>
          <a:chOff x="0" y="0"/>
          <a:chExt cx="0" cy="0"/>
        </a:xfrm>
      </p:grpSpPr>
      <p:sp>
        <p:nvSpPr>
          <p:cNvPr id="200" name="Google Shape;200;g115e76f5ad1_0_432"/>
          <p:cNvSpPr txBox="1">
            <a:spLocks noGrp="1"/>
          </p:cNvSpPr>
          <p:nvPr>
            <p:ph type="title"/>
          </p:nvPr>
        </p:nvSpPr>
        <p:spPr>
          <a:xfrm>
            <a:off x="2946400" y="274638"/>
            <a:ext cx="8636100" cy="5637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1" name="Google Shape;201;g115e76f5ad1_0_432"/>
          <p:cNvSpPr txBox="1">
            <a:spLocks noGrp="1"/>
          </p:cNvSpPr>
          <p:nvPr>
            <p:ph type="body" idx="1"/>
          </p:nvPr>
        </p:nvSpPr>
        <p:spPr>
          <a:xfrm>
            <a:off x="609600" y="990600"/>
            <a:ext cx="10972800" cy="5562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202" name="Google Shape;202;g115e76f5ad1_0_432"/>
          <p:cNvPicPr preferRelativeResize="0"/>
          <p:nvPr/>
        </p:nvPicPr>
        <p:blipFill rotWithShape="1">
          <a:blip r:embed="rId2">
            <a:alphaModFix/>
          </a:blip>
          <a:srcRect/>
          <a:stretch/>
        </p:blipFill>
        <p:spPr>
          <a:xfrm>
            <a:off x="711200" y="228601"/>
            <a:ext cx="2133600" cy="48490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4"/>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6"/>
        <p:cNvGrpSpPr/>
        <p:nvPr/>
      </p:nvGrpSpPr>
      <p:grpSpPr>
        <a:xfrm>
          <a:off x="0" y="0"/>
          <a:ext cx="0" cy="0"/>
          <a:chOff x="0" y="0"/>
          <a:chExt cx="0" cy="0"/>
        </a:xfrm>
      </p:grpSpPr>
      <p:sp>
        <p:nvSpPr>
          <p:cNvPr id="107" name="Google Shape;107;g115e76f5ad1_0_33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8" name="Google Shape;108;g115e76f5ad1_0_339"/>
          <p:cNvSpPr txBox="1">
            <a:spLocks noGrp="1"/>
          </p:cNvSpPr>
          <p:nvPr>
            <p:ph type="body" idx="1"/>
          </p:nvPr>
        </p:nvSpPr>
        <p:spPr>
          <a:xfrm>
            <a:off x="609600" y="1600201"/>
            <a:ext cx="10972800" cy="4526100"/>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9" name="Google Shape;109;g115e76f5ad1_0_339"/>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0" name="Google Shape;110;g115e76f5ad1_0_339"/>
          <p:cNvSpPr txBox="1">
            <a:spLocks noGrp="1"/>
          </p:cNvSpPr>
          <p:nvPr>
            <p:ph type="ftr" idx="11"/>
          </p:nvPr>
        </p:nvSpPr>
        <p:spPr>
          <a:xfrm>
            <a:off x="4165600" y="6356351"/>
            <a:ext cx="38607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1" name="Google Shape;111;g115e76f5ad1_0_339"/>
          <p:cNvSpPr txBox="1">
            <a:spLocks noGrp="1"/>
          </p:cNvSpPr>
          <p:nvPr>
            <p:ph type="sldNum" idx="12"/>
          </p:nvPr>
        </p:nvSpPr>
        <p:spPr>
          <a:xfrm>
            <a:off x="8737600" y="6356351"/>
            <a:ext cx="28449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115e76f5ad1_0_0"/>
          <p:cNvSpPr txBox="1">
            <a:spLocks noGrp="1"/>
          </p:cNvSpPr>
          <p:nvPr>
            <p:ph type="subTitle" idx="1"/>
          </p:nvPr>
        </p:nvSpPr>
        <p:spPr>
          <a:xfrm>
            <a:off x="5486400" y="4953000"/>
            <a:ext cx="6705600" cy="9906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FF5A33"/>
              </a:buClr>
              <a:buSzPts val="2200"/>
              <a:buNone/>
            </a:pPr>
            <a:r>
              <a:rPr lang="en-US" dirty="0" err="1"/>
              <a:t>Bài</a:t>
            </a:r>
            <a:r>
              <a:rPr lang="en-US" dirty="0"/>
              <a:t> 6: </a:t>
            </a:r>
            <a:r>
              <a:rPr lang="en-US" dirty="0" err="1"/>
              <a:t>kế</a:t>
            </a:r>
            <a:r>
              <a:rPr lang="en-US" dirty="0"/>
              <a:t> </a:t>
            </a:r>
            <a:r>
              <a:rPr lang="en-US" dirty="0" err="1"/>
              <a:t>hoạch</a:t>
            </a:r>
            <a:r>
              <a:rPr lang="en-US" dirty="0"/>
              <a:t> </a:t>
            </a:r>
            <a:r>
              <a:rPr lang="en-US" dirty="0" err="1"/>
              <a:t>kiểm</a:t>
            </a:r>
            <a:r>
              <a:rPr lang="en-US" dirty="0"/>
              <a:t> </a:t>
            </a:r>
            <a:r>
              <a:rPr lang="en-US" dirty="0" err="1"/>
              <a:t>thử</a:t>
            </a:r>
            <a:endParaRPr dirty="0"/>
          </a:p>
        </p:txBody>
      </p:sp>
      <p:sp>
        <p:nvSpPr>
          <p:cNvPr id="208" name="Google Shape;208;g115e76f5ad1_0_0"/>
          <p:cNvSpPr txBox="1">
            <a:spLocks noGrp="1"/>
          </p:cNvSpPr>
          <p:nvPr>
            <p:ph type="title"/>
          </p:nvPr>
        </p:nvSpPr>
        <p:spPr>
          <a:xfrm>
            <a:off x="5506720" y="4284596"/>
            <a:ext cx="6100200" cy="7050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FF5A33"/>
              </a:buClr>
              <a:buSzPts val="3400"/>
              <a:buFont typeface="Calibri"/>
              <a:buNone/>
            </a:pPr>
            <a:r>
              <a:rPr lang="en-US"/>
              <a:t>kiểm thử cơ bản(P1)</a:t>
            </a:r>
            <a:endParaRPr/>
          </a:p>
        </p:txBody>
      </p:sp>
      <p:pic>
        <p:nvPicPr>
          <p:cNvPr id="209" name="Google Shape;209;g115e76f5ad1_0_0"/>
          <p:cNvPicPr preferRelativeResize="0"/>
          <p:nvPr/>
        </p:nvPicPr>
        <p:blipFill rotWithShape="1">
          <a:blip r:embed="rId3">
            <a:alphaModFix/>
          </a:blip>
          <a:srcRect/>
          <a:stretch/>
        </p:blipFill>
        <p:spPr>
          <a:xfrm>
            <a:off x="1890932" y="2406165"/>
            <a:ext cx="1693935" cy="25186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g115e76f5ad1_0_10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Nội dung</a:t>
            </a:r>
            <a:endParaRPr/>
          </a:p>
        </p:txBody>
      </p:sp>
      <p:pic>
        <p:nvPicPr>
          <p:cNvPr id="215" name="Google Shape;215;g115e76f5ad1_0_103" descr="D:\Pictures\PNG\present.png"/>
          <p:cNvPicPr preferRelativeResize="0"/>
          <p:nvPr/>
        </p:nvPicPr>
        <p:blipFill rotWithShape="1">
          <a:blip r:embed="rId3">
            <a:alphaModFix/>
          </a:blip>
          <a:srcRect/>
          <a:stretch/>
        </p:blipFill>
        <p:spPr>
          <a:xfrm flipH="1">
            <a:off x="9268820" y="1017269"/>
            <a:ext cx="2313580" cy="5356860"/>
          </a:xfrm>
          <a:prstGeom prst="rect">
            <a:avLst/>
          </a:prstGeom>
          <a:noFill/>
          <a:ln>
            <a:noFill/>
          </a:ln>
        </p:spPr>
      </p:pic>
      <p:sp>
        <p:nvSpPr>
          <p:cNvPr id="216" name="Google Shape;216;g115e76f5ad1_0_103"/>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7" name="Google Shape;217;g115e76f5ad1_0_103"/>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18" name="Google Shape;218;g115e76f5ad1_0_103"/>
          <p:cNvSpPr txBox="1"/>
          <p:nvPr/>
        </p:nvSpPr>
        <p:spPr>
          <a:xfrm>
            <a:off x="894600" y="2067600"/>
            <a:ext cx="8437200" cy="3933900"/>
          </a:xfrm>
          <a:prstGeom prst="rect">
            <a:avLst/>
          </a:prstGeom>
          <a:noFill/>
          <a:ln>
            <a:noFill/>
          </a:ln>
        </p:spPr>
        <p:txBody>
          <a:bodyPr spcFirstLastPara="1" wrap="square" lIns="91425" tIns="45700" rIns="91425" bIns="45700" anchor="t" anchorCtr="0">
            <a:noAutofit/>
          </a:bodyPr>
          <a:lstStyle/>
          <a:p>
            <a:pPr marL="457200" marR="0" lvl="0" indent="-457200" algn="l" rtl="0">
              <a:lnSpc>
                <a:spcPct val="115000"/>
              </a:lnSpc>
              <a:spcBef>
                <a:spcPts val="0"/>
              </a:spcBef>
              <a:spcAft>
                <a:spcPts val="0"/>
              </a:spcAft>
              <a:buClr>
                <a:srgbClr val="333333"/>
              </a:buClr>
              <a:buSzPts val="3700"/>
              <a:buFont typeface="Quattrocento Sans"/>
              <a:buChar char="•"/>
            </a:pPr>
            <a:r>
              <a:rPr lang="en-US" sz="2900" b="1">
                <a:solidFill>
                  <a:srgbClr val="333333"/>
                </a:solidFill>
                <a:latin typeface="Quattrocento Sans"/>
                <a:ea typeface="Quattrocento Sans"/>
                <a:cs typeface="Quattrocento Sans"/>
                <a:sym typeface="Quattrocento Sans"/>
              </a:rPr>
              <a:t>Test plan là gì?</a:t>
            </a:r>
            <a:endParaRPr sz="2900" b="1">
              <a:solidFill>
                <a:srgbClr val="333333"/>
              </a:solidFill>
              <a:latin typeface="Quattrocento Sans"/>
              <a:ea typeface="Quattrocento Sans"/>
              <a:cs typeface="Quattrocento Sans"/>
              <a:sym typeface="Quattrocento Sans"/>
            </a:endParaRPr>
          </a:p>
          <a:p>
            <a:pPr marL="457200" marR="0" lvl="0" indent="-40640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Tầm quan trọng của Kế hoạch kiểm tra</a:t>
            </a:r>
            <a:endParaRPr sz="2900" b="1">
              <a:solidFill>
                <a:srgbClr val="333333"/>
              </a:solidFill>
              <a:latin typeface="Quattrocento Sans"/>
              <a:ea typeface="Quattrocento Sans"/>
              <a:cs typeface="Quattrocento Sans"/>
              <a:sym typeface="Quattrocento Sans"/>
            </a:endParaRPr>
          </a:p>
          <a:p>
            <a:pPr marL="457200" marR="0" lvl="0" indent="-40640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8 bước để viết một Test Plan</a:t>
            </a:r>
            <a:endParaRPr sz="2900" b="1">
              <a:solidFill>
                <a:srgbClr val="333333"/>
              </a:solidFill>
              <a:latin typeface="Quattrocento Sans"/>
              <a:ea typeface="Quattrocento Sans"/>
              <a:cs typeface="Quattrocento Sans"/>
              <a:sym typeface="Quattrocento Sans"/>
            </a:endParaRPr>
          </a:p>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Bước 1: Phân tích sản phẩm</a:t>
            </a:r>
            <a:endParaRPr sz="2900" b="1">
              <a:solidFill>
                <a:srgbClr val="333333"/>
              </a:solidFill>
              <a:latin typeface="Quattrocento Sans"/>
              <a:ea typeface="Quattrocento Sans"/>
              <a:cs typeface="Quattrocento Sans"/>
              <a:sym typeface="Quattrocento Sans"/>
            </a:endParaRPr>
          </a:p>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Bước 2: Thiết kế Chiến lược Kiểm tra</a:t>
            </a:r>
            <a:endParaRPr sz="2900" b="1">
              <a:solidFill>
                <a:srgbClr val="333333"/>
              </a:solidFill>
              <a:latin typeface="Quattrocento Sans"/>
              <a:ea typeface="Quattrocento Sans"/>
              <a:cs typeface="Quattrocento Sans"/>
              <a:sym typeface="Quattrocento Sans"/>
            </a:endParaRPr>
          </a:p>
          <a:p>
            <a:pPr marL="914400" marR="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Bước 3: Xác định các Mục tiêu Kiểm tra</a:t>
            </a:r>
            <a:endParaRPr sz="2900" b="1">
              <a:solidFill>
                <a:srgbClr val="333333"/>
              </a:solidFill>
              <a:latin typeface="Quattrocento Sans"/>
              <a:ea typeface="Quattrocento Sans"/>
              <a:cs typeface="Quattrocento Sans"/>
              <a:sym typeface="Quattrocento Sans"/>
            </a:endParaRPr>
          </a:p>
        </p:txBody>
      </p:sp>
      <p:sp>
        <p:nvSpPr>
          <p:cNvPr id="219" name="Google Shape;219;g115e76f5ad1_0_103"/>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Nội dung bài học</a:t>
            </a:r>
            <a:endParaRPr sz="2800" b="1" i="0" u="none" strike="noStrike" cap="none">
              <a:solidFill>
                <a:srgbClr val="F79646"/>
              </a:solidFill>
              <a:latin typeface="Quattrocento Sans"/>
              <a:ea typeface="Quattrocento Sans"/>
              <a:cs typeface="Quattrocento Sans"/>
              <a:sym typeface="Quattrocen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115e76f5ad1_0_333"/>
          <p:cNvSpPr/>
          <p:nvPr/>
        </p:nvSpPr>
        <p:spPr>
          <a:xfrm>
            <a:off x="3471675" y="3049625"/>
            <a:ext cx="8034600" cy="92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5400"/>
              <a:buFont typeface="Arial"/>
              <a:buNone/>
            </a:pPr>
            <a:r>
              <a:rPr lang="en-US" sz="5400" b="1" cap="small">
                <a:solidFill>
                  <a:srgbClr val="FFA15D"/>
                </a:solidFill>
                <a:latin typeface="Calibri"/>
                <a:ea typeface="Calibri"/>
                <a:cs typeface="Calibri"/>
                <a:sym typeface="Calibri"/>
              </a:rPr>
              <a:t>test plan</a:t>
            </a:r>
            <a:endParaRPr sz="5400" b="1" i="0" u="none" strike="noStrike" cap="small">
              <a:solidFill>
                <a:srgbClr val="FFA15D"/>
              </a:solidFill>
              <a:latin typeface="Calibri"/>
              <a:ea typeface="Calibri"/>
              <a:cs typeface="Calibri"/>
              <a:sym typeface="Calibri"/>
            </a:endParaRPr>
          </a:p>
        </p:txBody>
      </p:sp>
      <p:cxnSp>
        <p:nvCxnSpPr>
          <p:cNvPr id="225" name="Google Shape;225;g115e76f5ad1_0_333"/>
          <p:cNvCxnSpPr/>
          <p:nvPr/>
        </p:nvCxnSpPr>
        <p:spPr>
          <a:xfrm>
            <a:off x="762000" y="3886200"/>
            <a:ext cx="10744200" cy="0"/>
          </a:xfrm>
          <a:prstGeom prst="straightConnector1">
            <a:avLst/>
          </a:prstGeom>
          <a:noFill/>
          <a:ln w="76200" cap="flat" cmpd="thinThick">
            <a:solidFill>
              <a:srgbClr val="FF0000"/>
            </a:solidFill>
            <a:prstDash val="solid"/>
            <a:round/>
            <a:headEnd type="none" w="sm" len="sm"/>
            <a:tailEnd type="none" w="sm" len="sm"/>
          </a:ln>
        </p:spPr>
      </p:cxnSp>
      <p:pic>
        <p:nvPicPr>
          <p:cNvPr id="226" name="Google Shape;226;g115e76f5ad1_0_333"/>
          <p:cNvPicPr preferRelativeResize="0"/>
          <p:nvPr/>
        </p:nvPicPr>
        <p:blipFill rotWithShape="1">
          <a:blip r:embed="rId3">
            <a:alphaModFix/>
          </a:blip>
          <a:srcRect/>
          <a:stretch/>
        </p:blipFill>
        <p:spPr>
          <a:xfrm>
            <a:off x="1037870" y="1143000"/>
            <a:ext cx="2543400" cy="3782100"/>
          </a:xfrm>
          <a:prstGeom prst="ellipse">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g115e76f5ad1_0_43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plan</a:t>
            </a:r>
            <a:endParaRPr/>
          </a:p>
        </p:txBody>
      </p:sp>
      <p:sp>
        <p:nvSpPr>
          <p:cNvPr id="232" name="Google Shape;232;g115e76f5ad1_0_436"/>
          <p:cNvSpPr txBox="1"/>
          <p:nvPr/>
        </p:nvSpPr>
        <p:spPr>
          <a:xfrm>
            <a:off x="617100" y="1701675"/>
            <a:ext cx="11425200" cy="4883400"/>
          </a:xfrm>
          <a:prstGeom prst="rect">
            <a:avLst/>
          </a:prstGeom>
          <a:noFill/>
          <a:ln>
            <a:noFill/>
          </a:ln>
        </p:spPr>
        <p:txBody>
          <a:bodyPr spcFirstLastPara="1" wrap="square" lIns="91425" tIns="45700" rIns="91425" bIns="45700" anchor="t" anchorCtr="0">
            <a:noAutofit/>
          </a:bodyPr>
          <a:lstStyle/>
          <a:p>
            <a:pPr marL="914400" lvl="1" indent="-450850" algn="l" rtl="0">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Theo định nghĩa của ISTQB: “</a:t>
            </a:r>
            <a:r>
              <a:rPr lang="en-US" sz="3500">
                <a:solidFill>
                  <a:schemeClr val="dk1"/>
                </a:solidFill>
                <a:latin typeface="Quattrocento Sans"/>
                <a:ea typeface="Quattrocento Sans"/>
                <a:cs typeface="Quattrocento Sans"/>
                <a:sym typeface="Quattrocento Sans"/>
              </a:rPr>
              <a:t>TEST PLAN</a:t>
            </a:r>
            <a:r>
              <a:rPr lang="en-US" sz="3500">
                <a:latin typeface="Quattrocento Sans"/>
                <a:ea typeface="Quattrocento Sans"/>
                <a:cs typeface="Quattrocento Sans"/>
                <a:sym typeface="Quattrocento Sans"/>
              </a:rPr>
              <a:t> là một tài liệu mô tả phạm vi, cách tiếp cận, nguồn lực và lịch trình của các hoạt động kiểm tra dự kiến.” </a:t>
            </a:r>
            <a:r>
              <a:rPr lang="en-US" sz="3000" i="1">
                <a:latin typeface="Quattrocento Sans"/>
                <a:ea typeface="Quattrocento Sans"/>
                <a:cs typeface="Quattrocento Sans"/>
                <a:sym typeface="Quattrocento Sans"/>
              </a:rPr>
              <a:t>(ISTQB® (International Software Testing Qualifications Board))</a:t>
            </a:r>
            <a:endParaRPr sz="3000" i="1">
              <a:latin typeface="Quattrocento Sans"/>
              <a:ea typeface="Quattrocento Sans"/>
              <a:cs typeface="Quattrocento Sans"/>
              <a:sym typeface="Quattrocento Sans"/>
            </a:endParaRPr>
          </a:p>
          <a:p>
            <a:pPr marL="914400" lvl="1" indent="-450850" algn="l" rtl="0">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Test plan đóng vai trò như một kế hoạch chi tiết để tiến hành các hoạt động kiểm thử phần mềm như một quy trình xác định, được giám sát và kiểm soát từng bước bởi người quản lý kiểm thử.</a:t>
            </a:r>
            <a:endParaRPr sz="3500">
              <a:solidFill>
                <a:srgbClr val="333333"/>
              </a:solidFill>
              <a:highlight>
                <a:schemeClr val="lt1"/>
              </a:highlight>
              <a:latin typeface="Quattrocento Sans"/>
              <a:ea typeface="Quattrocento Sans"/>
              <a:cs typeface="Quattrocento Sans"/>
              <a:sym typeface="Quattrocento Sans"/>
            </a:endParaRPr>
          </a:p>
        </p:txBody>
      </p:sp>
      <p:sp>
        <p:nvSpPr>
          <p:cNvPr id="233" name="Google Shape;233;g115e76f5ad1_0_436"/>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Test Plan là gì ?</a:t>
            </a:r>
            <a:endParaRPr sz="4000" b="0" i="0" u="none" strike="noStrike" cap="none">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32">
                                            <p:txEl>
                                              <p:pRg st="0" end="0"/>
                                            </p:txEl>
                                          </p:spTgt>
                                        </p:tgtEl>
                                        <p:attrNameLst>
                                          <p:attrName>style.visibility</p:attrName>
                                        </p:attrNameLst>
                                      </p:cBhvr>
                                      <p:to>
                                        <p:strVal val="visible"/>
                                      </p:to>
                                    </p:set>
                                    <p:anim calcmode="lin" valueType="num">
                                      <p:cBhvr additive="base">
                                        <p:cTn id="7" dur="1000"/>
                                        <p:tgtEl>
                                          <p:spTgt spid="23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32">
                                            <p:txEl>
                                              <p:pRg st="1" end="1"/>
                                            </p:txEl>
                                          </p:spTgt>
                                        </p:tgtEl>
                                        <p:attrNameLst>
                                          <p:attrName>style.visibility</p:attrName>
                                        </p:attrNameLst>
                                      </p:cBhvr>
                                      <p:to>
                                        <p:strVal val="visible"/>
                                      </p:to>
                                    </p:set>
                                    <p:anim calcmode="lin" valueType="num">
                                      <p:cBhvr additive="base">
                                        <p:cTn id="12" dur="1000"/>
                                        <p:tgtEl>
                                          <p:spTgt spid="232">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g116f0f54a95_0_14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plan</a:t>
            </a:r>
            <a:endParaRPr/>
          </a:p>
        </p:txBody>
      </p:sp>
      <p:sp>
        <p:nvSpPr>
          <p:cNvPr id="239" name="Google Shape;239;g116f0f54a95_0_149"/>
          <p:cNvSpPr txBox="1"/>
          <p:nvPr/>
        </p:nvSpPr>
        <p:spPr>
          <a:xfrm>
            <a:off x="617100" y="1701675"/>
            <a:ext cx="11425200" cy="4883400"/>
          </a:xfrm>
          <a:prstGeom prst="rect">
            <a:avLst/>
          </a:prstGeom>
          <a:noFill/>
          <a:ln>
            <a:noFill/>
          </a:ln>
        </p:spPr>
        <p:txBody>
          <a:bodyPr spcFirstLastPara="1" wrap="square" lIns="91425" tIns="45700" rIns="91425" bIns="45700" anchor="t" anchorCtr="0">
            <a:noAutofit/>
          </a:bodyPr>
          <a:lstStyle/>
          <a:p>
            <a:pPr marL="914400" lvl="1" indent="-450850" algn="l" rtl="0">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Trong một cuộc họp, bạn muốn thảo luận về Kế hoạch kiểm tra với các thành viên trong nhóm, nhưng họ không quan tâm.</a:t>
            </a:r>
            <a:endParaRPr sz="3500">
              <a:solidFill>
                <a:srgbClr val="333333"/>
              </a:solidFill>
              <a:highlight>
                <a:schemeClr val="lt1"/>
              </a:highlight>
              <a:latin typeface="Quattrocento Sans"/>
              <a:ea typeface="Quattrocento Sans"/>
              <a:cs typeface="Quattrocento Sans"/>
              <a:sym typeface="Quattrocento Sans"/>
            </a:endParaRPr>
          </a:p>
        </p:txBody>
      </p:sp>
      <p:sp>
        <p:nvSpPr>
          <p:cNvPr id="240" name="Google Shape;240;g116f0f54a95_0_149"/>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Hãy bắt đầu với ví dụ</a:t>
            </a:r>
            <a:r>
              <a:rPr lang="en-US" sz="4000">
                <a:solidFill>
                  <a:srgbClr val="333333"/>
                </a:solidFill>
                <a:latin typeface="Quattrocento Sans"/>
                <a:ea typeface="Quattrocento Sans"/>
                <a:cs typeface="Quattrocento Sans"/>
                <a:sym typeface="Quattrocento Sans"/>
              </a:rPr>
              <a:t> về Test Plan</a:t>
            </a:r>
            <a:endParaRPr sz="4000" b="0" i="0" u="none" strike="noStrike" cap="none">
              <a:solidFill>
                <a:schemeClr val="dk1"/>
              </a:solidFill>
              <a:latin typeface="Quattrocento Sans"/>
              <a:ea typeface="Quattrocento Sans"/>
              <a:cs typeface="Quattrocento Sans"/>
              <a:sym typeface="Quattrocento Sans"/>
            </a:endParaRPr>
          </a:p>
        </p:txBody>
      </p:sp>
      <p:pic>
        <p:nvPicPr>
          <p:cNvPr id="241" name="Google Shape;241;g116f0f54a95_0_149"/>
          <p:cNvPicPr preferRelativeResize="0"/>
          <p:nvPr/>
        </p:nvPicPr>
        <p:blipFill>
          <a:blip r:embed="rId3">
            <a:alphaModFix/>
          </a:blip>
          <a:stretch>
            <a:fillRect/>
          </a:stretch>
        </p:blipFill>
        <p:spPr>
          <a:xfrm>
            <a:off x="6308125" y="2946950"/>
            <a:ext cx="5274175" cy="3437975"/>
          </a:xfrm>
          <a:prstGeom prst="rect">
            <a:avLst/>
          </a:prstGeom>
          <a:noFill/>
          <a:ln>
            <a:noFill/>
          </a:ln>
        </p:spPr>
      </p:pic>
      <p:sp>
        <p:nvSpPr>
          <p:cNvPr id="242" name="Google Shape;242;g116f0f54a95_0_149"/>
          <p:cNvSpPr txBox="1"/>
          <p:nvPr/>
        </p:nvSpPr>
        <p:spPr>
          <a:xfrm>
            <a:off x="617100" y="3874675"/>
            <a:ext cx="5579400" cy="2710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3500">
                <a:solidFill>
                  <a:srgbClr val="333333"/>
                </a:solidFill>
                <a:highlight>
                  <a:schemeClr val="lt1"/>
                </a:highlight>
                <a:latin typeface="Quattrocento Sans"/>
                <a:ea typeface="Quattrocento Sans"/>
                <a:cs typeface="Quattrocento Sans"/>
                <a:sym typeface="Quattrocento Sans"/>
              </a:rPr>
              <a:t>Trong trường hợp như vậy, bạn sẽ làm gì?</a:t>
            </a:r>
            <a:endParaRPr sz="3500">
              <a:solidFill>
                <a:srgbClr val="333333"/>
              </a:solidFill>
              <a:highlight>
                <a:schemeClr val="lt1"/>
              </a:highlight>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g116f0f54a95_0_15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plan</a:t>
            </a:r>
            <a:endParaRPr/>
          </a:p>
        </p:txBody>
      </p:sp>
      <p:sp>
        <p:nvSpPr>
          <p:cNvPr id="248" name="Google Shape;248;g116f0f54a95_0_159"/>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US" sz="4000">
                <a:solidFill>
                  <a:schemeClr val="dk1"/>
                </a:solidFill>
                <a:latin typeface="Quattrocento Sans"/>
                <a:ea typeface="Quattrocento Sans"/>
                <a:cs typeface="Quattrocento Sans"/>
                <a:sym typeface="Quattrocento Sans"/>
              </a:rPr>
              <a:t>Từ ví dụ trên hãy chọn A hoặc B</a:t>
            </a:r>
            <a:endParaRPr sz="4000" b="0" i="0" u="none" strike="noStrike" cap="none">
              <a:solidFill>
                <a:schemeClr val="dk1"/>
              </a:solidFill>
              <a:latin typeface="Quattrocento Sans"/>
              <a:ea typeface="Quattrocento Sans"/>
              <a:cs typeface="Quattrocento Sans"/>
              <a:sym typeface="Quattrocento Sans"/>
            </a:endParaRPr>
          </a:p>
        </p:txBody>
      </p:sp>
      <p:pic>
        <p:nvPicPr>
          <p:cNvPr id="249" name="Google Shape;249;g116f0f54a95_0_159"/>
          <p:cNvPicPr preferRelativeResize="0"/>
          <p:nvPr/>
        </p:nvPicPr>
        <p:blipFill>
          <a:blip r:embed="rId3">
            <a:alphaModFix/>
          </a:blip>
          <a:stretch>
            <a:fillRect/>
          </a:stretch>
        </p:blipFill>
        <p:spPr>
          <a:xfrm>
            <a:off x="1014163" y="1912550"/>
            <a:ext cx="9629387" cy="45299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g116f0f54a95_0_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test plan</a:t>
            </a:r>
            <a:endParaRPr/>
          </a:p>
        </p:txBody>
      </p:sp>
      <p:sp>
        <p:nvSpPr>
          <p:cNvPr id="255" name="Google Shape;255;g116f0f54a95_0_2"/>
          <p:cNvSpPr txBox="1"/>
          <p:nvPr/>
        </p:nvSpPr>
        <p:spPr>
          <a:xfrm>
            <a:off x="617100" y="1701675"/>
            <a:ext cx="11388900" cy="5065500"/>
          </a:xfrm>
          <a:prstGeom prst="rect">
            <a:avLst/>
          </a:prstGeom>
          <a:noFill/>
          <a:ln>
            <a:noFill/>
          </a:ln>
        </p:spPr>
        <p:txBody>
          <a:bodyPr spcFirstLastPara="1" wrap="square" lIns="91425" tIns="45700" rIns="91425" bIns="45700" anchor="t" anchorCtr="0">
            <a:noAutofit/>
          </a:bodyPr>
          <a:lstStyle/>
          <a:p>
            <a:pPr marL="914400" lvl="1" indent="-450850" algn="l" rtl="0">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Giúp những người ngoài nhóm kiểm thử như nhà phát triển, quản lý doanh nghiệp, khách hàng hiểu chi tiết về kế hoạch triển khai kiểm thử giai đoạn sắp tới.</a:t>
            </a:r>
            <a:endParaRPr sz="3500">
              <a:latin typeface="Quattrocento Sans"/>
              <a:ea typeface="Quattrocento Sans"/>
              <a:cs typeface="Quattrocento Sans"/>
              <a:sym typeface="Quattrocento Sans"/>
            </a:endParaRPr>
          </a:p>
          <a:p>
            <a:pPr marL="914400" lvl="1" indent="-450850" algn="l" rtl="0">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Test plan giống như một cuốn sách quy tắc, cần phải được tuân theo.</a:t>
            </a:r>
            <a:endParaRPr sz="3500">
              <a:latin typeface="Quattrocento Sans"/>
              <a:ea typeface="Quattrocento Sans"/>
              <a:cs typeface="Quattrocento Sans"/>
              <a:sym typeface="Quattrocento Sans"/>
            </a:endParaRPr>
          </a:p>
          <a:p>
            <a:pPr marL="914400" lvl="1" indent="-450850" algn="l" rtl="0">
              <a:spcBef>
                <a:spcPts val="0"/>
              </a:spcBef>
              <a:spcAft>
                <a:spcPts val="0"/>
              </a:spcAft>
              <a:buClr>
                <a:srgbClr val="FF5A33"/>
              </a:buClr>
              <a:buSzPts val="3500"/>
              <a:buFont typeface="Quattrocento Sans"/>
              <a:buChar char="❖"/>
            </a:pPr>
            <a:r>
              <a:rPr lang="en-US" sz="3500">
                <a:latin typeface="Quattrocento Sans"/>
                <a:ea typeface="Quattrocento Sans"/>
                <a:cs typeface="Quattrocento Sans"/>
                <a:sym typeface="Quattrocento Sans"/>
              </a:rPr>
              <a:t>Các khía cạnh quan trọng như ước tính kiểm thử, phạm vi kiểm thử, chiến lược kiểm thử được ghi lại trong test plan. Do đó, nhóm quản lý có thể xem xét và sử dụng lại cho các dự án khác.</a:t>
            </a:r>
            <a:endParaRPr sz="3500">
              <a:latin typeface="Quattrocento Sans"/>
              <a:ea typeface="Quattrocento Sans"/>
              <a:cs typeface="Quattrocento Sans"/>
              <a:sym typeface="Quattrocento Sans"/>
            </a:endParaRPr>
          </a:p>
        </p:txBody>
      </p:sp>
      <p:sp>
        <p:nvSpPr>
          <p:cNvPr id="256" name="Google Shape;256;g116f0f54a95_0_2"/>
          <p:cNvSpPr txBox="1"/>
          <p:nvPr/>
        </p:nvSpPr>
        <p:spPr>
          <a:xfrm>
            <a:off x="617100" y="937150"/>
            <a:ext cx="10965300" cy="800400"/>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Tầm quan trọng của Test Plan</a:t>
            </a:r>
            <a:endParaRPr sz="4000" b="0" i="0" u="none" strike="noStrike" cap="none">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5">
                                            <p:txEl>
                                              <p:pRg st="0" end="0"/>
                                            </p:txEl>
                                          </p:spTgt>
                                        </p:tgtEl>
                                        <p:attrNameLst>
                                          <p:attrName>style.visibility</p:attrName>
                                        </p:attrNameLst>
                                      </p:cBhvr>
                                      <p:to>
                                        <p:strVal val="visible"/>
                                      </p:to>
                                    </p:set>
                                    <p:anim calcmode="lin" valueType="num">
                                      <p:cBhvr additive="base">
                                        <p:cTn id="7" dur="1000"/>
                                        <p:tgtEl>
                                          <p:spTgt spid="255">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55">
                                            <p:txEl>
                                              <p:pRg st="1" end="1"/>
                                            </p:txEl>
                                          </p:spTgt>
                                        </p:tgtEl>
                                        <p:attrNameLst>
                                          <p:attrName>style.visibility</p:attrName>
                                        </p:attrNameLst>
                                      </p:cBhvr>
                                      <p:to>
                                        <p:strVal val="visible"/>
                                      </p:to>
                                    </p:set>
                                    <p:anim calcmode="lin" valueType="num">
                                      <p:cBhvr additive="base">
                                        <p:cTn id="12" dur="1000"/>
                                        <p:tgtEl>
                                          <p:spTgt spid="255">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55">
                                            <p:txEl>
                                              <p:pRg st="2" end="2"/>
                                            </p:txEl>
                                          </p:spTgt>
                                        </p:tgtEl>
                                        <p:attrNameLst>
                                          <p:attrName>style.visibility</p:attrName>
                                        </p:attrNameLst>
                                      </p:cBhvr>
                                      <p:to>
                                        <p:strVal val="visible"/>
                                      </p:to>
                                    </p:set>
                                    <p:anim calcmode="lin" valueType="num">
                                      <p:cBhvr additive="base">
                                        <p:cTn id="17" dur="1000"/>
                                        <p:tgtEl>
                                          <p:spTgt spid="255">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116f0f54a95_0_1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plan</a:t>
            </a:r>
            <a:endParaRPr/>
          </a:p>
        </p:txBody>
      </p:sp>
      <p:sp>
        <p:nvSpPr>
          <p:cNvPr id="262" name="Google Shape;262;g116f0f54a95_0_16"/>
          <p:cNvSpPr txBox="1"/>
          <p:nvPr/>
        </p:nvSpPr>
        <p:spPr>
          <a:xfrm>
            <a:off x="522375" y="1597325"/>
            <a:ext cx="11210700" cy="5060700"/>
          </a:xfrm>
          <a:prstGeom prst="rect">
            <a:avLst/>
          </a:prstGeom>
          <a:noFill/>
          <a:ln>
            <a:noFill/>
          </a:ln>
        </p:spPr>
        <p:txBody>
          <a:bodyPr spcFirstLastPara="1" wrap="square" lIns="91425" tIns="45700" rIns="91425" bIns="45700" anchor="t" anchorCtr="0">
            <a:normAutofit lnSpcReduction="10000"/>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Thực hiện theo tám bước dưới đây để tạo một test plan:</a:t>
            </a:r>
            <a:endParaRPr sz="3600">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Bước 1: Phân tích sản phẩm(Analyze the product)</a:t>
            </a:r>
            <a:endParaRPr sz="3600">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Bước 2: </a:t>
            </a:r>
            <a:r>
              <a:rPr lang="en-US" sz="3600">
                <a:latin typeface="Quattrocento Sans"/>
                <a:ea typeface="Quattrocento Sans"/>
                <a:cs typeface="Quattrocento Sans"/>
                <a:sym typeface="Quattrocento Sans"/>
              </a:rPr>
              <a:t>Thiết kế chiến lược kiểm thử(Design the Test Strategy)</a:t>
            </a:r>
            <a:endParaRPr sz="3600">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Bước 3: </a:t>
            </a:r>
            <a:r>
              <a:rPr lang="en-US" sz="3600">
                <a:latin typeface="Quattrocento Sans"/>
                <a:ea typeface="Quattrocento Sans"/>
                <a:cs typeface="Quattrocento Sans"/>
                <a:sym typeface="Quattrocento Sans"/>
              </a:rPr>
              <a:t>Xác định mục tiêu kiểm thử(Define the Test Objectives)</a:t>
            </a:r>
            <a:endParaRPr sz="3600">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Bước 4: </a:t>
            </a:r>
            <a:r>
              <a:rPr lang="en-US" sz="3600">
                <a:latin typeface="Quattrocento Sans"/>
                <a:ea typeface="Quattrocento Sans"/>
                <a:cs typeface="Quattrocento Sans"/>
                <a:sym typeface="Quattrocento Sans"/>
              </a:rPr>
              <a:t>Xác định tiêu chí kiểm thử(Define Test Criteria)</a:t>
            </a:r>
            <a:endParaRPr sz="3600">
              <a:latin typeface="Quattrocento Sans"/>
              <a:ea typeface="Quattrocento Sans"/>
              <a:cs typeface="Quattrocento Sans"/>
              <a:sym typeface="Quattrocento Sans"/>
            </a:endParaRPr>
          </a:p>
          <a:p>
            <a:pPr marL="742950" lvl="0" indent="0" algn="l" rtl="0">
              <a:spcBef>
                <a:spcPts val="480"/>
              </a:spcBef>
              <a:spcAft>
                <a:spcPts val="0"/>
              </a:spcAft>
              <a:buNone/>
            </a:pPr>
            <a:endParaRPr sz="2441">
              <a:solidFill>
                <a:srgbClr val="333333"/>
              </a:solidFill>
              <a:highlight>
                <a:schemeClr val="lt1"/>
              </a:highlight>
              <a:latin typeface="Quattrocento Sans"/>
              <a:ea typeface="Quattrocento Sans"/>
              <a:cs typeface="Quattrocento Sans"/>
              <a:sym typeface="Quattrocento Sans"/>
            </a:endParaRPr>
          </a:p>
        </p:txBody>
      </p:sp>
      <p:sp>
        <p:nvSpPr>
          <p:cNvPr id="263" name="Google Shape;263;g116f0f54a95_0_16"/>
          <p:cNvSpPr txBox="1"/>
          <p:nvPr/>
        </p:nvSpPr>
        <p:spPr>
          <a:xfrm>
            <a:off x="522375" y="79692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Test Plan bao gồm những gì ?</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62">
                                            <p:txEl>
                                              <p:pRg st="0" end="0"/>
                                            </p:txEl>
                                          </p:spTgt>
                                        </p:tgtEl>
                                        <p:attrNameLst>
                                          <p:attrName>style.visibility</p:attrName>
                                        </p:attrNameLst>
                                      </p:cBhvr>
                                      <p:to>
                                        <p:strVal val="visible"/>
                                      </p:to>
                                    </p:set>
                                    <p:anim calcmode="lin" valueType="num">
                                      <p:cBhvr additive="base">
                                        <p:cTn id="7" dur="1000"/>
                                        <p:tgtEl>
                                          <p:spTgt spid="26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62">
                                            <p:txEl>
                                              <p:pRg st="1" end="1"/>
                                            </p:txEl>
                                          </p:spTgt>
                                        </p:tgtEl>
                                        <p:attrNameLst>
                                          <p:attrName>style.visibility</p:attrName>
                                        </p:attrNameLst>
                                      </p:cBhvr>
                                      <p:to>
                                        <p:strVal val="visible"/>
                                      </p:to>
                                    </p:set>
                                    <p:anim calcmode="lin" valueType="num">
                                      <p:cBhvr additive="base">
                                        <p:cTn id="12" dur="1000"/>
                                        <p:tgtEl>
                                          <p:spTgt spid="26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62">
                                            <p:txEl>
                                              <p:pRg st="2" end="2"/>
                                            </p:txEl>
                                          </p:spTgt>
                                        </p:tgtEl>
                                        <p:attrNameLst>
                                          <p:attrName>style.visibility</p:attrName>
                                        </p:attrNameLst>
                                      </p:cBhvr>
                                      <p:to>
                                        <p:strVal val="visible"/>
                                      </p:to>
                                    </p:set>
                                    <p:anim calcmode="lin" valueType="num">
                                      <p:cBhvr additive="base">
                                        <p:cTn id="17" dur="1000"/>
                                        <p:tgtEl>
                                          <p:spTgt spid="262">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62">
                                            <p:txEl>
                                              <p:pRg st="3" end="3"/>
                                            </p:txEl>
                                          </p:spTgt>
                                        </p:tgtEl>
                                        <p:attrNameLst>
                                          <p:attrName>style.visibility</p:attrName>
                                        </p:attrNameLst>
                                      </p:cBhvr>
                                      <p:to>
                                        <p:strVal val="visible"/>
                                      </p:to>
                                    </p:set>
                                    <p:anim calcmode="lin" valueType="num">
                                      <p:cBhvr additive="base">
                                        <p:cTn id="22" dur="1000"/>
                                        <p:tgtEl>
                                          <p:spTgt spid="262">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262">
                                            <p:txEl>
                                              <p:pRg st="4" end="4"/>
                                            </p:txEl>
                                          </p:spTgt>
                                        </p:tgtEl>
                                        <p:attrNameLst>
                                          <p:attrName>style.visibility</p:attrName>
                                        </p:attrNameLst>
                                      </p:cBhvr>
                                      <p:to>
                                        <p:strVal val="visible"/>
                                      </p:to>
                                    </p:set>
                                    <p:anim calcmode="lin" valueType="num">
                                      <p:cBhvr additive="base">
                                        <p:cTn id="27" dur="1000"/>
                                        <p:tgtEl>
                                          <p:spTgt spid="262">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262">
                                            <p:txEl>
                                              <p:pRg st="5" end="5"/>
                                            </p:txEl>
                                          </p:spTgt>
                                        </p:tgtEl>
                                        <p:attrNameLst>
                                          <p:attrName>style.visibility</p:attrName>
                                        </p:attrNameLst>
                                      </p:cBhvr>
                                      <p:to>
                                        <p:strVal val="visible"/>
                                      </p:to>
                                    </p:set>
                                    <p:anim calcmode="lin" valueType="num">
                                      <p:cBhvr additive="base">
                                        <p:cTn id="32" dur="1000"/>
                                        <p:tgtEl>
                                          <p:spTgt spid="262">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116f0f54a95_0_13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blackbox testing</a:t>
            </a:r>
            <a:endParaRPr/>
          </a:p>
        </p:txBody>
      </p:sp>
      <p:sp>
        <p:nvSpPr>
          <p:cNvPr id="269" name="Google Shape;269;g116f0f54a95_0_136"/>
          <p:cNvSpPr txBox="1"/>
          <p:nvPr/>
        </p:nvSpPr>
        <p:spPr>
          <a:xfrm>
            <a:off x="686100" y="924250"/>
            <a:ext cx="11338200" cy="5226000"/>
          </a:xfrm>
          <a:prstGeom prst="rect">
            <a:avLst/>
          </a:prstGeom>
          <a:noFill/>
          <a:ln>
            <a:noFill/>
          </a:ln>
        </p:spPr>
        <p:txBody>
          <a:bodyPr spcFirstLastPara="1" wrap="square" lIns="91425" tIns="45700" rIns="91425" bIns="45700" anchor="t" anchorCtr="0">
            <a:normAutofit/>
          </a:bodyPr>
          <a:lstStyle/>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Bước 5: Hoạch định nguồn lực(Resource Planning)</a:t>
            </a:r>
            <a:endParaRPr sz="3600">
              <a:solidFill>
                <a:schemeClr val="dk1"/>
              </a:solidFill>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Bước 6: Lên kế hoạch môi trường kiểm thử (Test Environment)</a:t>
            </a:r>
            <a:endParaRPr sz="3600">
              <a:solidFill>
                <a:schemeClr val="dk1"/>
              </a:solidFill>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Bước 7: Lịch trình &amp; Dự toán(Schedule &amp; Estimation)</a:t>
            </a:r>
            <a:endParaRPr sz="3600">
              <a:solidFill>
                <a:schemeClr val="dk1"/>
              </a:solidFill>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Bước 8: Xác định sản phẩm kiểm thử(Determine Test Deliverables)</a:t>
            </a:r>
            <a:endParaRPr sz="3600">
              <a:solidFill>
                <a:srgbClr val="333333"/>
              </a:solidFill>
              <a:highlight>
                <a:schemeClr val="lt1"/>
              </a:highlight>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69">
                                            <p:txEl>
                                              <p:pRg st="0" end="0"/>
                                            </p:txEl>
                                          </p:spTgt>
                                        </p:tgtEl>
                                        <p:attrNameLst>
                                          <p:attrName>style.visibility</p:attrName>
                                        </p:attrNameLst>
                                      </p:cBhvr>
                                      <p:to>
                                        <p:strVal val="visible"/>
                                      </p:to>
                                    </p:set>
                                    <p:anim calcmode="lin" valueType="num">
                                      <p:cBhvr additive="base">
                                        <p:cTn id="7" dur="1000"/>
                                        <p:tgtEl>
                                          <p:spTgt spid="269">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69">
                                            <p:txEl>
                                              <p:pRg st="1" end="1"/>
                                            </p:txEl>
                                          </p:spTgt>
                                        </p:tgtEl>
                                        <p:attrNameLst>
                                          <p:attrName>style.visibility</p:attrName>
                                        </p:attrNameLst>
                                      </p:cBhvr>
                                      <p:to>
                                        <p:strVal val="visible"/>
                                      </p:to>
                                    </p:set>
                                    <p:anim calcmode="lin" valueType="num">
                                      <p:cBhvr additive="base">
                                        <p:cTn id="12" dur="1000"/>
                                        <p:tgtEl>
                                          <p:spTgt spid="269">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69">
                                            <p:txEl>
                                              <p:pRg st="2" end="2"/>
                                            </p:txEl>
                                          </p:spTgt>
                                        </p:tgtEl>
                                        <p:attrNameLst>
                                          <p:attrName>style.visibility</p:attrName>
                                        </p:attrNameLst>
                                      </p:cBhvr>
                                      <p:to>
                                        <p:strVal val="visible"/>
                                      </p:to>
                                    </p:set>
                                    <p:anim calcmode="lin" valueType="num">
                                      <p:cBhvr additive="base">
                                        <p:cTn id="17" dur="1000"/>
                                        <p:tgtEl>
                                          <p:spTgt spid="269">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69">
                                            <p:txEl>
                                              <p:pRg st="3" end="3"/>
                                            </p:txEl>
                                          </p:spTgt>
                                        </p:tgtEl>
                                        <p:attrNameLst>
                                          <p:attrName>style.visibility</p:attrName>
                                        </p:attrNameLst>
                                      </p:cBhvr>
                                      <p:to>
                                        <p:strVal val="visible"/>
                                      </p:to>
                                    </p:set>
                                    <p:anim calcmode="lin" valueType="num">
                                      <p:cBhvr additive="base">
                                        <p:cTn id="22" dur="1000"/>
                                        <p:tgtEl>
                                          <p:spTgt spid="269">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g116f0f54a95_0_14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blackbox testing</a:t>
            </a:r>
            <a:endParaRPr/>
          </a:p>
        </p:txBody>
      </p:sp>
      <p:pic>
        <p:nvPicPr>
          <p:cNvPr id="275" name="Google Shape;275;g116f0f54a95_0_142"/>
          <p:cNvPicPr preferRelativeResize="0"/>
          <p:nvPr/>
        </p:nvPicPr>
        <p:blipFill>
          <a:blip r:embed="rId3">
            <a:alphaModFix/>
          </a:blip>
          <a:stretch>
            <a:fillRect/>
          </a:stretch>
        </p:blipFill>
        <p:spPr>
          <a:xfrm>
            <a:off x="1800899" y="961925"/>
            <a:ext cx="7889600" cy="55580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g116f0f54a95_0_12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analyze the product</a:t>
            </a:r>
            <a:endParaRPr/>
          </a:p>
        </p:txBody>
      </p:sp>
      <p:sp>
        <p:nvSpPr>
          <p:cNvPr id="281" name="Google Shape;281;g116f0f54a95_0_122"/>
          <p:cNvSpPr txBox="1"/>
          <p:nvPr/>
        </p:nvSpPr>
        <p:spPr>
          <a:xfrm>
            <a:off x="522375" y="1597325"/>
            <a:ext cx="11338200" cy="4733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Câu hỏi đặt ra là làm thế nào bạn có thể kiểm tra một sản phẩm mà không có bất kỳ thông tin nào về nó?</a:t>
            </a:r>
            <a:endParaRPr sz="3600">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Câu trả lời là Không thể. Bạn phải tìm hiểu kỹ một sản phẩm trước khi thử nghiệm.</a:t>
            </a:r>
            <a:endParaRPr sz="3600">
              <a:latin typeface="Quattrocento Sans"/>
              <a:ea typeface="Quattrocento Sans"/>
              <a:cs typeface="Quattrocento Sans"/>
              <a:sym typeface="Quattrocento Sans"/>
            </a:endParaRPr>
          </a:p>
          <a:p>
            <a:pPr marL="742950" lvl="0" indent="0" algn="l" rtl="0">
              <a:spcBef>
                <a:spcPts val="480"/>
              </a:spcBef>
              <a:spcAft>
                <a:spcPts val="0"/>
              </a:spcAft>
              <a:buNone/>
            </a:pPr>
            <a:endParaRPr sz="2441">
              <a:solidFill>
                <a:srgbClr val="333333"/>
              </a:solidFill>
              <a:highlight>
                <a:schemeClr val="lt1"/>
              </a:highlight>
              <a:latin typeface="Quattrocento Sans"/>
              <a:ea typeface="Quattrocento Sans"/>
              <a:cs typeface="Quattrocento Sans"/>
              <a:sym typeface="Quattrocento Sans"/>
            </a:endParaRPr>
          </a:p>
        </p:txBody>
      </p:sp>
      <p:sp>
        <p:nvSpPr>
          <p:cNvPr id="282" name="Google Shape;282;g116f0f54a95_0_122"/>
          <p:cNvSpPr txBox="1"/>
          <p:nvPr/>
        </p:nvSpPr>
        <p:spPr>
          <a:xfrm>
            <a:off x="522375" y="79692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Phân tích sản phẩm</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81">
                                            <p:txEl>
                                              <p:pRg st="0" end="0"/>
                                            </p:txEl>
                                          </p:spTgt>
                                        </p:tgtEl>
                                        <p:attrNameLst>
                                          <p:attrName>style.visibility</p:attrName>
                                        </p:attrNameLst>
                                      </p:cBhvr>
                                      <p:to>
                                        <p:strVal val="visible"/>
                                      </p:to>
                                    </p:set>
                                    <p:anim calcmode="lin" valueType="num">
                                      <p:cBhvr additive="base">
                                        <p:cTn id="7" dur="1000"/>
                                        <p:tgtEl>
                                          <p:spTgt spid="28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81">
                                            <p:txEl>
                                              <p:pRg st="1" end="1"/>
                                            </p:txEl>
                                          </p:spTgt>
                                        </p:tgtEl>
                                        <p:attrNameLst>
                                          <p:attrName>style.visibility</p:attrName>
                                        </p:attrNameLst>
                                      </p:cBhvr>
                                      <p:to>
                                        <p:strVal val="visible"/>
                                      </p:to>
                                    </p:set>
                                    <p:anim calcmode="lin" valueType="num">
                                      <p:cBhvr additive="base">
                                        <p:cTn id="12" dur="1000"/>
                                        <p:tgtEl>
                                          <p:spTgt spid="28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81">
                                            <p:txEl>
                                              <p:pRg st="2" end="2"/>
                                            </p:txEl>
                                          </p:spTgt>
                                        </p:tgtEl>
                                        <p:attrNameLst>
                                          <p:attrName>style.visibility</p:attrName>
                                        </p:attrNameLst>
                                      </p:cBhvr>
                                      <p:to>
                                        <p:strVal val="visible"/>
                                      </p:to>
                                    </p:set>
                                    <p:anim calcmode="lin" valueType="num">
                                      <p:cBhvr additive="base">
                                        <p:cTn id="17" dur="1000"/>
                                        <p:tgtEl>
                                          <p:spTgt spid="281">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g116f0f54a95_0_17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analyze the product</a:t>
            </a:r>
            <a:endParaRPr/>
          </a:p>
        </p:txBody>
      </p:sp>
      <p:sp>
        <p:nvSpPr>
          <p:cNvPr id="288" name="Google Shape;288;g116f0f54a95_0_171"/>
          <p:cNvSpPr txBox="1"/>
          <p:nvPr/>
        </p:nvSpPr>
        <p:spPr>
          <a:xfrm>
            <a:off x="522375" y="1597325"/>
            <a:ext cx="11338200" cy="49515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3600">
                <a:latin typeface="Quattrocento Sans"/>
                <a:ea typeface="Quattrocento Sans"/>
                <a:cs typeface="Quattrocento Sans"/>
                <a:sym typeface="Quattrocento Sans"/>
              </a:rPr>
              <a:t>Ví dụ: Sản phẩm đang được kiểm thử là trang web ngân hàng Guru99. Bạn nên nghiên cứu khách hàng và người dùng cuối để biết nhu cầu và mong đợi của họ từ ứng dụng. Sau đó hãy đặt một số câu hỏi như : </a:t>
            </a:r>
            <a:endParaRPr sz="3600">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Ai sẽ sử dụng trang web?</a:t>
            </a:r>
            <a:endParaRPr sz="3600">
              <a:solidFill>
                <a:schemeClr val="dk1"/>
              </a:solidFill>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Cái này được dùng để làm gì?</a:t>
            </a:r>
            <a:endParaRPr sz="3600">
              <a:solidFill>
                <a:schemeClr val="dk1"/>
              </a:solidFill>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Nó sẽ làm việc như thế nào?</a:t>
            </a:r>
            <a:endParaRPr sz="3600">
              <a:solidFill>
                <a:schemeClr val="dk1"/>
              </a:solidFill>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Phần mềm / phần cứng sản phẩm sử dụng là gì?</a:t>
            </a:r>
            <a:endParaRPr sz="2441">
              <a:solidFill>
                <a:srgbClr val="333333"/>
              </a:solidFill>
              <a:highlight>
                <a:schemeClr val="lt1"/>
              </a:highlight>
              <a:latin typeface="Quattrocento Sans"/>
              <a:ea typeface="Quattrocento Sans"/>
              <a:cs typeface="Quattrocento Sans"/>
              <a:sym typeface="Quattrocento Sans"/>
            </a:endParaRPr>
          </a:p>
        </p:txBody>
      </p:sp>
      <p:sp>
        <p:nvSpPr>
          <p:cNvPr id="289" name="Google Shape;289;g116f0f54a95_0_171"/>
          <p:cNvSpPr txBox="1"/>
          <p:nvPr/>
        </p:nvSpPr>
        <p:spPr>
          <a:xfrm>
            <a:off x="522375" y="79692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rgbClr val="333333"/>
                </a:solidFill>
                <a:latin typeface="Quattrocento Sans"/>
                <a:ea typeface="Quattrocento Sans"/>
                <a:cs typeface="Quattrocento Sans"/>
                <a:sym typeface="Quattrocento Sans"/>
              </a:rPr>
              <a:t>Ví dụ về Phân tích sản phẩm</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88">
                                            <p:txEl>
                                              <p:pRg st="0" end="0"/>
                                            </p:txEl>
                                          </p:spTgt>
                                        </p:tgtEl>
                                        <p:attrNameLst>
                                          <p:attrName>style.visibility</p:attrName>
                                        </p:attrNameLst>
                                      </p:cBhvr>
                                      <p:to>
                                        <p:strVal val="visible"/>
                                      </p:to>
                                    </p:set>
                                    <p:anim calcmode="lin" valueType="num">
                                      <p:cBhvr additive="base">
                                        <p:cTn id="7" dur="1000"/>
                                        <p:tgtEl>
                                          <p:spTgt spid="28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88">
                                            <p:txEl>
                                              <p:pRg st="1" end="1"/>
                                            </p:txEl>
                                          </p:spTgt>
                                        </p:tgtEl>
                                        <p:attrNameLst>
                                          <p:attrName>style.visibility</p:attrName>
                                        </p:attrNameLst>
                                      </p:cBhvr>
                                      <p:to>
                                        <p:strVal val="visible"/>
                                      </p:to>
                                    </p:set>
                                    <p:anim calcmode="lin" valueType="num">
                                      <p:cBhvr additive="base">
                                        <p:cTn id="12" dur="1000"/>
                                        <p:tgtEl>
                                          <p:spTgt spid="288">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88">
                                            <p:txEl>
                                              <p:pRg st="2" end="2"/>
                                            </p:txEl>
                                          </p:spTgt>
                                        </p:tgtEl>
                                        <p:attrNameLst>
                                          <p:attrName>style.visibility</p:attrName>
                                        </p:attrNameLst>
                                      </p:cBhvr>
                                      <p:to>
                                        <p:strVal val="visible"/>
                                      </p:to>
                                    </p:set>
                                    <p:anim calcmode="lin" valueType="num">
                                      <p:cBhvr additive="base">
                                        <p:cTn id="17" dur="1000"/>
                                        <p:tgtEl>
                                          <p:spTgt spid="288">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88">
                                            <p:txEl>
                                              <p:pRg st="3" end="3"/>
                                            </p:txEl>
                                          </p:spTgt>
                                        </p:tgtEl>
                                        <p:attrNameLst>
                                          <p:attrName>style.visibility</p:attrName>
                                        </p:attrNameLst>
                                      </p:cBhvr>
                                      <p:to>
                                        <p:strVal val="visible"/>
                                      </p:to>
                                    </p:set>
                                    <p:anim calcmode="lin" valueType="num">
                                      <p:cBhvr additive="base">
                                        <p:cTn id="22" dur="1000"/>
                                        <p:tgtEl>
                                          <p:spTgt spid="288">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288">
                                            <p:txEl>
                                              <p:pRg st="4" end="4"/>
                                            </p:txEl>
                                          </p:spTgt>
                                        </p:tgtEl>
                                        <p:attrNameLst>
                                          <p:attrName>style.visibility</p:attrName>
                                        </p:attrNameLst>
                                      </p:cBhvr>
                                      <p:to>
                                        <p:strVal val="visible"/>
                                      </p:to>
                                    </p:set>
                                    <p:anim calcmode="lin" valueType="num">
                                      <p:cBhvr additive="base">
                                        <p:cTn id="27" dur="1000"/>
                                        <p:tgtEl>
                                          <p:spTgt spid="288">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116f0f54a95_0_18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analyze the product</a:t>
            </a:r>
            <a:endParaRPr/>
          </a:p>
        </p:txBody>
      </p:sp>
      <p:sp>
        <p:nvSpPr>
          <p:cNvPr id="295" name="Google Shape;295;g116f0f54a95_0_181"/>
          <p:cNvSpPr txBox="1"/>
          <p:nvPr/>
        </p:nvSpPr>
        <p:spPr>
          <a:xfrm>
            <a:off x="-441550" y="1543875"/>
            <a:ext cx="7135800" cy="5186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sz="3600">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Phỏng vấn khách hàng, designer, lập trình viên</a:t>
            </a:r>
            <a:endParaRPr sz="3600">
              <a:solidFill>
                <a:schemeClr val="dk1"/>
              </a:solidFill>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Review lại tài liệu của sản phẩm và dự án</a:t>
            </a:r>
            <a:endParaRPr sz="3600">
              <a:solidFill>
                <a:schemeClr val="dk1"/>
              </a:solidFill>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Thực hiện theo hướng dẫn phần mềm</a:t>
            </a:r>
            <a:endParaRPr sz="3600">
              <a:solidFill>
                <a:schemeClr val="dk1"/>
              </a:solidFill>
              <a:latin typeface="Quattrocento Sans"/>
              <a:ea typeface="Quattrocento Sans"/>
              <a:cs typeface="Quattrocento Sans"/>
              <a:sym typeface="Quattrocento Sans"/>
            </a:endParaRPr>
          </a:p>
        </p:txBody>
      </p:sp>
      <p:pic>
        <p:nvPicPr>
          <p:cNvPr id="296" name="Google Shape;296;g116f0f54a95_0_181"/>
          <p:cNvPicPr preferRelativeResize="0"/>
          <p:nvPr/>
        </p:nvPicPr>
        <p:blipFill>
          <a:blip r:embed="rId3">
            <a:alphaModFix/>
          </a:blip>
          <a:stretch>
            <a:fillRect/>
          </a:stretch>
        </p:blipFill>
        <p:spPr>
          <a:xfrm>
            <a:off x="6616550" y="2148250"/>
            <a:ext cx="5575450" cy="3709250"/>
          </a:xfrm>
          <a:prstGeom prst="rect">
            <a:avLst/>
          </a:prstGeom>
          <a:noFill/>
          <a:ln>
            <a:noFill/>
          </a:ln>
        </p:spPr>
      </p:pic>
      <p:sp>
        <p:nvSpPr>
          <p:cNvPr id="297" name="Google Shape;297;g116f0f54a95_0_181"/>
          <p:cNvSpPr txBox="1"/>
          <p:nvPr/>
        </p:nvSpPr>
        <p:spPr>
          <a:xfrm>
            <a:off x="569975" y="836750"/>
            <a:ext cx="11472600" cy="1236900"/>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None/>
            </a:pPr>
            <a:r>
              <a:rPr lang="en-US" sz="4000">
                <a:latin typeface="Quattrocento Sans"/>
                <a:ea typeface="Quattrocento Sans"/>
                <a:cs typeface="Quattrocento Sans"/>
                <a:sym typeface="Quattrocento Sans"/>
              </a:rPr>
              <a:t>Bạn có thể sử dụng phương pháp sau để phân tích trang web</a:t>
            </a:r>
            <a:r>
              <a:rPr lang="en-US" sz="3600">
                <a:latin typeface="Quattrocento Sans"/>
                <a:ea typeface="Quattrocento Sans"/>
                <a:cs typeface="Quattrocento Sans"/>
                <a:sym typeface="Quattrocento Sans"/>
              </a:rPr>
              <a:t> </a:t>
            </a:r>
            <a:endParaRPr sz="36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95">
                                            <p:txEl>
                                              <p:pRg st="0" end="0"/>
                                            </p:txEl>
                                          </p:spTgt>
                                        </p:tgtEl>
                                        <p:attrNameLst>
                                          <p:attrName>style.visibility</p:attrName>
                                        </p:attrNameLst>
                                      </p:cBhvr>
                                      <p:to>
                                        <p:strVal val="visible"/>
                                      </p:to>
                                    </p:set>
                                    <p:anim calcmode="lin" valueType="num">
                                      <p:cBhvr additive="base">
                                        <p:cTn id="7" dur="1000"/>
                                        <p:tgtEl>
                                          <p:spTgt spid="295">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95">
                                            <p:txEl>
                                              <p:pRg st="1" end="1"/>
                                            </p:txEl>
                                          </p:spTgt>
                                        </p:tgtEl>
                                        <p:attrNameLst>
                                          <p:attrName>style.visibility</p:attrName>
                                        </p:attrNameLst>
                                      </p:cBhvr>
                                      <p:to>
                                        <p:strVal val="visible"/>
                                      </p:to>
                                    </p:set>
                                    <p:anim calcmode="lin" valueType="num">
                                      <p:cBhvr additive="base">
                                        <p:cTn id="12" dur="1000"/>
                                        <p:tgtEl>
                                          <p:spTgt spid="295">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95">
                                            <p:txEl>
                                              <p:pRg st="2" end="2"/>
                                            </p:txEl>
                                          </p:spTgt>
                                        </p:tgtEl>
                                        <p:attrNameLst>
                                          <p:attrName>style.visibility</p:attrName>
                                        </p:attrNameLst>
                                      </p:cBhvr>
                                      <p:to>
                                        <p:strVal val="visible"/>
                                      </p:to>
                                    </p:set>
                                    <p:anim calcmode="lin" valueType="num">
                                      <p:cBhvr additive="base">
                                        <p:cTn id="17" dur="1000"/>
                                        <p:tgtEl>
                                          <p:spTgt spid="295">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95">
                                            <p:txEl>
                                              <p:pRg st="3" end="3"/>
                                            </p:txEl>
                                          </p:spTgt>
                                        </p:tgtEl>
                                        <p:attrNameLst>
                                          <p:attrName>style.visibility</p:attrName>
                                        </p:attrNameLst>
                                      </p:cBhvr>
                                      <p:to>
                                        <p:strVal val="visible"/>
                                      </p:to>
                                    </p:set>
                                    <p:anim calcmode="lin" valueType="num">
                                      <p:cBhvr additive="base">
                                        <p:cTn id="22" dur="1000"/>
                                        <p:tgtEl>
                                          <p:spTgt spid="295">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g116f0f54a95_0_205"/>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analyze the product</a:t>
            </a:r>
            <a:endParaRPr/>
          </a:p>
        </p:txBody>
      </p:sp>
      <p:sp>
        <p:nvSpPr>
          <p:cNvPr id="303" name="Google Shape;303;g116f0f54a95_0_205"/>
          <p:cNvSpPr txBox="1"/>
          <p:nvPr/>
        </p:nvSpPr>
        <p:spPr>
          <a:xfrm>
            <a:off x="576950" y="953250"/>
            <a:ext cx="11338200" cy="49515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sz="3600">
                <a:latin typeface="Quattrocento Sans"/>
                <a:ea typeface="Quattrocento Sans"/>
                <a:cs typeface="Quattrocento Sans"/>
                <a:sym typeface="Quattrocento Sans"/>
              </a:rPr>
              <a:t>Bây giờ hãy Áp dụng kiến ​​thức trên cho một sản phẩm thực tế: Phân tích trang web ngân hàng </a:t>
            </a:r>
            <a:r>
              <a:rPr lang="en-US" sz="3600">
                <a:solidFill>
                  <a:srgbClr val="1155CC"/>
                </a:solidFill>
                <a:latin typeface="Quattrocento Sans"/>
                <a:ea typeface="Quattrocento Sans"/>
                <a:cs typeface="Quattrocento Sans"/>
                <a:sym typeface="Quattrocento Sans"/>
              </a:rPr>
              <a:t>http://demo.guru99.com/V4</a:t>
            </a:r>
            <a:endParaRPr sz="3600">
              <a:solidFill>
                <a:srgbClr val="1155CC"/>
              </a:solidFill>
              <a:latin typeface="Quattrocento Sans"/>
              <a:ea typeface="Quattrocento Sans"/>
              <a:cs typeface="Quattrocento Sans"/>
              <a:sym typeface="Quattrocento Sans"/>
            </a:endParaRPr>
          </a:p>
          <a:p>
            <a:pPr marL="0" lvl="0" indent="0" algn="l" rtl="0">
              <a:spcBef>
                <a:spcPts val="0"/>
              </a:spcBef>
              <a:spcAft>
                <a:spcPts val="0"/>
              </a:spcAft>
              <a:buClr>
                <a:schemeClr val="dk1"/>
              </a:buClr>
              <a:buSzPts val="1100"/>
              <a:buFont typeface="Arial"/>
              <a:buNone/>
            </a:pPr>
            <a:endParaRPr sz="3600">
              <a:latin typeface="Quattrocento Sans"/>
              <a:ea typeface="Quattrocento Sans"/>
              <a:cs typeface="Quattrocento Sans"/>
              <a:sym typeface="Quattrocento Sans"/>
            </a:endParaRPr>
          </a:p>
          <a:p>
            <a:pPr marL="0" lvl="0" indent="0" algn="l" rtl="0">
              <a:spcBef>
                <a:spcPts val="0"/>
              </a:spcBef>
              <a:spcAft>
                <a:spcPts val="0"/>
              </a:spcAft>
              <a:buNone/>
            </a:pPr>
            <a:r>
              <a:rPr lang="en-US" sz="3600" i="1">
                <a:latin typeface="Quattrocento Sans"/>
                <a:ea typeface="Quattrocento Sans"/>
                <a:cs typeface="Quattrocento Sans"/>
                <a:sym typeface="Quattrocento Sans"/>
              </a:rPr>
              <a:t>Chú ý: Bạn nên xem qua trang web này để giúp bạn hiểu tất cả các tính năng của trang web cũng như cách sử dụng nó.</a:t>
            </a:r>
            <a:endParaRPr sz="3600" i="1">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03">
                                            <p:txEl>
                                              <p:pRg st="0" end="0"/>
                                            </p:txEl>
                                          </p:spTgt>
                                        </p:tgtEl>
                                        <p:attrNameLst>
                                          <p:attrName>style.visibility</p:attrName>
                                        </p:attrNameLst>
                                      </p:cBhvr>
                                      <p:to>
                                        <p:strVal val="visible"/>
                                      </p:to>
                                    </p:set>
                                    <p:anim calcmode="lin" valueType="num">
                                      <p:cBhvr additive="base">
                                        <p:cTn id="7" dur="1000"/>
                                        <p:tgtEl>
                                          <p:spTgt spid="30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03">
                                            <p:txEl>
                                              <p:pRg st="1" end="1"/>
                                            </p:txEl>
                                          </p:spTgt>
                                        </p:tgtEl>
                                        <p:attrNameLst>
                                          <p:attrName>style.visibility</p:attrName>
                                        </p:attrNameLst>
                                      </p:cBhvr>
                                      <p:to>
                                        <p:strVal val="visible"/>
                                      </p:to>
                                    </p:set>
                                    <p:anim calcmode="lin" valueType="num">
                                      <p:cBhvr additive="base">
                                        <p:cTn id="12" dur="1000"/>
                                        <p:tgtEl>
                                          <p:spTgt spid="303">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03">
                                            <p:txEl>
                                              <p:pRg st="2" end="2"/>
                                            </p:txEl>
                                          </p:spTgt>
                                        </p:tgtEl>
                                        <p:attrNameLst>
                                          <p:attrName>style.visibility</p:attrName>
                                        </p:attrNameLst>
                                      </p:cBhvr>
                                      <p:to>
                                        <p:strVal val="visible"/>
                                      </p:to>
                                    </p:set>
                                    <p:anim calcmode="lin" valueType="num">
                                      <p:cBhvr additive="base">
                                        <p:cTn id="17" dur="1000"/>
                                        <p:tgtEl>
                                          <p:spTgt spid="303">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116f0f54a95_0_18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design test strategy</a:t>
            </a:r>
            <a:endParaRPr/>
          </a:p>
        </p:txBody>
      </p:sp>
      <p:sp>
        <p:nvSpPr>
          <p:cNvPr id="309" name="Google Shape;309;g116f0f54a95_0_189"/>
          <p:cNvSpPr txBox="1"/>
          <p:nvPr/>
        </p:nvSpPr>
        <p:spPr>
          <a:xfrm>
            <a:off x="522375" y="1597325"/>
            <a:ext cx="11338200" cy="52260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Chiến lược kiểm thử là một bước quan trọng trong việc lập một test plan. Tài liệu chiến lược kiểm thử, là tài liệu cấp cao, thường được phát triển bởi Test Manager. Tài liệu này xác định:</a:t>
            </a:r>
            <a:endParaRPr sz="3600">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Mục tiêu kiểm thử của dự án và các phương tiện để đạt được chúng</a:t>
            </a:r>
            <a:endParaRPr sz="3600">
              <a:solidFill>
                <a:schemeClr val="dk1"/>
              </a:solidFill>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Xác định nỗ lực và chi phí kiểm thử</a:t>
            </a:r>
            <a:endParaRPr sz="3600">
              <a:solidFill>
                <a:schemeClr val="dk1"/>
              </a:solidFill>
              <a:latin typeface="Quattrocento Sans"/>
              <a:ea typeface="Quattrocento Sans"/>
              <a:cs typeface="Quattrocento Sans"/>
              <a:sym typeface="Quattrocento Sans"/>
            </a:endParaRPr>
          </a:p>
          <a:p>
            <a:pPr marL="742950" lvl="0" indent="0" algn="l" rtl="0">
              <a:spcBef>
                <a:spcPts val="480"/>
              </a:spcBef>
              <a:spcAft>
                <a:spcPts val="0"/>
              </a:spcAft>
              <a:buNone/>
            </a:pPr>
            <a:endParaRPr sz="2441">
              <a:solidFill>
                <a:srgbClr val="333333"/>
              </a:solidFill>
              <a:highlight>
                <a:schemeClr val="lt1"/>
              </a:highlight>
              <a:latin typeface="Quattrocento Sans"/>
              <a:ea typeface="Quattrocento Sans"/>
              <a:cs typeface="Quattrocento Sans"/>
              <a:sym typeface="Quattrocento Sans"/>
            </a:endParaRPr>
          </a:p>
        </p:txBody>
      </p:sp>
      <p:sp>
        <p:nvSpPr>
          <p:cNvPr id="310" name="Google Shape;310;g116f0f54a95_0_189"/>
          <p:cNvSpPr txBox="1"/>
          <p:nvPr/>
        </p:nvSpPr>
        <p:spPr>
          <a:xfrm>
            <a:off x="522375" y="79692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Thiết kế chiến lược kiểm thử</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09">
                                            <p:txEl>
                                              <p:pRg st="0" end="0"/>
                                            </p:txEl>
                                          </p:spTgt>
                                        </p:tgtEl>
                                        <p:attrNameLst>
                                          <p:attrName>style.visibility</p:attrName>
                                        </p:attrNameLst>
                                      </p:cBhvr>
                                      <p:to>
                                        <p:strVal val="visible"/>
                                      </p:to>
                                    </p:set>
                                    <p:anim calcmode="lin" valueType="num">
                                      <p:cBhvr additive="base">
                                        <p:cTn id="7" dur="1000"/>
                                        <p:tgtEl>
                                          <p:spTgt spid="309">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09">
                                            <p:txEl>
                                              <p:pRg st="1" end="1"/>
                                            </p:txEl>
                                          </p:spTgt>
                                        </p:tgtEl>
                                        <p:attrNameLst>
                                          <p:attrName>style.visibility</p:attrName>
                                        </p:attrNameLst>
                                      </p:cBhvr>
                                      <p:to>
                                        <p:strVal val="visible"/>
                                      </p:to>
                                    </p:set>
                                    <p:anim calcmode="lin" valueType="num">
                                      <p:cBhvr additive="base">
                                        <p:cTn id="12" dur="1000"/>
                                        <p:tgtEl>
                                          <p:spTgt spid="309">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09">
                                            <p:txEl>
                                              <p:pRg st="2" end="2"/>
                                            </p:txEl>
                                          </p:spTgt>
                                        </p:tgtEl>
                                        <p:attrNameLst>
                                          <p:attrName>style.visibility</p:attrName>
                                        </p:attrNameLst>
                                      </p:cBhvr>
                                      <p:to>
                                        <p:strVal val="visible"/>
                                      </p:to>
                                    </p:set>
                                    <p:anim calcmode="lin" valueType="num">
                                      <p:cBhvr additive="base">
                                        <p:cTn id="17" dur="1000"/>
                                        <p:tgtEl>
                                          <p:spTgt spid="309">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09">
                                            <p:txEl>
                                              <p:pRg st="3" end="3"/>
                                            </p:txEl>
                                          </p:spTgt>
                                        </p:tgtEl>
                                        <p:attrNameLst>
                                          <p:attrName>style.visibility</p:attrName>
                                        </p:attrNameLst>
                                      </p:cBhvr>
                                      <p:to>
                                        <p:strVal val="visible"/>
                                      </p:to>
                                    </p:set>
                                    <p:anim calcmode="lin" valueType="num">
                                      <p:cBhvr additive="base">
                                        <p:cTn id="22" dur="1000"/>
                                        <p:tgtEl>
                                          <p:spTgt spid="309">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g116f0f54a95_0_19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design test strategy</a:t>
            </a:r>
            <a:endParaRPr/>
          </a:p>
        </p:txBody>
      </p:sp>
      <p:sp>
        <p:nvSpPr>
          <p:cNvPr id="316" name="Google Shape;316;g116f0f54a95_0_197"/>
          <p:cNvSpPr txBox="1"/>
          <p:nvPr/>
        </p:nvSpPr>
        <p:spPr>
          <a:xfrm>
            <a:off x="522375" y="1597325"/>
            <a:ext cx="11338200" cy="5226000"/>
          </a:xfrm>
          <a:prstGeom prst="rect">
            <a:avLst/>
          </a:prstGeom>
          <a:noFill/>
          <a:ln>
            <a:noFill/>
          </a:ln>
        </p:spPr>
        <p:txBody>
          <a:bodyPr spcFirstLastPara="1" wrap="square" lIns="91425" tIns="45700" rIns="91425" bIns="45700" anchor="t" anchorCtr="0">
            <a:normAutofit/>
          </a:bodyPr>
          <a:lstStyle/>
          <a:p>
            <a:pPr marL="742950" lvl="1" indent="-355600" algn="l" rtl="0">
              <a:spcBef>
                <a:spcPts val="0"/>
              </a:spcBef>
              <a:spcAft>
                <a:spcPts val="0"/>
              </a:spcAft>
              <a:buClr>
                <a:srgbClr val="FF5A33"/>
              </a:buClr>
              <a:buSzPts val="3500"/>
              <a:buFont typeface="Quattrocento Sans"/>
              <a:buChar char="❖"/>
            </a:pPr>
            <a:r>
              <a:rPr lang="en-US" sz="3500" dirty="0">
                <a:latin typeface="Quattrocento Sans"/>
                <a:ea typeface="Quattrocento Sans"/>
                <a:cs typeface="Quattrocento Sans"/>
                <a:sym typeface="Quattrocento Sans"/>
              </a:rPr>
              <a:t>Ở </a:t>
            </a:r>
            <a:r>
              <a:rPr lang="en-US" sz="3500" b="1" dirty="0" err="1">
                <a:latin typeface="Quattrocento Sans"/>
                <a:ea typeface="Quattrocento Sans"/>
                <a:cs typeface="Quattrocento Sans"/>
                <a:sym typeface="Quattrocento Sans"/>
              </a:rPr>
              <a:t>ví</a:t>
            </a:r>
            <a:r>
              <a:rPr lang="en-US" sz="3500" b="1" dirty="0">
                <a:latin typeface="Quattrocento Sans"/>
                <a:ea typeface="Quattrocento Sans"/>
                <a:cs typeface="Quattrocento Sans"/>
                <a:sym typeface="Quattrocento Sans"/>
              </a:rPr>
              <a:t> </a:t>
            </a:r>
            <a:r>
              <a:rPr lang="en-US" sz="3500" b="1" dirty="0" err="1">
                <a:latin typeface="Quattrocento Sans"/>
                <a:ea typeface="Quattrocento Sans"/>
                <a:cs typeface="Quattrocento Sans"/>
                <a:sym typeface="Quattrocento Sans"/>
              </a:rPr>
              <a:t>dụ</a:t>
            </a:r>
            <a:r>
              <a:rPr lang="en-US" sz="3500" b="1" dirty="0">
                <a:latin typeface="Quattrocento Sans"/>
                <a:ea typeface="Quattrocento Sans"/>
                <a:cs typeface="Quattrocento Sans"/>
                <a:sym typeface="Quattrocento Sans"/>
              </a:rPr>
              <a:t> </a:t>
            </a:r>
            <a:r>
              <a:rPr lang="en-US" sz="3500" b="1" dirty="0" err="1">
                <a:latin typeface="Quattrocento Sans"/>
                <a:ea typeface="Quattrocento Sans"/>
                <a:cs typeface="Quattrocento Sans"/>
                <a:sym typeface="Quattrocento Sans"/>
              </a:rPr>
              <a:t>phần</a:t>
            </a:r>
            <a:r>
              <a:rPr lang="en-US" sz="3500" b="1" dirty="0">
                <a:latin typeface="Quattrocento Sans"/>
                <a:ea typeface="Quattrocento Sans"/>
                <a:cs typeface="Quattrocento Sans"/>
                <a:sym typeface="Quattrocento Sans"/>
              </a:rPr>
              <a:t> </a:t>
            </a:r>
            <a:r>
              <a:rPr lang="en-US" sz="3500" b="1" dirty="0" err="1">
                <a:latin typeface="Quattrocento Sans"/>
                <a:ea typeface="Quattrocento Sans"/>
                <a:cs typeface="Quattrocento Sans"/>
                <a:sym typeface="Quattrocento Sans"/>
              </a:rPr>
              <a:t>phân</a:t>
            </a:r>
            <a:r>
              <a:rPr lang="en-US" sz="3500" b="1" dirty="0">
                <a:latin typeface="Quattrocento Sans"/>
                <a:ea typeface="Quattrocento Sans"/>
                <a:cs typeface="Quattrocento Sans"/>
                <a:sym typeface="Quattrocento Sans"/>
              </a:rPr>
              <a:t> </a:t>
            </a:r>
            <a:r>
              <a:rPr lang="en-US" sz="3500" b="1" dirty="0" err="1">
                <a:latin typeface="Quattrocento Sans"/>
                <a:ea typeface="Quattrocento Sans"/>
                <a:cs typeface="Quattrocento Sans"/>
                <a:sym typeface="Quattrocento Sans"/>
              </a:rPr>
              <a:t>tích</a:t>
            </a:r>
            <a:r>
              <a:rPr lang="en-US" sz="3500" b="1" dirty="0">
                <a:latin typeface="Quattrocento Sans"/>
                <a:ea typeface="Quattrocento Sans"/>
                <a:cs typeface="Quattrocento Sans"/>
                <a:sym typeface="Quattrocento Sans"/>
              </a:rPr>
              <a:t> </a:t>
            </a:r>
            <a:r>
              <a:rPr lang="en-US" sz="3500" b="1" dirty="0" err="1">
                <a:latin typeface="Quattrocento Sans"/>
                <a:ea typeface="Quattrocento Sans"/>
                <a:cs typeface="Quattrocento Sans"/>
                <a:sym typeface="Quattrocento Sans"/>
              </a:rPr>
              <a:t>sản</a:t>
            </a:r>
            <a:r>
              <a:rPr lang="en-US" sz="3500" b="1" dirty="0">
                <a:latin typeface="Quattrocento Sans"/>
                <a:ea typeface="Quattrocento Sans"/>
                <a:cs typeface="Quattrocento Sans"/>
                <a:sym typeface="Quattrocento Sans"/>
              </a:rPr>
              <a:t> </a:t>
            </a:r>
            <a:r>
              <a:rPr lang="en-US" sz="3500" b="1" dirty="0" err="1">
                <a:latin typeface="Quattrocento Sans"/>
                <a:ea typeface="Quattrocento Sans"/>
                <a:cs typeface="Quattrocento Sans"/>
                <a:sym typeface="Quattrocento Sans"/>
              </a:rPr>
              <a:t>phẩm</a:t>
            </a:r>
            <a:r>
              <a:rPr lang="en-US" sz="3500" b="1" dirty="0">
                <a:latin typeface="Quattrocento Sans"/>
                <a:ea typeface="Quattrocento Sans"/>
                <a:cs typeface="Quattrocento Sans"/>
                <a:sym typeface="Quattrocento Sans"/>
              </a:rPr>
              <a:t> web </a:t>
            </a:r>
            <a:r>
              <a:rPr lang="en-US" sz="3500" b="1" dirty="0" err="1">
                <a:latin typeface="Quattrocento Sans"/>
                <a:ea typeface="Quattrocento Sans"/>
                <a:cs typeface="Quattrocento Sans"/>
                <a:sym typeface="Quattrocento Sans"/>
              </a:rPr>
              <a:t>ngân</a:t>
            </a:r>
            <a:r>
              <a:rPr lang="en-US" sz="3500" b="1" dirty="0">
                <a:latin typeface="Quattrocento Sans"/>
                <a:ea typeface="Quattrocento Sans"/>
                <a:cs typeface="Quattrocento Sans"/>
                <a:sym typeface="Quattrocento Sans"/>
              </a:rPr>
              <a:t> </a:t>
            </a:r>
            <a:r>
              <a:rPr lang="en-US" sz="3500" b="1" dirty="0" err="1">
                <a:latin typeface="Quattrocento Sans"/>
                <a:ea typeface="Quattrocento Sans"/>
                <a:cs typeface="Quattrocento Sans"/>
                <a:sym typeface="Quattrocento Sans"/>
              </a:rPr>
              <a:t>hàng</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Bạn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nên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làm</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theo</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các</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bước</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dưới</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đây</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để</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thiết</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kế</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chiến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lược</a:t>
            </a:r>
            <a:r>
              <a:rPr lang="en-US" sz="3500" dirty="0">
                <a:latin typeface="Quattrocento Sans"/>
                <a:ea typeface="Quattrocento Sans"/>
                <a:cs typeface="Quattrocento Sans"/>
                <a:sym typeface="Quattrocento Sans"/>
              </a:rPr>
              <a:t>:</a:t>
            </a:r>
            <a:endParaRPr sz="3500" dirty="0">
              <a:latin typeface="Quattrocento Sans"/>
              <a:ea typeface="Quattrocento Sans"/>
              <a:cs typeface="Quattrocento Sans"/>
              <a:sym typeface="Quattrocento Sans"/>
            </a:endParaRPr>
          </a:p>
          <a:p>
            <a:pPr marL="1600200" lvl="3" indent="-336550" algn="l" rtl="0">
              <a:spcBef>
                <a:spcPts val="0"/>
              </a:spcBef>
              <a:spcAft>
                <a:spcPts val="0"/>
              </a:spcAft>
              <a:buClr>
                <a:srgbClr val="FF5A33"/>
              </a:buClr>
              <a:buSzPts val="3500"/>
              <a:buFont typeface="Quattrocento Sans"/>
              <a:buChar char="✔"/>
            </a:pPr>
            <a:r>
              <a:rPr lang="en-US" sz="3500" dirty="0" err="1">
                <a:latin typeface="Quattrocento Sans"/>
                <a:ea typeface="Quattrocento Sans"/>
                <a:cs typeface="Quattrocento Sans"/>
                <a:sym typeface="Quattrocento Sans"/>
              </a:rPr>
              <a:t>Bước</a:t>
            </a:r>
            <a:r>
              <a:rPr lang="en-US" sz="3500" dirty="0">
                <a:latin typeface="Quattrocento Sans"/>
                <a:ea typeface="Quattrocento Sans"/>
                <a:cs typeface="Quattrocento Sans"/>
                <a:sym typeface="Quattrocento Sans"/>
              </a:rPr>
              <a:t> 1: </a:t>
            </a:r>
            <a:r>
              <a:rPr lang="en-US" sz="3500" dirty="0" err="1">
                <a:latin typeface="Quattrocento Sans"/>
                <a:ea typeface="Quattrocento Sans"/>
                <a:cs typeface="Quattrocento Sans"/>
                <a:sym typeface="Quattrocento Sans"/>
              </a:rPr>
              <a:t>Xác</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định</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phạm</a:t>
            </a:r>
            <a:r>
              <a:rPr lang="en-US" sz="3500" dirty="0">
                <a:latin typeface="Quattrocento Sans"/>
                <a:ea typeface="Quattrocento Sans"/>
                <a:cs typeface="Quattrocento Sans"/>
                <a:sym typeface="Quattrocento Sans"/>
              </a:rPr>
              <a:t> vi </a:t>
            </a:r>
            <a:r>
              <a:rPr lang="en-US" sz="3500" dirty="0" err="1">
                <a:latin typeface="Quattrocento Sans"/>
                <a:ea typeface="Quattrocento Sans"/>
                <a:cs typeface="Quattrocento Sans"/>
                <a:sym typeface="Quattrocento Sans"/>
              </a:rPr>
              <a:t>kiểm</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thử</a:t>
            </a:r>
            <a:endParaRPr sz="3500" dirty="0">
              <a:latin typeface="Quattrocento Sans"/>
              <a:ea typeface="Quattrocento Sans"/>
              <a:cs typeface="Quattrocento Sans"/>
              <a:sym typeface="Quattrocento Sans"/>
            </a:endParaRPr>
          </a:p>
          <a:p>
            <a:pPr marL="1600200" lvl="3" indent="-336550" algn="l" rtl="0">
              <a:spcBef>
                <a:spcPts val="0"/>
              </a:spcBef>
              <a:spcAft>
                <a:spcPts val="0"/>
              </a:spcAft>
              <a:buClr>
                <a:srgbClr val="FF5A33"/>
              </a:buClr>
              <a:buSzPts val="3500"/>
              <a:buFont typeface="Quattrocento Sans"/>
              <a:buChar char="✔"/>
            </a:pPr>
            <a:r>
              <a:rPr lang="en-US" sz="3500" dirty="0" err="1">
                <a:latin typeface="Quattrocento Sans"/>
                <a:ea typeface="Quattrocento Sans"/>
                <a:cs typeface="Quattrocento Sans"/>
                <a:sym typeface="Quattrocento Sans"/>
              </a:rPr>
              <a:t>Bước</a:t>
            </a:r>
            <a:r>
              <a:rPr lang="en-US" sz="3500" dirty="0">
                <a:latin typeface="Quattrocento Sans"/>
                <a:ea typeface="Quattrocento Sans"/>
                <a:cs typeface="Quattrocento Sans"/>
                <a:sym typeface="Quattrocento Sans"/>
              </a:rPr>
              <a:t> 2: </a:t>
            </a:r>
            <a:r>
              <a:rPr lang="en-US" sz="3500" dirty="0" err="1">
                <a:latin typeface="Quattrocento Sans"/>
                <a:ea typeface="Quattrocento Sans"/>
                <a:cs typeface="Quattrocento Sans"/>
                <a:sym typeface="Quattrocento Sans"/>
              </a:rPr>
              <a:t>Xác</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định</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loại</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kiểm</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thử</a:t>
            </a:r>
            <a:endParaRPr sz="3500" dirty="0">
              <a:latin typeface="Quattrocento Sans"/>
              <a:ea typeface="Quattrocento Sans"/>
              <a:cs typeface="Quattrocento Sans"/>
              <a:sym typeface="Quattrocento Sans"/>
            </a:endParaRPr>
          </a:p>
          <a:p>
            <a:pPr marL="1600200" lvl="3" indent="-336550" algn="l" rtl="0">
              <a:spcBef>
                <a:spcPts val="0"/>
              </a:spcBef>
              <a:spcAft>
                <a:spcPts val="0"/>
              </a:spcAft>
              <a:buClr>
                <a:srgbClr val="FF5A33"/>
              </a:buClr>
              <a:buSzPts val="3500"/>
              <a:buFont typeface="Quattrocento Sans"/>
              <a:buChar char="✔"/>
            </a:pPr>
            <a:r>
              <a:rPr lang="en-US" sz="3500" dirty="0" err="1">
                <a:latin typeface="Quattrocento Sans"/>
                <a:ea typeface="Quattrocento Sans"/>
                <a:cs typeface="Quattrocento Sans"/>
                <a:sym typeface="Quattrocento Sans"/>
              </a:rPr>
              <a:t>Bước</a:t>
            </a:r>
            <a:r>
              <a:rPr lang="en-US" sz="3500" dirty="0">
                <a:latin typeface="Quattrocento Sans"/>
                <a:ea typeface="Quattrocento Sans"/>
                <a:cs typeface="Quattrocento Sans"/>
                <a:sym typeface="Quattrocento Sans"/>
              </a:rPr>
              <a:t> 3: </a:t>
            </a:r>
            <a:r>
              <a:rPr lang="en-US" sz="3500" dirty="0" err="1">
                <a:latin typeface="Quattrocento Sans"/>
                <a:ea typeface="Quattrocento Sans"/>
                <a:cs typeface="Quattrocento Sans"/>
                <a:sym typeface="Quattrocento Sans"/>
              </a:rPr>
              <a:t>Tài</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liệu</a:t>
            </a:r>
            <a:r>
              <a:rPr lang="en-US" sz="3500" dirty="0">
                <a:latin typeface="Quattrocento Sans"/>
                <a:ea typeface="Quattrocento Sans"/>
                <a:cs typeface="Quattrocento Sans"/>
                <a:sym typeface="Quattrocento Sans"/>
              </a:rPr>
              <a:t> (document) </a:t>
            </a:r>
            <a:r>
              <a:rPr lang="en-US" sz="3500" dirty="0" err="1">
                <a:latin typeface="Quattrocento Sans"/>
                <a:ea typeface="Quattrocento Sans"/>
                <a:cs typeface="Quattrocento Sans"/>
                <a:sym typeface="Quattrocento Sans"/>
              </a:rPr>
              <a:t>về</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rủi</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ro</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và</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vấn</a:t>
            </a:r>
            <a:r>
              <a:rPr lang="en-US" sz="3500" dirty="0">
                <a:latin typeface="Quattrocento Sans"/>
                <a:ea typeface="Quattrocento Sans"/>
                <a:cs typeface="Quattrocento Sans"/>
                <a:sym typeface="Quattrocento Sans"/>
              </a:rPr>
              <a:t> </a:t>
            </a:r>
            <a:r>
              <a:rPr lang="en-US" sz="3500" dirty="0" err="1">
                <a:latin typeface="Quattrocento Sans"/>
                <a:ea typeface="Quattrocento Sans"/>
                <a:cs typeface="Quattrocento Sans"/>
                <a:sym typeface="Quattrocento Sans"/>
              </a:rPr>
              <a:t>đề</a:t>
            </a:r>
            <a:endParaRPr sz="3500" dirty="0">
              <a:latin typeface="Quattrocento Sans"/>
              <a:ea typeface="Quattrocento Sans"/>
              <a:cs typeface="Quattrocento Sans"/>
              <a:sym typeface="Quattrocento Sans"/>
            </a:endParaRPr>
          </a:p>
          <a:p>
            <a:pPr marL="1600200" lvl="3" indent="-336550" algn="l" rtl="0">
              <a:spcBef>
                <a:spcPts val="0"/>
              </a:spcBef>
              <a:spcAft>
                <a:spcPts val="0"/>
              </a:spcAft>
              <a:buClr>
                <a:srgbClr val="FF5A33"/>
              </a:buClr>
              <a:buSzPts val="3500"/>
              <a:buFont typeface="Quattrocento Sans"/>
              <a:buChar char="✔"/>
            </a:pPr>
            <a:r>
              <a:rPr lang="en-US" sz="3500" dirty="0" err="1">
                <a:latin typeface="Quattrocento Sans"/>
                <a:ea typeface="Quattrocento Sans"/>
                <a:cs typeface="Quattrocento Sans"/>
                <a:sym typeface="Quattrocento Sans"/>
              </a:rPr>
              <a:t>Bước</a:t>
            </a:r>
            <a:r>
              <a:rPr lang="en-US" sz="3500" dirty="0">
                <a:latin typeface="Quattrocento Sans"/>
                <a:ea typeface="Quattrocento Sans"/>
                <a:cs typeface="Quattrocento Sans"/>
                <a:sym typeface="Quattrocento Sans"/>
              </a:rPr>
              <a:t> 4: </a:t>
            </a:r>
            <a:r>
              <a:rPr lang="en-US" sz="3500" dirty="0" err="1">
                <a:latin typeface="Quattrocento Sans"/>
                <a:ea typeface="Quattrocento Sans"/>
                <a:cs typeface="Quattrocento Sans"/>
                <a:sym typeface="Quattrocento Sans"/>
              </a:rPr>
              <a:t>Tạo</a:t>
            </a:r>
            <a:r>
              <a:rPr lang="en-US" sz="3500" dirty="0">
                <a:latin typeface="Quattrocento Sans"/>
                <a:ea typeface="Quattrocento Sans"/>
                <a:cs typeface="Quattrocento Sans"/>
                <a:sym typeface="Quattrocento Sans"/>
              </a:rPr>
              <a:t> test logistics</a:t>
            </a:r>
            <a:endParaRPr sz="3500" dirty="0">
              <a:solidFill>
                <a:srgbClr val="222222"/>
              </a:solidFill>
              <a:highlight>
                <a:schemeClr val="lt1"/>
              </a:highlight>
              <a:latin typeface="Quattrocento Sans"/>
              <a:ea typeface="Quattrocento Sans"/>
              <a:cs typeface="Quattrocento Sans"/>
              <a:sym typeface="Quattrocento Sans"/>
            </a:endParaRPr>
          </a:p>
        </p:txBody>
      </p:sp>
      <p:sp>
        <p:nvSpPr>
          <p:cNvPr id="317" name="Google Shape;317;g116f0f54a95_0_197"/>
          <p:cNvSpPr txBox="1"/>
          <p:nvPr/>
        </p:nvSpPr>
        <p:spPr>
          <a:xfrm>
            <a:off x="522375" y="79692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Thiết kế chiến lược kiểm thử</a:t>
            </a:r>
            <a:endParaRPr sz="4000">
              <a:solidFill>
                <a:srgbClr val="333333"/>
              </a:solidFill>
              <a:latin typeface="Quattrocento Sans"/>
              <a:ea typeface="Quattrocento Sans"/>
              <a:cs typeface="Quattrocento Sans"/>
              <a:sym typeface="Quattrocento Sans"/>
            </a:endParaRPr>
          </a:p>
        </p:txBody>
      </p:sp>
      <p:pic>
        <p:nvPicPr>
          <p:cNvPr id="318" name="Google Shape;318;g116f0f54a95_0_197"/>
          <p:cNvPicPr preferRelativeResize="0"/>
          <p:nvPr/>
        </p:nvPicPr>
        <p:blipFill>
          <a:blip r:embed="rId3">
            <a:alphaModFix/>
          </a:blip>
          <a:stretch>
            <a:fillRect/>
          </a:stretch>
        </p:blipFill>
        <p:spPr>
          <a:xfrm>
            <a:off x="4212000" y="5150263"/>
            <a:ext cx="7648575" cy="13620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16">
                                            <p:txEl>
                                              <p:pRg st="0" end="0"/>
                                            </p:txEl>
                                          </p:spTgt>
                                        </p:tgtEl>
                                        <p:attrNameLst>
                                          <p:attrName>style.visibility</p:attrName>
                                        </p:attrNameLst>
                                      </p:cBhvr>
                                      <p:to>
                                        <p:strVal val="visible"/>
                                      </p:to>
                                    </p:set>
                                    <p:anim calcmode="lin" valueType="num">
                                      <p:cBhvr additive="base">
                                        <p:cTn id="7" dur="1000"/>
                                        <p:tgtEl>
                                          <p:spTgt spid="31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16">
                                            <p:txEl>
                                              <p:pRg st="1" end="1"/>
                                            </p:txEl>
                                          </p:spTgt>
                                        </p:tgtEl>
                                        <p:attrNameLst>
                                          <p:attrName>style.visibility</p:attrName>
                                        </p:attrNameLst>
                                      </p:cBhvr>
                                      <p:to>
                                        <p:strVal val="visible"/>
                                      </p:to>
                                    </p:set>
                                    <p:anim calcmode="lin" valueType="num">
                                      <p:cBhvr additive="base">
                                        <p:cTn id="12" dur="1000"/>
                                        <p:tgtEl>
                                          <p:spTgt spid="31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16">
                                            <p:txEl>
                                              <p:pRg st="2" end="2"/>
                                            </p:txEl>
                                          </p:spTgt>
                                        </p:tgtEl>
                                        <p:attrNameLst>
                                          <p:attrName>style.visibility</p:attrName>
                                        </p:attrNameLst>
                                      </p:cBhvr>
                                      <p:to>
                                        <p:strVal val="visible"/>
                                      </p:to>
                                    </p:set>
                                    <p:anim calcmode="lin" valueType="num">
                                      <p:cBhvr additive="base">
                                        <p:cTn id="17" dur="1000"/>
                                        <p:tgtEl>
                                          <p:spTgt spid="316">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16">
                                            <p:txEl>
                                              <p:pRg st="3" end="3"/>
                                            </p:txEl>
                                          </p:spTgt>
                                        </p:tgtEl>
                                        <p:attrNameLst>
                                          <p:attrName>style.visibility</p:attrName>
                                        </p:attrNameLst>
                                      </p:cBhvr>
                                      <p:to>
                                        <p:strVal val="visible"/>
                                      </p:to>
                                    </p:set>
                                    <p:anim calcmode="lin" valueType="num">
                                      <p:cBhvr additive="base">
                                        <p:cTn id="22" dur="1000"/>
                                        <p:tgtEl>
                                          <p:spTgt spid="316">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16">
                                            <p:txEl>
                                              <p:pRg st="4" end="4"/>
                                            </p:txEl>
                                          </p:spTgt>
                                        </p:tgtEl>
                                        <p:attrNameLst>
                                          <p:attrName>style.visibility</p:attrName>
                                        </p:attrNameLst>
                                      </p:cBhvr>
                                      <p:to>
                                        <p:strVal val="visible"/>
                                      </p:to>
                                    </p:set>
                                    <p:anim calcmode="lin" valueType="num">
                                      <p:cBhvr additive="base">
                                        <p:cTn id="27" dur="1000"/>
                                        <p:tgtEl>
                                          <p:spTgt spid="316">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g116f0f54a95_0_21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design test strategy</a:t>
            </a:r>
            <a:endParaRPr/>
          </a:p>
        </p:txBody>
      </p:sp>
      <p:sp>
        <p:nvSpPr>
          <p:cNvPr id="324" name="Google Shape;324;g116f0f54a95_0_216"/>
          <p:cNvSpPr txBox="1"/>
          <p:nvPr/>
        </p:nvSpPr>
        <p:spPr>
          <a:xfrm>
            <a:off x="522375" y="1597325"/>
            <a:ext cx="11338200" cy="52260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dirty="0" err="1">
                <a:latin typeface="Quattrocento Sans"/>
                <a:ea typeface="Quattrocento Sans"/>
                <a:cs typeface="Quattrocento Sans"/>
                <a:sym typeface="Quattrocento Sans"/>
              </a:rPr>
              <a:t>Các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thành</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phần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của</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hệ</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thống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sẽ</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được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kiểm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thử</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phần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cứng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phần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mềm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phần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mềm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trung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gian</a:t>
            </a:r>
            <a:r>
              <a:rPr lang="en-US" sz="3600" dirty="0">
                <a:latin typeface="Quattrocento Sans"/>
                <a:ea typeface="Quattrocento Sans"/>
                <a:cs typeface="Quattrocento Sans"/>
                <a:sym typeface="Quattrocento Sans"/>
              </a:rPr>
              <a:t>, v.v.) </a:t>
            </a:r>
            <a:r>
              <a:rPr lang="en-US" sz="3600" dirty="0" err="1">
                <a:latin typeface="Quattrocento Sans"/>
                <a:ea typeface="Quattrocento Sans"/>
                <a:cs typeface="Quattrocento Sans"/>
                <a:sym typeface="Quattrocento Sans"/>
              </a:rPr>
              <a:t>được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định</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nghĩa</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là</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trong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phạm</a:t>
            </a:r>
            <a:r>
              <a:rPr lang="en-US" sz="3600" dirty="0">
                <a:latin typeface="Quattrocento Sans"/>
                <a:ea typeface="Quattrocento Sans"/>
                <a:cs typeface="Quattrocento Sans"/>
                <a:sym typeface="Quattrocento Sans"/>
              </a:rPr>
              <a:t> vi”</a:t>
            </a:r>
            <a:endParaRPr sz="3600" dirty="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dirty="0" err="1">
                <a:latin typeface="Quattrocento Sans"/>
                <a:ea typeface="Quattrocento Sans"/>
                <a:cs typeface="Quattrocento Sans"/>
                <a:sym typeface="Quattrocento Sans"/>
              </a:rPr>
              <a:t>Các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thành</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phần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của</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hệ</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thống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sẽ</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không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được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kiểm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thử</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cũng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cần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được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xác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định</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rõ</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ràng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là</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nằm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ngoài</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phạm</a:t>
            </a:r>
            <a:r>
              <a:rPr lang="en-US" sz="3600" dirty="0">
                <a:latin typeface="Quattrocento Sans"/>
                <a:ea typeface="Quattrocento Sans"/>
                <a:cs typeface="Quattrocento Sans"/>
                <a:sym typeface="Quattrocento Sans"/>
              </a:rPr>
              <a:t> vi”</a:t>
            </a:r>
            <a:endParaRPr sz="3600" dirty="0">
              <a:solidFill>
                <a:srgbClr val="222222"/>
              </a:solidFill>
              <a:highlight>
                <a:schemeClr val="lt1"/>
              </a:highlight>
              <a:latin typeface="Quattrocento Sans"/>
              <a:ea typeface="Quattrocento Sans"/>
              <a:cs typeface="Quattrocento Sans"/>
              <a:sym typeface="Quattrocento Sans"/>
            </a:endParaRPr>
          </a:p>
        </p:txBody>
      </p:sp>
      <p:sp>
        <p:nvSpPr>
          <p:cNvPr id="325" name="Google Shape;325;g116f0f54a95_0_216"/>
          <p:cNvSpPr txBox="1"/>
          <p:nvPr/>
        </p:nvSpPr>
        <p:spPr>
          <a:xfrm>
            <a:off x="522375" y="79692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Bước 1: Xác định phạm vi kiểm thử</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24">
                                            <p:txEl>
                                              <p:pRg st="0" end="0"/>
                                            </p:txEl>
                                          </p:spTgt>
                                        </p:tgtEl>
                                        <p:attrNameLst>
                                          <p:attrName>style.visibility</p:attrName>
                                        </p:attrNameLst>
                                      </p:cBhvr>
                                      <p:to>
                                        <p:strVal val="visible"/>
                                      </p:to>
                                    </p:set>
                                    <p:anim calcmode="lin" valueType="num">
                                      <p:cBhvr additive="base">
                                        <p:cTn id="7" dur="1000"/>
                                        <p:tgtEl>
                                          <p:spTgt spid="32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24">
                                            <p:txEl>
                                              <p:pRg st="1" end="1"/>
                                            </p:txEl>
                                          </p:spTgt>
                                        </p:tgtEl>
                                        <p:attrNameLst>
                                          <p:attrName>style.visibility</p:attrName>
                                        </p:attrNameLst>
                                      </p:cBhvr>
                                      <p:to>
                                        <p:strVal val="visible"/>
                                      </p:to>
                                    </p:set>
                                    <p:anim calcmode="lin" valueType="num">
                                      <p:cBhvr additive="base">
                                        <p:cTn id="12" dur="1000"/>
                                        <p:tgtEl>
                                          <p:spTgt spid="324">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g116f0f54a95_0_21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design test strategy</a:t>
            </a:r>
            <a:endParaRPr/>
          </a:p>
        </p:txBody>
      </p:sp>
      <p:sp>
        <p:nvSpPr>
          <p:cNvPr id="331" name="Google Shape;331;g116f0f54a95_0_211"/>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Xác định phạm vi của dự án kiểm thử của bạn là rất quan trọng đối với tất cả các bên liên quan. Một phạm vi chính xác giúp bạn:</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Cung cấp cho mọi người một sự tự tin và thông tin chính xác về kiểm thử bạn đang làm</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Tất cả các thành viên dự án sẽ có một sự hiểu biết rõ ràng về những gì được kiểm thử và những gì không</a:t>
            </a:r>
            <a:endParaRPr sz="36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31">
                                            <p:txEl>
                                              <p:pRg st="0" end="0"/>
                                            </p:txEl>
                                          </p:spTgt>
                                        </p:tgtEl>
                                        <p:attrNameLst>
                                          <p:attrName>style.visibility</p:attrName>
                                        </p:attrNameLst>
                                      </p:cBhvr>
                                      <p:to>
                                        <p:strVal val="visible"/>
                                      </p:to>
                                    </p:set>
                                    <p:anim calcmode="lin" valueType="num">
                                      <p:cBhvr additive="base">
                                        <p:cTn id="7" dur="1000"/>
                                        <p:tgtEl>
                                          <p:spTgt spid="33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31">
                                            <p:txEl>
                                              <p:pRg st="1" end="1"/>
                                            </p:txEl>
                                          </p:spTgt>
                                        </p:tgtEl>
                                        <p:attrNameLst>
                                          <p:attrName>style.visibility</p:attrName>
                                        </p:attrNameLst>
                                      </p:cBhvr>
                                      <p:to>
                                        <p:strVal val="visible"/>
                                      </p:to>
                                    </p:set>
                                    <p:anim calcmode="lin" valueType="num">
                                      <p:cBhvr additive="base">
                                        <p:cTn id="12" dur="1000"/>
                                        <p:tgtEl>
                                          <p:spTgt spid="33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31">
                                            <p:txEl>
                                              <p:pRg st="2" end="2"/>
                                            </p:txEl>
                                          </p:spTgt>
                                        </p:tgtEl>
                                        <p:attrNameLst>
                                          <p:attrName>style.visibility</p:attrName>
                                        </p:attrNameLst>
                                      </p:cBhvr>
                                      <p:to>
                                        <p:strVal val="visible"/>
                                      </p:to>
                                    </p:set>
                                    <p:anim calcmode="lin" valueType="num">
                                      <p:cBhvr additive="base">
                                        <p:cTn id="17" dur="1000"/>
                                        <p:tgtEl>
                                          <p:spTgt spid="331">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g116f0f54a95_0_23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design test strategy</a:t>
            </a:r>
            <a:endParaRPr/>
          </a:p>
        </p:txBody>
      </p:sp>
      <p:sp>
        <p:nvSpPr>
          <p:cNvPr id="337" name="Google Shape;337;g116f0f54a95_0_230"/>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Làm thế nào để bạn xác định phạm vi dự án của bạn?</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Để xác định phạm vi, bạn phải: </a:t>
            </a:r>
            <a:endParaRPr sz="3600">
              <a:solidFill>
                <a:schemeClr val="dk1"/>
              </a:solidFill>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Lấy yêu cầu khách hàng chính xác</a:t>
            </a:r>
            <a:endParaRPr sz="3600">
              <a:solidFill>
                <a:schemeClr val="dk1"/>
              </a:solidFill>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Xác định ngân sách dự án</a:t>
            </a:r>
            <a:endParaRPr sz="3600">
              <a:solidFill>
                <a:schemeClr val="dk1"/>
              </a:solidFill>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Nắm rõ đặc điểm kỹ thuật sản phẩm</a:t>
            </a:r>
            <a:endParaRPr sz="3600">
              <a:solidFill>
                <a:schemeClr val="dk1"/>
              </a:solidFill>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Hiểu rõ kỹ năng của nhóm kiểm thử của bạn</a:t>
            </a:r>
            <a:endParaRPr sz="36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37">
                                            <p:txEl>
                                              <p:pRg st="0" end="0"/>
                                            </p:txEl>
                                          </p:spTgt>
                                        </p:tgtEl>
                                        <p:attrNameLst>
                                          <p:attrName>style.visibility</p:attrName>
                                        </p:attrNameLst>
                                      </p:cBhvr>
                                      <p:to>
                                        <p:strVal val="visible"/>
                                      </p:to>
                                    </p:set>
                                    <p:anim calcmode="lin" valueType="num">
                                      <p:cBhvr additive="base">
                                        <p:cTn id="7" dur="1000"/>
                                        <p:tgtEl>
                                          <p:spTgt spid="33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37">
                                            <p:txEl>
                                              <p:pRg st="1" end="1"/>
                                            </p:txEl>
                                          </p:spTgt>
                                        </p:tgtEl>
                                        <p:attrNameLst>
                                          <p:attrName>style.visibility</p:attrName>
                                        </p:attrNameLst>
                                      </p:cBhvr>
                                      <p:to>
                                        <p:strVal val="visible"/>
                                      </p:to>
                                    </p:set>
                                    <p:anim calcmode="lin" valueType="num">
                                      <p:cBhvr additive="base">
                                        <p:cTn id="12" dur="1000"/>
                                        <p:tgtEl>
                                          <p:spTgt spid="337">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37">
                                            <p:txEl>
                                              <p:pRg st="2" end="2"/>
                                            </p:txEl>
                                          </p:spTgt>
                                        </p:tgtEl>
                                        <p:attrNameLst>
                                          <p:attrName>style.visibility</p:attrName>
                                        </p:attrNameLst>
                                      </p:cBhvr>
                                      <p:to>
                                        <p:strVal val="visible"/>
                                      </p:to>
                                    </p:set>
                                    <p:anim calcmode="lin" valueType="num">
                                      <p:cBhvr additive="base">
                                        <p:cTn id="17" dur="1000"/>
                                        <p:tgtEl>
                                          <p:spTgt spid="337">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37">
                                            <p:txEl>
                                              <p:pRg st="3" end="3"/>
                                            </p:txEl>
                                          </p:spTgt>
                                        </p:tgtEl>
                                        <p:attrNameLst>
                                          <p:attrName>style.visibility</p:attrName>
                                        </p:attrNameLst>
                                      </p:cBhvr>
                                      <p:to>
                                        <p:strVal val="visible"/>
                                      </p:to>
                                    </p:set>
                                    <p:anim calcmode="lin" valueType="num">
                                      <p:cBhvr additive="base">
                                        <p:cTn id="22" dur="1000"/>
                                        <p:tgtEl>
                                          <p:spTgt spid="337">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37">
                                            <p:txEl>
                                              <p:pRg st="4" end="4"/>
                                            </p:txEl>
                                          </p:spTgt>
                                        </p:tgtEl>
                                        <p:attrNameLst>
                                          <p:attrName>style.visibility</p:attrName>
                                        </p:attrNameLst>
                                      </p:cBhvr>
                                      <p:to>
                                        <p:strVal val="visible"/>
                                      </p:to>
                                    </p:set>
                                    <p:anim calcmode="lin" valueType="num">
                                      <p:cBhvr additive="base">
                                        <p:cTn id="27" dur="1000"/>
                                        <p:tgtEl>
                                          <p:spTgt spid="337">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337">
                                            <p:txEl>
                                              <p:pRg st="5" end="5"/>
                                            </p:txEl>
                                          </p:spTgt>
                                        </p:tgtEl>
                                        <p:attrNameLst>
                                          <p:attrName>style.visibility</p:attrName>
                                        </p:attrNameLst>
                                      </p:cBhvr>
                                      <p:to>
                                        <p:strVal val="visible"/>
                                      </p:to>
                                    </p:set>
                                    <p:anim calcmode="lin" valueType="num">
                                      <p:cBhvr additive="base">
                                        <p:cTn id="32" dur="1000"/>
                                        <p:tgtEl>
                                          <p:spTgt spid="337">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g116f0f54a95_0_23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design test strategy</a:t>
            </a:r>
            <a:endParaRPr/>
          </a:p>
        </p:txBody>
      </p:sp>
      <p:sp>
        <p:nvSpPr>
          <p:cNvPr id="343" name="Google Shape;343;g116f0f54a95_0_239"/>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Ví dụ áp dụng vào dự án kiểm thử website Ngân hàng thì để xác định trong và ngoài phạm vi </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Trong phạm vi : Tập trung vào kiểm thử tất cả các chức năng (functions testing) và giao diện bên ngoài của trang web Ngân hàng Guru99.</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Ngoài phạm vi: Kiểm thử phi chức năng như stress testing, performance testing hoặc logical database testing hiện sẽ không được kiểm thử.</a:t>
            </a:r>
            <a:endParaRPr sz="36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43">
                                            <p:txEl>
                                              <p:pRg st="0" end="0"/>
                                            </p:txEl>
                                          </p:spTgt>
                                        </p:tgtEl>
                                        <p:attrNameLst>
                                          <p:attrName>style.visibility</p:attrName>
                                        </p:attrNameLst>
                                      </p:cBhvr>
                                      <p:to>
                                        <p:strVal val="visible"/>
                                      </p:to>
                                    </p:set>
                                    <p:anim calcmode="lin" valueType="num">
                                      <p:cBhvr additive="base">
                                        <p:cTn id="7" dur="1000"/>
                                        <p:tgtEl>
                                          <p:spTgt spid="34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43">
                                            <p:txEl>
                                              <p:pRg st="1" end="1"/>
                                            </p:txEl>
                                          </p:spTgt>
                                        </p:tgtEl>
                                        <p:attrNameLst>
                                          <p:attrName>style.visibility</p:attrName>
                                        </p:attrNameLst>
                                      </p:cBhvr>
                                      <p:to>
                                        <p:strVal val="visible"/>
                                      </p:to>
                                    </p:set>
                                    <p:anim calcmode="lin" valueType="num">
                                      <p:cBhvr additive="base">
                                        <p:cTn id="12" dur="1000"/>
                                        <p:tgtEl>
                                          <p:spTgt spid="343">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43">
                                            <p:txEl>
                                              <p:pRg st="2" end="2"/>
                                            </p:txEl>
                                          </p:spTgt>
                                        </p:tgtEl>
                                        <p:attrNameLst>
                                          <p:attrName>style.visibility</p:attrName>
                                        </p:attrNameLst>
                                      </p:cBhvr>
                                      <p:to>
                                        <p:strVal val="visible"/>
                                      </p:to>
                                    </p:set>
                                    <p:anim calcmode="lin" valueType="num">
                                      <p:cBhvr additive="base">
                                        <p:cTn id="17" dur="1000"/>
                                        <p:tgtEl>
                                          <p:spTgt spid="343">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g116f0f54a95_0_245"/>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design test strategy</a:t>
            </a:r>
            <a:endParaRPr/>
          </a:p>
        </p:txBody>
      </p:sp>
      <p:sp>
        <p:nvSpPr>
          <p:cNvPr id="349" name="Google Shape;349;g116f0f54a95_0_245"/>
          <p:cNvSpPr txBox="1"/>
          <p:nvPr/>
        </p:nvSpPr>
        <p:spPr>
          <a:xfrm>
            <a:off x="522375" y="1597325"/>
            <a:ext cx="11338200" cy="52260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Mỗi loại kiểm thử được xây dựng để xác định một loại lỗi sản phẩm cụ thể. Nhưng, tất cả các Loại Kiểm thử đều nhằm đạt được một mục tiêu chung. Phát hiện sớm tất cả các lỗi trước khi phát hành sản phẩm cho khách hàng.</a:t>
            </a:r>
            <a:endParaRPr sz="3600">
              <a:latin typeface="Quattrocento Sans"/>
              <a:ea typeface="Quattrocento Sans"/>
              <a:cs typeface="Quattrocento Sans"/>
              <a:sym typeface="Quattrocento Sans"/>
            </a:endParaRPr>
          </a:p>
        </p:txBody>
      </p:sp>
      <p:sp>
        <p:nvSpPr>
          <p:cNvPr id="350" name="Google Shape;350;g116f0f54a95_0_245"/>
          <p:cNvSpPr txBox="1"/>
          <p:nvPr/>
        </p:nvSpPr>
        <p:spPr>
          <a:xfrm>
            <a:off x="522375" y="79692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Bước 2: Xác định loại kiểm thử</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49">
                                            <p:txEl>
                                              <p:pRg st="0" end="0"/>
                                            </p:txEl>
                                          </p:spTgt>
                                        </p:tgtEl>
                                        <p:attrNameLst>
                                          <p:attrName>style.visibility</p:attrName>
                                        </p:attrNameLst>
                                      </p:cBhvr>
                                      <p:to>
                                        <p:strVal val="visible"/>
                                      </p:to>
                                    </p:set>
                                    <p:anim calcmode="lin" valueType="num">
                                      <p:cBhvr additive="base">
                                        <p:cTn id="7" dur="1000"/>
                                        <p:tgtEl>
                                          <p:spTgt spid="349">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g116f0f54a95_0_25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design test strategy</a:t>
            </a:r>
            <a:endParaRPr/>
          </a:p>
        </p:txBody>
      </p:sp>
      <p:sp>
        <p:nvSpPr>
          <p:cNvPr id="356" name="Google Shape;356;g116f0f54a95_0_259"/>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Có rất nhiều các loại kiểm thử để kiểm thử sản phẩm phần mềm. Nhóm của bạn không thể có đủ nỗ lực để xử lý tất cả các loại kiểm thử. Là người quản lý kiểm thử, bạn phải đặt mức độ ưu tiên của các loại kiểm thử và phân tích xem nên ứng dụng loại kiểm thử nào :</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Những loại kiểm thử nào nên được tập trung để kiểm thử ứng dụng web?</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Những loại kiểm thử nên được bỏ qua để tiết kiệm chi phí?</a:t>
            </a:r>
            <a:endParaRPr sz="36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56">
                                            <p:txEl>
                                              <p:pRg st="0" end="0"/>
                                            </p:txEl>
                                          </p:spTgt>
                                        </p:tgtEl>
                                        <p:attrNameLst>
                                          <p:attrName>style.visibility</p:attrName>
                                        </p:attrNameLst>
                                      </p:cBhvr>
                                      <p:to>
                                        <p:strVal val="visible"/>
                                      </p:to>
                                    </p:set>
                                    <p:anim calcmode="lin" valueType="num">
                                      <p:cBhvr additive="base">
                                        <p:cTn id="7" dur="1000"/>
                                        <p:tgtEl>
                                          <p:spTgt spid="35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56">
                                            <p:txEl>
                                              <p:pRg st="1" end="1"/>
                                            </p:txEl>
                                          </p:spTgt>
                                        </p:tgtEl>
                                        <p:attrNameLst>
                                          <p:attrName>style.visibility</p:attrName>
                                        </p:attrNameLst>
                                      </p:cBhvr>
                                      <p:to>
                                        <p:strVal val="visible"/>
                                      </p:to>
                                    </p:set>
                                    <p:anim calcmode="lin" valueType="num">
                                      <p:cBhvr additive="base">
                                        <p:cTn id="12" dur="1000"/>
                                        <p:tgtEl>
                                          <p:spTgt spid="35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56">
                                            <p:txEl>
                                              <p:pRg st="2" end="2"/>
                                            </p:txEl>
                                          </p:spTgt>
                                        </p:tgtEl>
                                        <p:attrNameLst>
                                          <p:attrName>style.visibility</p:attrName>
                                        </p:attrNameLst>
                                      </p:cBhvr>
                                      <p:to>
                                        <p:strVal val="visible"/>
                                      </p:to>
                                    </p:set>
                                    <p:anim calcmode="lin" valueType="num">
                                      <p:cBhvr additive="base">
                                        <p:cTn id="17" dur="1000"/>
                                        <p:tgtEl>
                                          <p:spTgt spid="356">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g116f0f54a95_0_25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design test strategy</a:t>
            </a:r>
            <a:endParaRPr/>
          </a:p>
        </p:txBody>
      </p:sp>
      <p:sp>
        <p:nvSpPr>
          <p:cNvPr id="362" name="Google Shape;362;g116f0f54a95_0_252"/>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Các loại kiểm thử thường được sử dụng được mô tả như hình dưới đây</a:t>
            </a:r>
            <a:endParaRPr sz="3600">
              <a:solidFill>
                <a:schemeClr val="dk1"/>
              </a:solidFill>
              <a:latin typeface="Quattrocento Sans"/>
              <a:ea typeface="Quattrocento Sans"/>
              <a:cs typeface="Quattrocento Sans"/>
              <a:sym typeface="Quattrocento Sans"/>
            </a:endParaRPr>
          </a:p>
        </p:txBody>
      </p:sp>
      <p:pic>
        <p:nvPicPr>
          <p:cNvPr id="363" name="Google Shape;363;g116f0f54a95_0_252"/>
          <p:cNvPicPr preferRelativeResize="0"/>
          <p:nvPr/>
        </p:nvPicPr>
        <p:blipFill>
          <a:blip r:embed="rId3">
            <a:alphaModFix/>
          </a:blip>
          <a:stretch>
            <a:fillRect/>
          </a:stretch>
        </p:blipFill>
        <p:spPr>
          <a:xfrm>
            <a:off x="3056100" y="2094750"/>
            <a:ext cx="6826749" cy="461759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62">
                                            <p:txEl>
                                              <p:pRg st="0" end="0"/>
                                            </p:txEl>
                                          </p:spTgt>
                                        </p:tgtEl>
                                        <p:attrNameLst>
                                          <p:attrName>style.visibility</p:attrName>
                                        </p:attrNameLst>
                                      </p:cBhvr>
                                      <p:to>
                                        <p:strVal val="visible"/>
                                      </p:to>
                                    </p:set>
                                    <p:anim calcmode="lin" valueType="num">
                                      <p:cBhvr additive="base">
                                        <p:cTn id="7" dur="1000"/>
                                        <p:tgtEl>
                                          <p:spTgt spid="362">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g116f0f54a95_0_26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design test strategy</a:t>
            </a:r>
            <a:endParaRPr/>
          </a:p>
        </p:txBody>
      </p:sp>
      <p:sp>
        <p:nvSpPr>
          <p:cNvPr id="369" name="Google Shape;369;g116f0f54a95_0_267"/>
          <p:cNvSpPr txBox="1"/>
          <p:nvPr/>
        </p:nvSpPr>
        <p:spPr>
          <a:xfrm>
            <a:off x="522375" y="1597325"/>
            <a:ext cx="11338200" cy="52260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Rủi ro là sự kiện không chắc chắn trong tương lai với xác suất xảy ra và khả năng thua lỗ. Khi rủi ro thực sự xảy ra, nó sẽ trở thành vấn đề.</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Trong Test plan bạn sẽ ghi lại những rủi ro đó</a:t>
            </a:r>
            <a:endParaRPr sz="3600">
              <a:latin typeface="Quattrocento Sans"/>
              <a:ea typeface="Quattrocento Sans"/>
              <a:cs typeface="Quattrocento Sans"/>
              <a:sym typeface="Quattrocento Sans"/>
            </a:endParaRPr>
          </a:p>
          <a:p>
            <a:pPr marL="742950" lvl="0" indent="0" algn="l" rtl="0">
              <a:spcBef>
                <a:spcPts val="0"/>
              </a:spcBef>
              <a:spcAft>
                <a:spcPts val="0"/>
              </a:spcAft>
              <a:buNone/>
            </a:pPr>
            <a:endParaRPr sz="3600">
              <a:latin typeface="Quattrocento Sans"/>
              <a:ea typeface="Quattrocento Sans"/>
              <a:cs typeface="Quattrocento Sans"/>
              <a:sym typeface="Quattrocento Sans"/>
            </a:endParaRPr>
          </a:p>
        </p:txBody>
      </p:sp>
      <p:sp>
        <p:nvSpPr>
          <p:cNvPr id="370" name="Google Shape;370;g116f0f54a95_0_267"/>
          <p:cNvSpPr txBox="1"/>
          <p:nvPr/>
        </p:nvSpPr>
        <p:spPr>
          <a:xfrm>
            <a:off x="522375" y="79692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Bước 3: Tài liệu về rủi ro và vấn đề</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69">
                                            <p:txEl>
                                              <p:pRg st="0" end="0"/>
                                            </p:txEl>
                                          </p:spTgt>
                                        </p:tgtEl>
                                        <p:attrNameLst>
                                          <p:attrName>style.visibility</p:attrName>
                                        </p:attrNameLst>
                                      </p:cBhvr>
                                      <p:to>
                                        <p:strVal val="visible"/>
                                      </p:to>
                                    </p:set>
                                    <p:anim calcmode="lin" valueType="num">
                                      <p:cBhvr additive="base">
                                        <p:cTn id="7" dur="1000"/>
                                        <p:tgtEl>
                                          <p:spTgt spid="369">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69">
                                            <p:txEl>
                                              <p:pRg st="1" end="1"/>
                                            </p:txEl>
                                          </p:spTgt>
                                        </p:tgtEl>
                                        <p:attrNameLst>
                                          <p:attrName>style.visibility</p:attrName>
                                        </p:attrNameLst>
                                      </p:cBhvr>
                                      <p:to>
                                        <p:strVal val="visible"/>
                                      </p:to>
                                    </p:set>
                                    <p:anim calcmode="lin" valueType="num">
                                      <p:cBhvr additive="base">
                                        <p:cTn id="12" dur="1000"/>
                                        <p:tgtEl>
                                          <p:spTgt spid="369">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69">
                                            <p:txEl>
                                              <p:pRg st="2" end="2"/>
                                            </p:txEl>
                                          </p:spTgt>
                                        </p:tgtEl>
                                        <p:attrNameLst>
                                          <p:attrName>style.visibility</p:attrName>
                                        </p:attrNameLst>
                                      </p:cBhvr>
                                      <p:to>
                                        <p:strVal val="visible"/>
                                      </p:to>
                                    </p:set>
                                    <p:anim calcmode="lin" valueType="num">
                                      <p:cBhvr additive="base">
                                        <p:cTn id="17" dur="1000"/>
                                        <p:tgtEl>
                                          <p:spTgt spid="369">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g116f0f54a95_0_27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design test strategy</a:t>
            </a:r>
            <a:endParaRPr/>
          </a:p>
        </p:txBody>
      </p:sp>
      <p:sp>
        <p:nvSpPr>
          <p:cNvPr id="376" name="Google Shape;376;g116f0f54a95_0_274"/>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Ví dụ về cách định nghĩa các rủi ro</a:t>
            </a:r>
            <a:endParaRPr sz="3600">
              <a:solidFill>
                <a:schemeClr val="dk1"/>
              </a:solidFill>
              <a:latin typeface="Quattrocento Sans"/>
              <a:ea typeface="Quattrocento Sans"/>
              <a:cs typeface="Quattrocento Sans"/>
              <a:sym typeface="Quattrocento Sans"/>
            </a:endParaRPr>
          </a:p>
          <a:p>
            <a:pPr marL="0" lvl="0" indent="0" algn="l" rtl="0">
              <a:spcBef>
                <a:spcPts val="0"/>
              </a:spcBef>
              <a:spcAft>
                <a:spcPts val="0"/>
              </a:spcAft>
              <a:buNone/>
            </a:pPr>
            <a:endParaRPr sz="3600">
              <a:solidFill>
                <a:schemeClr val="dk1"/>
              </a:solidFill>
              <a:latin typeface="Quattrocento Sans"/>
              <a:ea typeface="Quattrocento Sans"/>
              <a:cs typeface="Quattrocento Sans"/>
              <a:sym typeface="Quattrocento Sans"/>
            </a:endParaRPr>
          </a:p>
        </p:txBody>
      </p:sp>
      <p:pic>
        <p:nvPicPr>
          <p:cNvPr id="377" name="Google Shape;377;g116f0f54a95_0_274"/>
          <p:cNvPicPr preferRelativeResize="0"/>
          <p:nvPr/>
        </p:nvPicPr>
        <p:blipFill>
          <a:blip r:embed="rId3">
            <a:alphaModFix/>
          </a:blip>
          <a:stretch>
            <a:fillRect/>
          </a:stretch>
        </p:blipFill>
        <p:spPr>
          <a:xfrm>
            <a:off x="611075" y="1837325"/>
            <a:ext cx="11433476" cy="41885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76">
                                            <p:txEl>
                                              <p:pRg st="0" end="0"/>
                                            </p:txEl>
                                          </p:spTgt>
                                        </p:tgtEl>
                                        <p:attrNameLst>
                                          <p:attrName>style.visibility</p:attrName>
                                        </p:attrNameLst>
                                      </p:cBhvr>
                                      <p:to>
                                        <p:strVal val="visible"/>
                                      </p:to>
                                    </p:set>
                                    <p:anim calcmode="lin" valueType="num">
                                      <p:cBhvr additive="base">
                                        <p:cTn id="7" dur="1000"/>
                                        <p:tgtEl>
                                          <p:spTgt spid="37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76">
                                            <p:txEl>
                                              <p:pRg st="1" end="1"/>
                                            </p:txEl>
                                          </p:spTgt>
                                        </p:tgtEl>
                                        <p:attrNameLst>
                                          <p:attrName>style.visibility</p:attrName>
                                        </p:attrNameLst>
                                      </p:cBhvr>
                                      <p:to>
                                        <p:strVal val="visible"/>
                                      </p:to>
                                    </p:set>
                                    <p:anim calcmode="lin" valueType="num">
                                      <p:cBhvr additive="base">
                                        <p:cTn id="12" dur="1000"/>
                                        <p:tgtEl>
                                          <p:spTgt spid="376">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g116f0f54a95_0_28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design test strategy</a:t>
            </a:r>
            <a:endParaRPr/>
          </a:p>
        </p:txBody>
      </p:sp>
      <p:sp>
        <p:nvSpPr>
          <p:cNvPr id="383" name="Google Shape;383;g116f0f54a95_0_281"/>
          <p:cNvSpPr txBox="1"/>
          <p:nvPr/>
        </p:nvSpPr>
        <p:spPr>
          <a:xfrm>
            <a:off x="522375" y="1597325"/>
            <a:ext cx="11338200" cy="52260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dirty="0">
                <a:latin typeface="Quattrocento Sans"/>
                <a:ea typeface="Quattrocento Sans"/>
                <a:cs typeface="Quattrocento Sans"/>
                <a:sym typeface="Quattrocento Sans"/>
              </a:rPr>
              <a:t>Trong Test Logistics, </a:t>
            </a:r>
            <a:r>
              <a:rPr lang="en-US" sz="3600" dirty="0" err="1">
                <a:latin typeface="Quattrocento Sans"/>
                <a:ea typeface="Quattrocento Sans"/>
                <a:cs typeface="Quattrocento Sans"/>
                <a:sym typeface="Quattrocento Sans"/>
              </a:rPr>
              <a:t>người</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quản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lý</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kiểm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thử</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cần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trả</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lời</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các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câu</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hỏi</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sau</a:t>
            </a:r>
            <a:r>
              <a:rPr lang="en-US" sz="3600" dirty="0">
                <a:latin typeface="Quattrocento Sans"/>
                <a:ea typeface="Quattrocento Sans"/>
                <a:cs typeface="Quattrocento Sans"/>
                <a:sym typeface="Quattrocento Sans"/>
              </a:rPr>
              <a:t>:</a:t>
            </a:r>
            <a:endParaRPr sz="3600" dirty="0">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dirty="0">
                <a:latin typeface="Quattrocento Sans"/>
                <a:ea typeface="Quattrocento Sans"/>
                <a:cs typeface="Quattrocento Sans"/>
                <a:sym typeface="Quattrocento Sans"/>
              </a:rPr>
              <a:t>Ai </a:t>
            </a:r>
            <a:r>
              <a:rPr lang="en-US" sz="3600" dirty="0" err="1">
                <a:latin typeface="Quattrocento Sans"/>
                <a:ea typeface="Quattrocento Sans"/>
                <a:cs typeface="Quattrocento Sans"/>
                <a:sym typeface="Quattrocento Sans"/>
              </a:rPr>
              <a:t>sẽ</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kiểm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thử</a:t>
            </a:r>
            <a:r>
              <a:rPr lang="en-US" sz="3600" dirty="0">
                <a:latin typeface="Quattrocento Sans"/>
                <a:ea typeface="Quattrocento Sans"/>
                <a:cs typeface="Quattrocento Sans"/>
                <a:sym typeface="Quattrocento Sans"/>
              </a:rPr>
              <a:t>?</a:t>
            </a:r>
            <a:endParaRPr sz="3600" dirty="0">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dirty="0">
                <a:latin typeface="Quattrocento Sans"/>
                <a:ea typeface="Quattrocento Sans"/>
                <a:cs typeface="Quattrocento Sans"/>
                <a:sym typeface="Quattrocento Sans"/>
              </a:rPr>
              <a:t>Khi </a:t>
            </a:r>
            <a:r>
              <a:rPr lang="en-US" sz="3600" dirty="0" err="1">
                <a:latin typeface="Quattrocento Sans"/>
                <a:ea typeface="Quattrocento Sans"/>
                <a:cs typeface="Quattrocento Sans"/>
                <a:sym typeface="Quattrocento Sans"/>
              </a:rPr>
              <a:t>nào</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kiểm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thử</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sẽ</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xảy</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ra</a:t>
            </a:r>
            <a:r>
              <a:rPr lang="en-US" sz="3600" dirty="0">
                <a:latin typeface="Quattrocento Sans"/>
                <a:ea typeface="Quattrocento Sans"/>
                <a:cs typeface="Quattrocento Sans"/>
                <a:sym typeface="Quattrocento Sans"/>
              </a:rPr>
              <a:t>?</a:t>
            </a:r>
            <a:endParaRPr sz="3600" dirty="0">
              <a:latin typeface="Quattrocento Sans"/>
              <a:ea typeface="Quattrocento Sans"/>
              <a:cs typeface="Quattrocento Sans"/>
              <a:sym typeface="Quattrocento Sans"/>
            </a:endParaRPr>
          </a:p>
          <a:p>
            <a:pPr marL="742950" lvl="0" indent="0" algn="l" rtl="0">
              <a:spcBef>
                <a:spcPts val="0"/>
              </a:spcBef>
              <a:spcAft>
                <a:spcPts val="0"/>
              </a:spcAft>
              <a:buNone/>
            </a:pPr>
            <a:endParaRPr sz="3600" dirty="0">
              <a:latin typeface="Quattrocento Sans"/>
              <a:ea typeface="Quattrocento Sans"/>
              <a:cs typeface="Quattrocento Sans"/>
              <a:sym typeface="Quattrocento Sans"/>
            </a:endParaRPr>
          </a:p>
        </p:txBody>
      </p:sp>
      <p:sp>
        <p:nvSpPr>
          <p:cNvPr id="384" name="Google Shape;384;g116f0f54a95_0_281"/>
          <p:cNvSpPr txBox="1"/>
          <p:nvPr/>
        </p:nvSpPr>
        <p:spPr>
          <a:xfrm>
            <a:off x="522375" y="79692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Bước 4: Tạo test Logistics</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83">
                                            <p:txEl>
                                              <p:pRg st="0" end="0"/>
                                            </p:txEl>
                                          </p:spTgt>
                                        </p:tgtEl>
                                        <p:attrNameLst>
                                          <p:attrName>style.visibility</p:attrName>
                                        </p:attrNameLst>
                                      </p:cBhvr>
                                      <p:to>
                                        <p:strVal val="visible"/>
                                      </p:to>
                                    </p:set>
                                    <p:anim calcmode="lin" valueType="num">
                                      <p:cBhvr additive="base">
                                        <p:cTn id="7" dur="1000"/>
                                        <p:tgtEl>
                                          <p:spTgt spid="38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83">
                                            <p:txEl>
                                              <p:pRg st="1" end="1"/>
                                            </p:txEl>
                                          </p:spTgt>
                                        </p:tgtEl>
                                        <p:attrNameLst>
                                          <p:attrName>style.visibility</p:attrName>
                                        </p:attrNameLst>
                                      </p:cBhvr>
                                      <p:to>
                                        <p:strVal val="visible"/>
                                      </p:to>
                                    </p:set>
                                    <p:anim calcmode="lin" valueType="num">
                                      <p:cBhvr additive="base">
                                        <p:cTn id="12" dur="1000"/>
                                        <p:tgtEl>
                                          <p:spTgt spid="383">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83">
                                            <p:txEl>
                                              <p:pRg st="2" end="2"/>
                                            </p:txEl>
                                          </p:spTgt>
                                        </p:tgtEl>
                                        <p:attrNameLst>
                                          <p:attrName>style.visibility</p:attrName>
                                        </p:attrNameLst>
                                      </p:cBhvr>
                                      <p:to>
                                        <p:strVal val="visible"/>
                                      </p:to>
                                    </p:set>
                                    <p:anim calcmode="lin" valueType="num">
                                      <p:cBhvr additive="base">
                                        <p:cTn id="17" dur="1000"/>
                                        <p:tgtEl>
                                          <p:spTgt spid="383">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83">
                                            <p:txEl>
                                              <p:pRg st="3" end="3"/>
                                            </p:txEl>
                                          </p:spTgt>
                                        </p:tgtEl>
                                        <p:attrNameLst>
                                          <p:attrName>style.visibility</p:attrName>
                                        </p:attrNameLst>
                                      </p:cBhvr>
                                      <p:to>
                                        <p:strVal val="visible"/>
                                      </p:to>
                                    </p:set>
                                    <p:anim calcmode="lin" valueType="num">
                                      <p:cBhvr additive="base">
                                        <p:cTn id="22" dur="1000"/>
                                        <p:tgtEl>
                                          <p:spTgt spid="383">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g116f0f54a95_0_29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design test strategy</a:t>
            </a:r>
            <a:endParaRPr/>
          </a:p>
        </p:txBody>
      </p:sp>
      <p:sp>
        <p:nvSpPr>
          <p:cNvPr id="390" name="Google Shape;390;g116f0f54a95_0_297"/>
          <p:cNvSpPr txBox="1"/>
          <p:nvPr/>
        </p:nvSpPr>
        <p:spPr>
          <a:xfrm>
            <a:off x="595125" y="816000"/>
            <a:ext cx="11338200" cy="52260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Ai sẽ kiểm thử?</a:t>
            </a:r>
            <a:endParaRPr sz="3600">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Để chọn đúng thành viên cho nhiệm vụ được chỉ định, bạn phải xem xét liệu kỹ năng của anh ta có đủ điều kiện cho nhiệm vụ đó hay không, cũng ước tính ngân sách dự án. Chọn sai thành viên cho nhiệm vụ có thể khiến dự án thất bại hoặc bị delay.</a:t>
            </a:r>
            <a:endParaRPr sz="3600">
              <a:latin typeface="Quattrocento Sans"/>
              <a:ea typeface="Quattrocento Sans"/>
              <a:cs typeface="Quattrocento Sans"/>
              <a:sym typeface="Quattrocento Sans"/>
            </a:endParaRPr>
          </a:p>
          <a:p>
            <a:pPr marL="742950" lvl="0" indent="0" algn="l" rtl="0">
              <a:spcBef>
                <a:spcPts val="0"/>
              </a:spcBef>
              <a:spcAft>
                <a:spcPts val="0"/>
              </a:spcAft>
              <a:buNone/>
            </a:pPr>
            <a:endParaRPr sz="3600">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90">
                                            <p:txEl>
                                              <p:pRg st="0" end="0"/>
                                            </p:txEl>
                                          </p:spTgt>
                                        </p:tgtEl>
                                        <p:attrNameLst>
                                          <p:attrName>style.visibility</p:attrName>
                                        </p:attrNameLst>
                                      </p:cBhvr>
                                      <p:to>
                                        <p:strVal val="visible"/>
                                      </p:to>
                                    </p:set>
                                    <p:anim calcmode="lin" valueType="num">
                                      <p:cBhvr additive="base">
                                        <p:cTn id="7" dur="1000"/>
                                        <p:tgtEl>
                                          <p:spTgt spid="39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90">
                                            <p:txEl>
                                              <p:pRg st="1" end="1"/>
                                            </p:txEl>
                                          </p:spTgt>
                                        </p:tgtEl>
                                        <p:attrNameLst>
                                          <p:attrName>style.visibility</p:attrName>
                                        </p:attrNameLst>
                                      </p:cBhvr>
                                      <p:to>
                                        <p:strVal val="visible"/>
                                      </p:to>
                                    </p:set>
                                    <p:anim calcmode="lin" valueType="num">
                                      <p:cBhvr additive="base">
                                        <p:cTn id="12" dur="1000"/>
                                        <p:tgtEl>
                                          <p:spTgt spid="39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90">
                                            <p:txEl>
                                              <p:pRg st="2" end="2"/>
                                            </p:txEl>
                                          </p:spTgt>
                                        </p:tgtEl>
                                        <p:attrNameLst>
                                          <p:attrName>style.visibility</p:attrName>
                                        </p:attrNameLst>
                                      </p:cBhvr>
                                      <p:to>
                                        <p:strVal val="visible"/>
                                      </p:to>
                                    </p:set>
                                    <p:anim calcmode="lin" valueType="num">
                                      <p:cBhvr additive="base">
                                        <p:cTn id="17" dur="1000"/>
                                        <p:tgtEl>
                                          <p:spTgt spid="390">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g116f0f54a95_0_28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design test strategy</a:t>
            </a:r>
            <a:endParaRPr/>
          </a:p>
        </p:txBody>
      </p:sp>
      <p:sp>
        <p:nvSpPr>
          <p:cNvPr id="396" name="Google Shape;396;g116f0f54a95_0_289"/>
          <p:cNvSpPr txBox="1"/>
          <p:nvPr/>
        </p:nvSpPr>
        <p:spPr>
          <a:xfrm>
            <a:off x="595125" y="816000"/>
            <a:ext cx="11338200" cy="5226000"/>
          </a:xfrm>
          <a:prstGeom prst="rect">
            <a:avLst/>
          </a:prstGeom>
          <a:noFill/>
          <a:ln>
            <a:noFill/>
          </a:ln>
        </p:spPr>
        <p:txBody>
          <a:bodyPr spcFirstLastPara="1" wrap="square" lIns="91425" tIns="45700" rIns="91425" bIns="45700" anchor="t" anchorCtr="0">
            <a:normAutofit/>
          </a:bodyPr>
          <a:lstStyle/>
          <a:p>
            <a:pPr marL="1143000" lvl="2" indent="-33020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Người có các kỹ năng sau là lý tưởng nhất để thực hiện kiểm thử phần mềm:</a:t>
            </a:r>
            <a:endParaRPr sz="3600">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Khả năng hiểu quan điểm của khách hàng</a:t>
            </a:r>
            <a:endParaRPr sz="3600">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Mong muốn chất lượng tốt</a:t>
            </a:r>
            <a:endParaRPr sz="3600">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Sự chú ý đến chi tiết</a:t>
            </a:r>
            <a:endParaRPr sz="3600">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Hợp tác tốt</a:t>
            </a:r>
            <a:endParaRPr sz="3600">
              <a:latin typeface="Quattrocento Sans"/>
              <a:ea typeface="Quattrocento Sans"/>
              <a:cs typeface="Quattrocento Sans"/>
              <a:sym typeface="Quattrocento Sans"/>
            </a:endParaRPr>
          </a:p>
          <a:p>
            <a:pPr marL="742950" lvl="0" indent="0" algn="l" rtl="0">
              <a:spcBef>
                <a:spcPts val="0"/>
              </a:spcBef>
              <a:spcAft>
                <a:spcPts val="0"/>
              </a:spcAft>
              <a:buNone/>
            </a:pPr>
            <a:endParaRPr sz="3600">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96">
                                            <p:txEl>
                                              <p:pRg st="0" end="0"/>
                                            </p:txEl>
                                          </p:spTgt>
                                        </p:tgtEl>
                                        <p:attrNameLst>
                                          <p:attrName>style.visibility</p:attrName>
                                        </p:attrNameLst>
                                      </p:cBhvr>
                                      <p:to>
                                        <p:strVal val="visible"/>
                                      </p:to>
                                    </p:set>
                                    <p:anim calcmode="lin" valueType="num">
                                      <p:cBhvr additive="base">
                                        <p:cTn id="7" dur="1000"/>
                                        <p:tgtEl>
                                          <p:spTgt spid="39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96">
                                            <p:txEl>
                                              <p:pRg st="1" end="1"/>
                                            </p:txEl>
                                          </p:spTgt>
                                        </p:tgtEl>
                                        <p:attrNameLst>
                                          <p:attrName>style.visibility</p:attrName>
                                        </p:attrNameLst>
                                      </p:cBhvr>
                                      <p:to>
                                        <p:strVal val="visible"/>
                                      </p:to>
                                    </p:set>
                                    <p:anim calcmode="lin" valueType="num">
                                      <p:cBhvr additive="base">
                                        <p:cTn id="12" dur="1000"/>
                                        <p:tgtEl>
                                          <p:spTgt spid="396">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96">
                                            <p:txEl>
                                              <p:pRg st="2" end="2"/>
                                            </p:txEl>
                                          </p:spTgt>
                                        </p:tgtEl>
                                        <p:attrNameLst>
                                          <p:attrName>style.visibility</p:attrName>
                                        </p:attrNameLst>
                                      </p:cBhvr>
                                      <p:to>
                                        <p:strVal val="visible"/>
                                      </p:to>
                                    </p:set>
                                    <p:anim calcmode="lin" valueType="num">
                                      <p:cBhvr additive="base">
                                        <p:cTn id="17" dur="1000"/>
                                        <p:tgtEl>
                                          <p:spTgt spid="396">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396">
                                            <p:txEl>
                                              <p:pRg st="3" end="3"/>
                                            </p:txEl>
                                          </p:spTgt>
                                        </p:tgtEl>
                                        <p:attrNameLst>
                                          <p:attrName>style.visibility</p:attrName>
                                        </p:attrNameLst>
                                      </p:cBhvr>
                                      <p:to>
                                        <p:strVal val="visible"/>
                                      </p:to>
                                    </p:set>
                                    <p:anim calcmode="lin" valueType="num">
                                      <p:cBhvr additive="base">
                                        <p:cTn id="22" dur="1000"/>
                                        <p:tgtEl>
                                          <p:spTgt spid="396">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96">
                                            <p:txEl>
                                              <p:pRg st="4" end="4"/>
                                            </p:txEl>
                                          </p:spTgt>
                                        </p:tgtEl>
                                        <p:attrNameLst>
                                          <p:attrName>style.visibility</p:attrName>
                                        </p:attrNameLst>
                                      </p:cBhvr>
                                      <p:to>
                                        <p:strVal val="visible"/>
                                      </p:to>
                                    </p:set>
                                    <p:anim calcmode="lin" valueType="num">
                                      <p:cBhvr additive="base">
                                        <p:cTn id="27" dur="1000"/>
                                        <p:tgtEl>
                                          <p:spTgt spid="396">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396">
                                            <p:txEl>
                                              <p:pRg st="5" end="5"/>
                                            </p:txEl>
                                          </p:spTgt>
                                        </p:tgtEl>
                                        <p:attrNameLst>
                                          <p:attrName>style.visibility</p:attrName>
                                        </p:attrNameLst>
                                      </p:cBhvr>
                                      <p:to>
                                        <p:strVal val="visible"/>
                                      </p:to>
                                    </p:set>
                                    <p:anim calcmode="lin" valueType="num">
                                      <p:cBhvr additive="base">
                                        <p:cTn id="32" dur="1000"/>
                                        <p:tgtEl>
                                          <p:spTgt spid="396">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g116f0f54a95_0_30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design test strategy</a:t>
            </a:r>
            <a:endParaRPr/>
          </a:p>
        </p:txBody>
      </p:sp>
      <p:sp>
        <p:nvSpPr>
          <p:cNvPr id="402" name="Google Shape;402;g116f0f54a95_0_303"/>
          <p:cNvSpPr txBox="1"/>
          <p:nvPr/>
        </p:nvSpPr>
        <p:spPr>
          <a:xfrm>
            <a:off x="595125" y="816000"/>
            <a:ext cx="11338200" cy="52260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dirty="0">
                <a:latin typeface="Quattrocento Sans"/>
                <a:ea typeface="Quattrocento Sans"/>
                <a:cs typeface="Quattrocento Sans"/>
                <a:sym typeface="Quattrocento Sans"/>
              </a:rPr>
              <a:t>Khi </a:t>
            </a:r>
            <a:r>
              <a:rPr lang="en-US" sz="3600" dirty="0" err="1">
                <a:latin typeface="Quattrocento Sans"/>
                <a:ea typeface="Quattrocento Sans"/>
                <a:cs typeface="Quattrocento Sans"/>
                <a:sym typeface="Quattrocento Sans"/>
              </a:rPr>
              <a:t>nào</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kiểm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thử</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sẽ</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xảy</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ra</a:t>
            </a:r>
            <a:r>
              <a:rPr lang="en-US" sz="3600" dirty="0">
                <a:latin typeface="Quattrocento Sans"/>
                <a:ea typeface="Quattrocento Sans"/>
                <a:cs typeface="Quattrocento Sans"/>
                <a:sym typeface="Quattrocento Sans"/>
              </a:rPr>
              <a:t>?</a:t>
            </a:r>
            <a:endParaRPr sz="3600" dirty="0">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dirty="0" err="1">
                <a:latin typeface="Quattrocento Sans"/>
                <a:ea typeface="Quattrocento Sans"/>
                <a:cs typeface="Quattrocento Sans"/>
                <a:sym typeface="Quattrocento Sans"/>
              </a:rPr>
              <a:t>Các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hoạt</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động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kiểm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thử</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phải</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được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kết</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hợp</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với</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các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hoạt</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động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phát</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triển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liên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quan</a:t>
            </a:r>
            <a:r>
              <a:rPr lang="en-US" sz="3600" dirty="0">
                <a:latin typeface="Quattrocento Sans"/>
                <a:ea typeface="Quattrocento Sans"/>
                <a:cs typeface="Quattrocento Sans"/>
                <a:sym typeface="Quattrocento Sans"/>
              </a:rPr>
              <a:t>.</a:t>
            </a:r>
            <a:endParaRPr sz="3600" dirty="0">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dirty="0" err="1">
                <a:latin typeface="Quattrocento Sans"/>
                <a:ea typeface="Quattrocento Sans"/>
                <a:cs typeface="Quattrocento Sans"/>
                <a:sym typeface="Quattrocento Sans"/>
              </a:rPr>
              <a:t>Bắt</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đầu</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kiểm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thử</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khi</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bạn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có</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tất</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cả</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các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mục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yêu</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cầu</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được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tập</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hợp</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ba</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yếu</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tố</a:t>
            </a:r>
            <a:endParaRPr sz="3600" dirty="0">
              <a:latin typeface="Quattrocento Sans"/>
              <a:ea typeface="Quattrocento Sans"/>
              <a:cs typeface="Quattrocento Sans"/>
              <a:sym typeface="Quattrocento Sans"/>
            </a:endParaRPr>
          </a:p>
          <a:p>
            <a:pPr marL="1600200" lvl="3" indent="-342900" algn="l" rtl="0">
              <a:spcBef>
                <a:spcPts val="0"/>
              </a:spcBef>
              <a:spcAft>
                <a:spcPts val="0"/>
              </a:spcAft>
              <a:buClr>
                <a:srgbClr val="FF5A33"/>
              </a:buClr>
              <a:buSzPts val="3600"/>
              <a:buFont typeface="Quattrocento Sans"/>
              <a:buChar char="✔"/>
            </a:pPr>
            <a:r>
              <a:rPr lang="en-US" sz="3600" dirty="0" err="1">
                <a:latin typeface="Quattrocento Sans"/>
                <a:ea typeface="Quattrocento Sans"/>
                <a:cs typeface="Quattrocento Sans"/>
                <a:sym typeface="Quattrocento Sans"/>
              </a:rPr>
              <a:t>Tài</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liệu</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kiểm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thử</a:t>
            </a:r>
            <a:r>
              <a:rPr lang="en-US" sz="3600" dirty="0">
                <a:latin typeface="Quattrocento Sans"/>
                <a:ea typeface="Quattrocento Sans"/>
                <a:cs typeface="Quattrocento Sans"/>
                <a:sym typeface="Quattrocento Sans"/>
              </a:rPr>
              <a:t> + </a:t>
            </a:r>
            <a:r>
              <a:rPr lang="en-US" sz="3600" dirty="0" err="1">
                <a:latin typeface="Quattrocento Sans"/>
                <a:ea typeface="Quattrocento Sans"/>
                <a:cs typeface="Quattrocento Sans"/>
                <a:sym typeface="Quattrocento Sans"/>
              </a:rPr>
              <a:t>Nhân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lực</a:t>
            </a:r>
            <a:r>
              <a:rPr lang="en-US" sz="3600" dirty="0">
                <a:latin typeface="Quattrocento Sans"/>
                <a:ea typeface="Quattrocento Sans"/>
                <a:cs typeface="Quattrocento Sans"/>
                <a:sym typeface="Quattrocento Sans"/>
              </a:rPr>
              <a:t> + </a:t>
            </a:r>
            <a:r>
              <a:rPr lang="en-US" sz="3600" dirty="0" err="1">
                <a:latin typeface="Quattrocento Sans"/>
                <a:ea typeface="Quattrocento Sans"/>
                <a:cs typeface="Quattrocento Sans"/>
                <a:sym typeface="Quattrocento Sans"/>
              </a:rPr>
              <a:t>Môi</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trường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kiểm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thử</a:t>
            </a:r>
            <a:r>
              <a:rPr lang="en-US" sz="3600" dirty="0">
                <a:latin typeface="Quattrocento Sans"/>
                <a:ea typeface="Quattrocento Sans"/>
                <a:cs typeface="Quattrocento Sans"/>
                <a:sym typeface="Quattrocento Sans"/>
              </a:rPr>
              <a:t> = Test </a:t>
            </a:r>
            <a:r>
              <a:rPr lang="en-US" sz="3600" dirty="0" err="1">
                <a:latin typeface="Quattrocento Sans"/>
                <a:ea typeface="Quattrocento Sans"/>
                <a:cs typeface="Quattrocento Sans"/>
                <a:sym typeface="Quattrocento Sans"/>
              </a:rPr>
              <a:t>đã</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sẵn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sàng</a:t>
            </a:r>
            <a:r>
              <a:rPr lang="en-US" sz="3600" dirty="0">
                <a:latin typeface="Quattrocento Sans"/>
                <a:ea typeface="Quattrocento Sans"/>
                <a:cs typeface="Quattrocento Sans"/>
                <a:sym typeface="Quattrocento Sans"/>
              </a:rPr>
              <a:t>.</a:t>
            </a:r>
            <a:endParaRPr sz="3600" dirty="0">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02">
                                            <p:txEl>
                                              <p:pRg st="0" end="0"/>
                                            </p:txEl>
                                          </p:spTgt>
                                        </p:tgtEl>
                                        <p:attrNameLst>
                                          <p:attrName>style.visibility</p:attrName>
                                        </p:attrNameLst>
                                      </p:cBhvr>
                                      <p:to>
                                        <p:strVal val="visible"/>
                                      </p:to>
                                    </p:set>
                                    <p:anim calcmode="lin" valueType="num">
                                      <p:cBhvr additive="base">
                                        <p:cTn id="7" dur="1000"/>
                                        <p:tgtEl>
                                          <p:spTgt spid="40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02">
                                            <p:txEl>
                                              <p:pRg st="1" end="1"/>
                                            </p:txEl>
                                          </p:spTgt>
                                        </p:tgtEl>
                                        <p:attrNameLst>
                                          <p:attrName>style.visibility</p:attrName>
                                        </p:attrNameLst>
                                      </p:cBhvr>
                                      <p:to>
                                        <p:strVal val="visible"/>
                                      </p:to>
                                    </p:set>
                                    <p:anim calcmode="lin" valueType="num">
                                      <p:cBhvr additive="base">
                                        <p:cTn id="12" dur="1000"/>
                                        <p:tgtEl>
                                          <p:spTgt spid="40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02">
                                            <p:txEl>
                                              <p:pRg st="2" end="2"/>
                                            </p:txEl>
                                          </p:spTgt>
                                        </p:tgtEl>
                                        <p:attrNameLst>
                                          <p:attrName>style.visibility</p:attrName>
                                        </p:attrNameLst>
                                      </p:cBhvr>
                                      <p:to>
                                        <p:strVal val="visible"/>
                                      </p:to>
                                    </p:set>
                                    <p:anim calcmode="lin" valueType="num">
                                      <p:cBhvr additive="base">
                                        <p:cTn id="17" dur="1000"/>
                                        <p:tgtEl>
                                          <p:spTgt spid="402">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402">
                                            <p:txEl>
                                              <p:pRg st="3" end="3"/>
                                            </p:txEl>
                                          </p:spTgt>
                                        </p:tgtEl>
                                        <p:attrNameLst>
                                          <p:attrName>style.visibility</p:attrName>
                                        </p:attrNameLst>
                                      </p:cBhvr>
                                      <p:to>
                                        <p:strVal val="visible"/>
                                      </p:to>
                                    </p:set>
                                    <p:anim calcmode="lin" valueType="num">
                                      <p:cBhvr additive="base">
                                        <p:cTn id="22" dur="1000"/>
                                        <p:tgtEl>
                                          <p:spTgt spid="402">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g116f0f54a95_0_30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define test objectives</a:t>
            </a:r>
            <a:endParaRPr/>
          </a:p>
        </p:txBody>
      </p:sp>
      <p:sp>
        <p:nvSpPr>
          <p:cNvPr id="408" name="Google Shape;408;g116f0f54a95_0_309"/>
          <p:cNvSpPr txBox="1"/>
          <p:nvPr/>
        </p:nvSpPr>
        <p:spPr>
          <a:xfrm>
            <a:off x="522375" y="1597325"/>
            <a:ext cx="11338200" cy="5226000"/>
          </a:xfrm>
          <a:prstGeom prst="rect">
            <a:avLst/>
          </a:prstGeom>
          <a:noFill/>
          <a:ln>
            <a:noFill/>
          </a:ln>
        </p:spPr>
        <p:txBody>
          <a:bodyPr spcFirstLastPara="1" wrap="square" lIns="91425" tIns="45700" rIns="91425" bIns="45700" anchor="t" anchorCtr="0">
            <a:normAutofit lnSpcReduction="10000"/>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Mỗi quá trình test sẽ có một mục tiêu khác nhau, cần xác định rõ mục tiêu của quá trình đó là gì. Do đó, việc xác định đúng mục tiêu sẽ giúp cho việc test sản phẩm diễn ra nhanh chóng và suôn sẻ hơn.</a:t>
            </a:r>
            <a:endParaRPr sz="360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Để xác định mục tiêu kiểm thử, bạn nên thực hiện 2 bước sau:</a:t>
            </a:r>
            <a:endParaRPr sz="3600">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Bước 1: Liệt kê tất cả các tính năng phần mềm (chức năng, hiệu suất, GUI) có thể cần kiểm thử.</a:t>
            </a:r>
            <a:endParaRPr sz="3600">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Bước 2: Xác định mục tiêu kiểm thử dựa trên các tính năng trên</a:t>
            </a:r>
            <a:endParaRPr sz="3600">
              <a:latin typeface="Quattrocento Sans"/>
              <a:ea typeface="Quattrocento Sans"/>
              <a:cs typeface="Quattrocento Sans"/>
              <a:sym typeface="Quattrocento Sans"/>
            </a:endParaRPr>
          </a:p>
        </p:txBody>
      </p:sp>
      <p:sp>
        <p:nvSpPr>
          <p:cNvPr id="409" name="Google Shape;409;g116f0f54a95_0_309"/>
          <p:cNvSpPr txBox="1"/>
          <p:nvPr/>
        </p:nvSpPr>
        <p:spPr>
          <a:xfrm>
            <a:off x="522375" y="79692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Bước 3: Xác định mục tiêu kiểm thử</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08">
                                            <p:txEl>
                                              <p:pRg st="0" end="0"/>
                                            </p:txEl>
                                          </p:spTgt>
                                        </p:tgtEl>
                                        <p:attrNameLst>
                                          <p:attrName>style.visibility</p:attrName>
                                        </p:attrNameLst>
                                      </p:cBhvr>
                                      <p:to>
                                        <p:strVal val="visible"/>
                                      </p:to>
                                    </p:set>
                                    <p:anim calcmode="lin" valueType="num">
                                      <p:cBhvr additive="base">
                                        <p:cTn id="7" dur="1000"/>
                                        <p:tgtEl>
                                          <p:spTgt spid="40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08">
                                            <p:txEl>
                                              <p:pRg st="1" end="1"/>
                                            </p:txEl>
                                          </p:spTgt>
                                        </p:tgtEl>
                                        <p:attrNameLst>
                                          <p:attrName>style.visibility</p:attrName>
                                        </p:attrNameLst>
                                      </p:cBhvr>
                                      <p:to>
                                        <p:strVal val="visible"/>
                                      </p:to>
                                    </p:set>
                                    <p:anim calcmode="lin" valueType="num">
                                      <p:cBhvr additive="base">
                                        <p:cTn id="12" dur="1000"/>
                                        <p:tgtEl>
                                          <p:spTgt spid="408">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08">
                                            <p:txEl>
                                              <p:pRg st="2" end="2"/>
                                            </p:txEl>
                                          </p:spTgt>
                                        </p:tgtEl>
                                        <p:attrNameLst>
                                          <p:attrName>style.visibility</p:attrName>
                                        </p:attrNameLst>
                                      </p:cBhvr>
                                      <p:to>
                                        <p:strVal val="visible"/>
                                      </p:to>
                                    </p:set>
                                    <p:anim calcmode="lin" valueType="num">
                                      <p:cBhvr additive="base">
                                        <p:cTn id="17" dur="1000"/>
                                        <p:tgtEl>
                                          <p:spTgt spid="408">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408">
                                            <p:txEl>
                                              <p:pRg st="3" end="3"/>
                                            </p:txEl>
                                          </p:spTgt>
                                        </p:tgtEl>
                                        <p:attrNameLst>
                                          <p:attrName>style.visibility</p:attrName>
                                        </p:attrNameLst>
                                      </p:cBhvr>
                                      <p:to>
                                        <p:strVal val="visible"/>
                                      </p:to>
                                    </p:set>
                                    <p:anim calcmode="lin" valueType="num">
                                      <p:cBhvr additive="base">
                                        <p:cTn id="22" dur="1000"/>
                                        <p:tgtEl>
                                          <p:spTgt spid="408">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g116f0f54a95_0_31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define test objectives</a:t>
            </a:r>
            <a:endParaRPr/>
          </a:p>
        </p:txBody>
      </p:sp>
      <p:sp>
        <p:nvSpPr>
          <p:cNvPr id="415" name="Google Shape;415;g116f0f54a95_0_319"/>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Áp dụng vào dự án kiểm thử website Ngân hàng để xác định đối tượng kiểm thử chúng ta có sơ đồ tư duy như sau: </a:t>
            </a:r>
            <a:endParaRPr sz="3600">
              <a:solidFill>
                <a:schemeClr val="dk1"/>
              </a:solidFill>
              <a:latin typeface="Quattrocento Sans"/>
              <a:ea typeface="Quattrocento Sans"/>
              <a:cs typeface="Quattrocento Sans"/>
              <a:sym typeface="Quattrocento Sans"/>
            </a:endParaRPr>
          </a:p>
          <a:p>
            <a:pPr marL="0" lvl="0" indent="0" algn="l" rtl="0">
              <a:spcBef>
                <a:spcPts val="0"/>
              </a:spcBef>
              <a:spcAft>
                <a:spcPts val="0"/>
              </a:spcAft>
              <a:buNone/>
            </a:pPr>
            <a:endParaRPr sz="3600">
              <a:solidFill>
                <a:schemeClr val="dk1"/>
              </a:solidFill>
              <a:latin typeface="Quattrocento Sans"/>
              <a:ea typeface="Quattrocento Sans"/>
              <a:cs typeface="Quattrocento Sans"/>
              <a:sym typeface="Quattrocento Sans"/>
            </a:endParaRPr>
          </a:p>
        </p:txBody>
      </p:sp>
      <p:pic>
        <p:nvPicPr>
          <p:cNvPr id="416" name="Google Shape;416;g116f0f54a95_0_319"/>
          <p:cNvPicPr preferRelativeResize="0"/>
          <p:nvPr/>
        </p:nvPicPr>
        <p:blipFill>
          <a:blip r:embed="rId3">
            <a:alphaModFix/>
          </a:blip>
          <a:stretch>
            <a:fillRect/>
          </a:stretch>
        </p:blipFill>
        <p:spPr>
          <a:xfrm>
            <a:off x="4365825" y="2133125"/>
            <a:ext cx="7216476" cy="45792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g116f0f54a95_0_33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design test strategy</a:t>
            </a:r>
            <a:endParaRPr/>
          </a:p>
        </p:txBody>
      </p:sp>
      <p:sp>
        <p:nvSpPr>
          <p:cNvPr id="422" name="Google Shape;422;g116f0f54a95_0_334"/>
          <p:cNvSpPr txBox="1"/>
          <p:nvPr/>
        </p:nvSpPr>
        <p:spPr>
          <a:xfrm>
            <a:off x="249500" y="816000"/>
            <a:ext cx="11410800" cy="6042000"/>
          </a:xfrm>
          <a:prstGeom prst="rect">
            <a:avLst/>
          </a:prstGeom>
          <a:noFill/>
          <a:ln>
            <a:noFill/>
          </a:ln>
        </p:spPr>
        <p:txBody>
          <a:bodyPr spcFirstLastPara="1" wrap="square" lIns="91425" tIns="45700" rIns="91425" bIns="45700" anchor="t" anchorCtr="0">
            <a:noAutofit/>
          </a:bodyPr>
          <a:lstStyle/>
          <a:p>
            <a:pPr marL="742950" lvl="1" indent="-342900" algn="l" rtl="0">
              <a:spcBef>
                <a:spcPts val="0"/>
              </a:spcBef>
              <a:spcAft>
                <a:spcPts val="0"/>
              </a:spcAft>
              <a:buClr>
                <a:srgbClr val="FF5A33"/>
              </a:buClr>
              <a:buSzPts val="3300"/>
              <a:buFont typeface="Quattrocento Sans"/>
              <a:buChar char="❖"/>
            </a:pPr>
            <a:r>
              <a:rPr lang="en-US" sz="3300">
                <a:latin typeface="Quattrocento Sans"/>
                <a:ea typeface="Quattrocento Sans"/>
                <a:cs typeface="Quattrocento Sans"/>
                <a:sym typeface="Quattrocento Sans"/>
              </a:rPr>
              <a:t>Dựa trên các tính năng trên, bạn có thể xác định mục tiêu kiểm thử (Test Objective) của dự án Ngân hàng như sau:</a:t>
            </a:r>
            <a:endParaRPr sz="3300">
              <a:latin typeface="Quattrocento Sans"/>
              <a:ea typeface="Quattrocento Sans"/>
              <a:cs typeface="Quattrocento Sans"/>
              <a:sym typeface="Quattrocento Sans"/>
            </a:endParaRPr>
          </a:p>
          <a:p>
            <a:pPr marL="1143000" lvl="2" indent="-311150" algn="l" rtl="0">
              <a:spcBef>
                <a:spcPts val="0"/>
              </a:spcBef>
              <a:spcAft>
                <a:spcPts val="0"/>
              </a:spcAft>
              <a:buClr>
                <a:srgbClr val="FF5A33"/>
              </a:buClr>
              <a:buSzPts val="3300"/>
              <a:buFont typeface="Quattrocento Sans"/>
              <a:buChar char="⮚"/>
            </a:pPr>
            <a:r>
              <a:rPr lang="en-US" sz="3300">
                <a:latin typeface="Quattrocento Sans"/>
                <a:ea typeface="Quattrocento Sans"/>
                <a:cs typeface="Quattrocento Sans"/>
                <a:sym typeface="Quattrocento Sans"/>
              </a:rPr>
              <a:t>Kiểm thử xem liệu chức năng của trang web Ngân hàng(Tài khoản, Tiền gửi) có hoạt động như mong đợi mà không có bất kỳ lỗi hoặc lỗi nào trong môi trường kinh doanh thực tế</a:t>
            </a:r>
            <a:endParaRPr sz="3300">
              <a:latin typeface="Quattrocento Sans"/>
              <a:ea typeface="Quattrocento Sans"/>
              <a:cs typeface="Quattrocento Sans"/>
              <a:sym typeface="Quattrocento Sans"/>
            </a:endParaRPr>
          </a:p>
          <a:p>
            <a:pPr marL="1143000" lvl="2" indent="-311150" algn="l" rtl="0">
              <a:spcBef>
                <a:spcPts val="0"/>
              </a:spcBef>
              <a:spcAft>
                <a:spcPts val="0"/>
              </a:spcAft>
              <a:buClr>
                <a:srgbClr val="FF5A33"/>
              </a:buClr>
              <a:buSzPts val="3300"/>
              <a:buFont typeface="Quattrocento Sans"/>
              <a:buChar char="⮚"/>
            </a:pPr>
            <a:r>
              <a:rPr lang="en-US" sz="3300">
                <a:latin typeface="Quattrocento Sans"/>
                <a:ea typeface="Quattrocento Sans"/>
                <a:cs typeface="Quattrocento Sans"/>
                <a:sym typeface="Quattrocento Sans"/>
              </a:rPr>
              <a:t>Kiểm thử xem giao diện bên ngoài của trang web như UI có hoạt động như mong đợi không và đáp ứng nhu cầu của khách hàng</a:t>
            </a:r>
            <a:endParaRPr sz="3300">
              <a:latin typeface="Quattrocento Sans"/>
              <a:ea typeface="Quattrocento Sans"/>
              <a:cs typeface="Quattrocento Sans"/>
              <a:sym typeface="Quattrocento Sans"/>
            </a:endParaRPr>
          </a:p>
          <a:p>
            <a:pPr marL="1143000" lvl="2" indent="-311150" algn="l" rtl="0">
              <a:spcBef>
                <a:spcPts val="0"/>
              </a:spcBef>
              <a:spcAft>
                <a:spcPts val="0"/>
              </a:spcAft>
              <a:buClr>
                <a:srgbClr val="FF5A33"/>
              </a:buClr>
              <a:buSzPts val="3300"/>
              <a:buFont typeface="Quattrocento Sans"/>
              <a:buChar char="⮚"/>
            </a:pPr>
            <a:r>
              <a:rPr lang="en-US" sz="3300">
                <a:latin typeface="Quattrocento Sans"/>
                <a:ea typeface="Quattrocento Sans"/>
                <a:cs typeface="Quattrocento Sans"/>
                <a:sym typeface="Quattrocento Sans"/>
              </a:rPr>
              <a:t>Xác minh khả năng sử dụng của trang web. Những chức năng đó có thuận tiện cho người dùng hay không?</a:t>
            </a:r>
            <a:endParaRPr sz="3300">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22">
                                            <p:txEl>
                                              <p:pRg st="0" end="0"/>
                                            </p:txEl>
                                          </p:spTgt>
                                        </p:tgtEl>
                                        <p:attrNameLst>
                                          <p:attrName>style.visibility</p:attrName>
                                        </p:attrNameLst>
                                      </p:cBhvr>
                                      <p:to>
                                        <p:strVal val="visible"/>
                                      </p:to>
                                    </p:set>
                                    <p:anim calcmode="lin" valueType="num">
                                      <p:cBhvr additive="base">
                                        <p:cTn id="7" dur="1000"/>
                                        <p:tgtEl>
                                          <p:spTgt spid="42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22">
                                            <p:txEl>
                                              <p:pRg st="1" end="1"/>
                                            </p:txEl>
                                          </p:spTgt>
                                        </p:tgtEl>
                                        <p:attrNameLst>
                                          <p:attrName>style.visibility</p:attrName>
                                        </p:attrNameLst>
                                      </p:cBhvr>
                                      <p:to>
                                        <p:strVal val="visible"/>
                                      </p:to>
                                    </p:set>
                                    <p:anim calcmode="lin" valueType="num">
                                      <p:cBhvr additive="base">
                                        <p:cTn id="12" dur="1000"/>
                                        <p:tgtEl>
                                          <p:spTgt spid="42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22">
                                            <p:txEl>
                                              <p:pRg st="2" end="2"/>
                                            </p:txEl>
                                          </p:spTgt>
                                        </p:tgtEl>
                                        <p:attrNameLst>
                                          <p:attrName>style.visibility</p:attrName>
                                        </p:attrNameLst>
                                      </p:cBhvr>
                                      <p:to>
                                        <p:strVal val="visible"/>
                                      </p:to>
                                    </p:set>
                                    <p:anim calcmode="lin" valueType="num">
                                      <p:cBhvr additive="base">
                                        <p:cTn id="17" dur="1000"/>
                                        <p:tgtEl>
                                          <p:spTgt spid="422">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422">
                                            <p:txEl>
                                              <p:pRg st="3" end="3"/>
                                            </p:txEl>
                                          </p:spTgt>
                                        </p:tgtEl>
                                        <p:attrNameLst>
                                          <p:attrName>style.visibility</p:attrName>
                                        </p:attrNameLst>
                                      </p:cBhvr>
                                      <p:to>
                                        <p:strVal val="visible"/>
                                      </p:to>
                                    </p:set>
                                    <p:anim calcmode="lin" valueType="num">
                                      <p:cBhvr additive="base">
                                        <p:cTn id="22" dur="1000"/>
                                        <p:tgtEl>
                                          <p:spTgt spid="422">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g11757251f1a_0_46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Tóm tắt bài học</a:t>
            </a:r>
            <a:endParaRPr/>
          </a:p>
        </p:txBody>
      </p:sp>
      <p:sp>
        <p:nvSpPr>
          <p:cNvPr id="428" name="Google Shape;428;g11757251f1a_0_469"/>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lnSpc>
                <a:spcPct val="100000"/>
              </a:lnSpc>
              <a:spcBef>
                <a:spcPts val="0"/>
              </a:spcBef>
              <a:spcAft>
                <a:spcPts val="0"/>
              </a:spcAft>
              <a:buClr>
                <a:srgbClr val="FF5A33"/>
              </a:buClr>
              <a:buSzPts val="2800"/>
              <a:buFont typeface="Noto Sans Symbols"/>
              <a:buNone/>
            </a:pPr>
            <a:endParaRPr/>
          </a:p>
        </p:txBody>
      </p:sp>
      <p:sp>
        <p:nvSpPr>
          <p:cNvPr id="429" name="Google Shape;429;g11757251f1a_0_469"/>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0" name="Google Shape;430;g11757251f1a_0_469"/>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31" name="Google Shape;431;g11757251f1a_0_469"/>
          <p:cNvSpPr txBox="1"/>
          <p:nvPr/>
        </p:nvSpPr>
        <p:spPr>
          <a:xfrm>
            <a:off x="894600" y="2067600"/>
            <a:ext cx="8229600" cy="3933900"/>
          </a:xfrm>
          <a:prstGeom prst="rect">
            <a:avLst/>
          </a:prstGeom>
          <a:noFill/>
          <a:ln>
            <a:noFill/>
          </a:ln>
        </p:spPr>
        <p:txBody>
          <a:bodyPr spcFirstLastPara="1" wrap="square" lIns="91425" tIns="45700" rIns="91425" bIns="45700" anchor="t" anchorCtr="0">
            <a:noAutofit/>
          </a:bodyPr>
          <a:lstStyle/>
          <a:p>
            <a:pPr marL="457200" lvl="0" indent="-463550" algn="l" rtl="0">
              <a:lnSpc>
                <a:spcPct val="115000"/>
              </a:lnSpc>
              <a:spcBef>
                <a:spcPts val="0"/>
              </a:spcBef>
              <a:spcAft>
                <a:spcPts val="0"/>
              </a:spcAft>
              <a:buClr>
                <a:srgbClr val="333333"/>
              </a:buClr>
              <a:buSzPts val="3700"/>
              <a:buFont typeface="Quattrocento Sans"/>
              <a:buChar char="•"/>
            </a:pPr>
            <a:r>
              <a:rPr lang="en-US" sz="2900" b="1">
                <a:solidFill>
                  <a:srgbClr val="333333"/>
                </a:solidFill>
                <a:latin typeface="Quattrocento Sans"/>
                <a:ea typeface="Quattrocento Sans"/>
                <a:cs typeface="Quattrocento Sans"/>
                <a:sym typeface="Quattrocento Sans"/>
              </a:rPr>
              <a:t>Test plan là gì?</a:t>
            </a:r>
            <a:endParaRPr sz="2900" b="1">
              <a:solidFill>
                <a:srgbClr val="333333"/>
              </a:solidFill>
              <a:latin typeface="Quattrocento Sans"/>
              <a:ea typeface="Quattrocento Sans"/>
              <a:cs typeface="Quattrocento Sans"/>
              <a:sym typeface="Quattrocento Sans"/>
            </a:endParaRPr>
          </a:p>
          <a:p>
            <a:pPr marL="457200" lvl="0"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Tầm quan trọng của Kế hoạch kiểm tra là gì?</a:t>
            </a:r>
            <a:endParaRPr sz="2900" b="1">
              <a:solidFill>
                <a:srgbClr val="333333"/>
              </a:solidFill>
              <a:latin typeface="Quattrocento Sans"/>
              <a:ea typeface="Quattrocento Sans"/>
              <a:cs typeface="Quattrocento Sans"/>
              <a:sym typeface="Quattrocento Sans"/>
            </a:endParaRPr>
          </a:p>
          <a:p>
            <a:pPr marL="457200" lvl="0"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8 bước để viết một Test Plan</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Bước 1: Phân tích sản phẩm</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Bước 2: Thiết kế Chiến lược Kiểm tra</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Bước 3: Xác định các Mục tiêu Kiểm tra</a:t>
            </a:r>
            <a:endParaRPr sz="2900" b="1">
              <a:solidFill>
                <a:srgbClr val="333333"/>
              </a:solidFill>
              <a:latin typeface="Quattrocento Sans"/>
              <a:ea typeface="Quattrocento Sans"/>
              <a:cs typeface="Quattrocento Sans"/>
              <a:sym typeface="Quattrocento Sans"/>
            </a:endParaRPr>
          </a:p>
        </p:txBody>
      </p:sp>
      <p:sp>
        <p:nvSpPr>
          <p:cNvPr id="432" name="Google Shape;432;g11757251f1a_0_469"/>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Tóm tắt bài học</a:t>
            </a:r>
            <a:endParaRPr sz="2800" b="1" i="0" u="none" strike="noStrike" cap="none">
              <a:solidFill>
                <a:srgbClr val="F79646"/>
              </a:solidFill>
              <a:latin typeface="Quattrocento Sans"/>
              <a:ea typeface="Quattrocento Sans"/>
              <a:cs typeface="Quattrocento Sans"/>
              <a:sym typeface="Quattrocento Sans"/>
            </a:endParaRPr>
          </a:p>
        </p:txBody>
      </p:sp>
      <p:pic>
        <p:nvPicPr>
          <p:cNvPr id="433" name="Google Shape;433;g11757251f1a_0_469" descr="D:\Compressed\PSD Collection 2011\WP-201 copy.png"/>
          <p:cNvPicPr preferRelativeResize="0"/>
          <p:nvPr/>
        </p:nvPicPr>
        <p:blipFill rotWithShape="1">
          <a:blip r:embed="rId3">
            <a:alphaModFix/>
          </a:blip>
          <a:srcRect/>
          <a:stretch/>
        </p:blipFill>
        <p:spPr>
          <a:xfrm flipH="1">
            <a:off x="9189300" y="1095638"/>
            <a:ext cx="2782800" cy="52001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g11757251f1a_0_47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Nội dung bài học tiếp theo</a:t>
            </a:r>
            <a:endParaRPr/>
          </a:p>
        </p:txBody>
      </p:sp>
      <p:sp>
        <p:nvSpPr>
          <p:cNvPr id="439" name="Google Shape;439;g11757251f1a_0_479"/>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lnSpc>
                <a:spcPct val="100000"/>
              </a:lnSpc>
              <a:spcBef>
                <a:spcPts val="0"/>
              </a:spcBef>
              <a:spcAft>
                <a:spcPts val="0"/>
              </a:spcAft>
              <a:buClr>
                <a:srgbClr val="FF5A33"/>
              </a:buClr>
              <a:buSzPts val="2800"/>
              <a:buFont typeface="Noto Sans Symbols"/>
              <a:buNone/>
            </a:pPr>
            <a:endParaRPr/>
          </a:p>
        </p:txBody>
      </p:sp>
      <p:sp>
        <p:nvSpPr>
          <p:cNvPr id="440" name="Google Shape;440;g11757251f1a_0_479"/>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1" name="Google Shape;441;g11757251f1a_0_479"/>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42" name="Google Shape;442;g11757251f1a_0_479"/>
          <p:cNvSpPr txBox="1"/>
          <p:nvPr/>
        </p:nvSpPr>
        <p:spPr>
          <a:xfrm>
            <a:off x="694500" y="2067600"/>
            <a:ext cx="8229600" cy="3933900"/>
          </a:xfrm>
          <a:prstGeom prst="rect">
            <a:avLst/>
          </a:prstGeom>
          <a:noFill/>
          <a:ln>
            <a:noFill/>
          </a:ln>
        </p:spPr>
        <p:txBody>
          <a:bodyPr spcFirstLastPara="1" wrap="square" lIns="91425" tIns="45700" rIns="91425" bIns="45700" anchor="t" anchorCtr="0">
            <a:noAutofit/>
          </a:bodyPr>
          <a:lstStyle/>
          <a:p>
            <a:pPr marL="457200" lvl="0" indent="-412750" algn="l" rtl="0">
              <a:lnSpc>
                <a:spcPct val="115000"/>
              </a:lnSpc>
              <a:spcBef>
                <a:spcPts val="0"/>
              </a:spcBef>
              <a:spcAft>
                <a:spcPts val="0"/>
              </a:spcAft>
              <a:buClr>
                <a:srgbClr val="333333"/>
              </a:buClr>
              <a:buSzPts val="2900"/>
              <a:buFont typeface="Quattrocento Sans"/>
              <a:buChar char="•"/>
            </a:pPr>
            <a:r>
              <a:rPr lang="en-US" sz="2900" b="1" dirty="0">
                <a:solidFill>
                  <a:srgbClr val="333333"/>
                </a:solidFill>
                <a:latin typeface="Quattrocento Sans"/>
                <a:ea typeface="Quattrocento Sans"/>
                <a:cs typeface="Quattrocento Sans"/>
                <a:sym typeface="Quattrocento Sans"/>
              </a:rPr>
              <a:t>8 </a:t>
            </a:r>
            <a:r>
              <a:rPr lang="en-US" sz="2900" b="1" dirty="0" err="1">
                <a:solidFill>
                  <a:srgbClr val="333333"/>
                </a:solidFill>
                <a:latin typeface="Quattrocento Sans"/>
                <a:ea typeface="Quattrocento Sans"/>
                <a:cs typeface="Quattrocento Sans"/>
                <a:sym typeface="Quattrocento Sans"/>
              </a:rPr>
              <a:t>bước</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để</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viết</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một</a:t>
            </a:r>
            <a:r>
              <a:rPr lang="en-US" sz="2900" b="1" dirty="0">
                <a:solidFill>
                  <a:srgbClr val="333333"/>
                </a:solidFill>
                <a:latin typeface="Quattrocento Sans"/>
                <a:ea typeface="Quattrocento Sans"/>
                <a:cs typeface="Quattrocento Sans"/>
                <a:sym typeface="Quattrocento Sans"/>
              </a:rPr>
              <a:t> Test Plan</a:t>
            </a:r>
            <a:endParaRPr sz="2900" b="1" dirty="0">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dirty="0" err="1">
                <a:solidFill>
                  <a:srgbClr val="333333"/>
                </a:solidFill>
                <a:latin typeface="Quattrocento Sans"/>
                <a:ea typeface="Quattrocento Sans"/>
                <a:cs typeface="Quattrocento Sans"/>
                <a:sym typeface="Quattrocento Sans"/>
              </a:rPr>
              <a:t>Bước</a:t>
            </a:r>
            <a:r>
              <a:rPr lang="en-US" sz="2900" b="1" dirty="0">
                <a:solidFill>
                  <a:srgbClr val="333333"/>
                </a:solidFill>
                <a:latin typeface="Quattrocento Sans"/>
                <a:ea typeface="Quattrocento Sans"/>
                <a:cs typeface="Quattrocento Sans"/>
                <a:sym typeface="Quattrocento Sans"/>
              </a:rPr>
              <a:t> 4: </a:t>
            </a:r>
            <a:r>
              <a:rPr lang="en-US" sz="2900" b="1" dirty="0" err="1">
                <a:solidFill>
                  <a:srgbClr val="333333"/>
                </a:solidFill>
                <a:latin typeface="Quattrocento Sans"/>
                <a:ea typeface="Quattrocento Sans"/>
                <a:cs typeface="Quattrocento Sans"/>
                <a:sym typeface="Quattrocento Sans"/>
              </a:rPr>
              <a:t>Xác</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định</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tiêu</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chí</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kiểm</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tra</a:t>
            </a:r>
            <a:endParaRPr sz="2900" b="1" dirty="0">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dirty="0" err="1">
                <a:solidFill>
                  <a:srgbClr val="333333"/>
                </a:solidFill>
                <a:latin typeface="Quattrocento Sans"/>
                <a:ea typeface="Quattrocento Sans"/>
                <a:cs typeface="Quattrocento Sans"/>
                <a:sym typeface="Quattrocento Sans"/>
              </a:rPr>
              <a:t>Bước</a:t>
            </a:r>
            <a:r>
              <a:rPr lang="en-US" sz="2900" b="1" dirty="0">
                <a:solidFill>
                  <a:srgbClr val="333333"/>
                </a:solidFill>
                <a:latin typeface="Quattrocento Sans"/>
                <a:ea typeface="Quattrocento Sans"/>
                <a:cs typeface="Quattrocento Sans"/>
                <a:sym typeface="Quattrocento Sans"/>
              </a:rPr>
              <a:t> 5: </a:t>
            </a:r>
            <a:r>
              <a:rPr lang="en-US" sz="2900" b="1" dirty="0" err="1">
                <a:solidFill>
                  <a:srgbClr val="333333"/>
                </a:solidFill>
                <a:latin typeface="Quattrocento Sans"/>
                <a:ea typeface="Quattrocento Sans"/>
                <a:cs typeface="Quattrocento Sans"/>
                <a:sym typeface="Quattrocento Sans"/>
              </a:rPr>
              <a:t>Hoạch</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định</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nguồn</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lực</a:t>
            </a:r>
            <a:endParaRPr sz="2900" b="1" dirty="0">
              <a:solidFill>
                <a:srgbClr val="333333"/>
              </a:solidFill>
              <a:latin typeface="Quattrocento Sans"/>
              <a:ea typeface="Quattrocento Sans"/>
              <a:cs typeface="Quattrocento Sans"/>
              <a:sym typeface="Quattrocento Sans"/>
            </a:endParaRPr>
          </a:p>
          <a:p>
            <a:pPr marL="501650" lvl="1" algn="l" rtl="0">
              <a:lnSpc>
                <a:spcPct val="115000"/>
              </a:lnSpc>
              <a:spcBef>
                <a:spcPts val="0"/>
              </a:spcBef>
              <a:spcAft>
                <a:spcPts val="0"/>
              </a:spcAft>
              <a:buClr>
                <a:srgbClr val="333333"/>
              </a:buClr>
              <a:buSzPts val="2900"/>
            </a:pPr>
            <a:r>
              <a:rPr lang="en-US" sz="2900" b="1" dirty="0" err="1">
                <a:solidFill>
                  <a:srgbClr val="333333"/>
                </a:solidFill>
                <a:latin typeface="Quattrocento Sans"/>
                <a:ea typeface="Quattrocento Sans"/>
                <a:cs typeface="Quattrocento Sans"/>
                <a:sym typeface="Quattrocento Sans"/>
              </a:rPr>
              <a:t>Bước</a:t>
            </a:r>
            <a:r>
              <a:rPr lang="en-US" sz="2900" b="1" dirty="0">
                <a:solidFill>
                  <a:srgbClr val="333333"/>
                </a:solidFill>
                <a:latin typeface="Quattrocento Sans"/>
                <a:ea typeface="Quattrocento Sans"/>
                <a:cs typeface="Quattrocento Sans"/>
                <a:sym typeface="Quattrocento Sans"/>
              </a:rPr>
              <a:t> 6: </a:t>
            </a:r>
            <a:r>
              <a:rPr lang="en-US" sz="2900" b="1" dirty="0" err="1">
                <a:solidFill>
                  <a:srgbClr val="333333"/>
                </a:solidFill>
                <a:latin typeface="Quattrocento Sans"/>
                <a:ea typeface="Quattrocento Sans"/>
                <a:cs typeface="Quattrocento Sans"/>
                <a:sym typeface="Quattrocento Sans"/>
              </a:rPr>
              <a:t>Lập</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kế</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hoạch</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môi</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trường</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thử</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nghiệm</a:t>
            </a:r>
            <a:endParaRPr sz="2900" b="1" dirty="0">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dirty="0" err="1">
                <a:solidFill>
                  <a:srgbClr val="333333"/>
                </a:solidFill>
                <a:latin typeface="Quattrocento Sans"/>
                <a:ea typeface="Quattrocento Sans"/>
                <a:cs typeface="Quattrocento Sans"/>
                <a:sym typeface="Quattrocento Sans"/>
              </a:rPr>
              <a:t>Bước</a:t>
            </a:r>
            <a:r>
              <a:rPr lang="en-US" sz="2900" b="1" dirty="0">
                <a:solidFill>
                  <a:srgbClr val="333333"/>
                </a:solidFill>
                <a:latin typeface="Quattrocento Sans"/>
                <a:ea typeface="Quattrocento Sans"/>
                <a:cs typeface="Quattrocento Sans"/>
                <a:sym typeface="Quattrocento Sans"/>
              </a:rPr>
              <a:t> 7: </a:t>
            </a:r>
            <a:r>
              <a:rPr lang="en-US" sz="2900" b="1" dirty="0" err="1">
                <a:solidFill>
                  <a:srgbClr val="333333"/>
                </a:solidFill>
                <a:latin typeface="Quattrocento Sans"/>
                <a:ea typeface="Quattrocento Sans"/>
                <a:cs typeface="Quattrocento Sans"/>
                <a:sym typeface="Quattrocento Sans"/>
              </a:rPr>
              <a:t>Lập</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lịch</a:t>
            </a:r>
            <a:r>
              <a:rPr lang="en-US" sz="2900" b="1" dirty="0">
                <a:solidFill>
                  <a:srgbClr val="333333"/>
                </a:solidFill>
                <a:latin typeface="Quattrocento Sans"/>
                <a:ea typeface="Quattrocento Sans"/>
                <a:cs typeface="Quattrocento Sans"/>
                <a:sym typeface="Quattrocento Sans"/>
              </a:rPr>
              <a:t> &amp; </a:t>
            </a:r>
            <a:r>
              <a:rPr lang="en-US" sz="2900" b="1" dirty="0" err="1">
                <a:solidFill>
                  <a:srgbClr val="333333"/>
                </a:solidFill>
                <a:latin typeface="Quattrocento Sans"/>
                <a:ea typeface="Quattrocento Sans"/>
                <a:cs typeface="Quattrocento Sans"/>
                <a:sym typeface="Quattrocento Sans"/>
              </a:rPr>
              <a:t>Ước</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tính</a:t>
            </a:r>
            <a:endParaRPr sz="2900" b="1" dirty="0">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dirty="0" err="1">
                <a:solidFill>
                  <a:srgbClr val="333333"/>
                </a:solidFill>
                <a:latin typeface="Quattrocento Sans"/>
                <a:ea typeface="Quattrocento Sans"/>
                <a:cs typeface="Quattrocento Sans"/>
                <a:sym typeface="Quattrocento Sans"/>
              </a:rPr>
              <a:t>Bước</a:t>
            </a:r>
            <a:r>
              <a:rPr lang="en-US" sz="2900" b="1" dirty="0">
                <a:solidFill>
                  <a:srgbClr val="333333"/>
                </a:solidFill>
                <a:latin typeface="Quattrocento Sans"/>
                <a:ea typeface="Quattrocento Sans"/>
                <a:cs typeface="Quattrocento Sans"/>
                <a:sym typeface="Quattrocento Sans"/>
              </a:rPr>
              <a:t> 8: </a:t>
            </a:r>
            <a:r>
              <a:rPr lang="en-US" sz="2900" b="1" dirty="0" err="1">
                <a:solidFill>
                  <a:srgbClr val="333333"/>
                </a:solidFill>
                <a:latin typeface="Quattrocento Sans"/>
                <a:ea typeface="Quattrocento Sans"/>
                <a:cs typeface="Quattrocento Sans"/>
                <a:sym typeface="Quattrocento Sans"/>
              </a:rPr>
              <a:t>Xác</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định</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phân</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phối</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thử</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nghiệm</a:t>
            </a:r>
            <a:endParaRPr sz="2900" b="1" dirty="0">
              <a:solidFill>
                <a:srgbClr val="333333"/>
              </a:solidFill>
              <a:latin typeface="Quattrocento Sans"/>
              <a:ea typeface="Quattrocento Sans"/>
              <a:cs typeface="Quattrocento Sans"/>
              <a:sym typeface="Quattrocento Sans"/>
            </a:endParaRPr>
          </a:p>
        </p:txBody>
      </p:sp>
      <p:sp>
        <p:nvSpPr>
          <p:cNvPr id="443" name="Google Shape;443;g11757251f1a_0_479"/>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a:solidFill>
                  <a:srgbClr val="F79646"/>
                </a:solidFill>
                <a:latin typeface="Quattrocento Sans"/>
                <a:ea typeface="Quattrocento Sans"/>
                <a:cs typeface="Quattrocento Sans"/>
                <a:sym typeface="Quattrocento Sans"/>
              </a:rPr>
              <a:t>Nội dung tiếp theo</a:t>
            </a:r>
            <a:endParaRPr sz="2800" b="1" i="0" u="none" strike="noStrike" cap="none">
              <a:solidFill>
                <a:srgbClr val="F79646"/>
              </a:solidFill>
              <a:latin typeface="Quattrocento Sans"/>
              <a:ea typeface="Quattrocento Sans"/>
              <a:cs typeface="Quattrocento Sans"/>
              <a:sym typeface="Quattrocento Sans"/>
            </a:endParaRPr>
          </a:p>
        </p:txBody>
      </p:sp>
      <p:pic>
        <p:nvPicPr>
          <p:cNvPr id="444" name="Google Shape;444;g11757251f1a_0_479" descr="D:\Pictures\PNG\present.png"/>
          <p:cNvPicPr preferRelativeResize="0"/>
          <p:nvPr/>
        </p:nvPicPr>
        <p:blipFill rotWithShape="1">
          <a:blip r:embed="rId3">
            <a:alphaModFix/>
          </a:blip>
          <a:srcRect/>
          <a:stretch/>
        </p:blipFill>
        <p:spPr>
          <a:xfrm flipH="1">
            <a:off x="9469017" y="1480800"/>
            <a:ext cx="2113383" cy="489332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pic>
        <p:nvPicPr>
          <p:cNvPr id="449" name="Google Shape;449;g11757251f1a_0_489"/>
          <p:cNvPicPr preferRelativeResize="0"/>
          <p:nvPr/>
        </p:nvPicPr>
        <p:blipFill rotWithShape="1">
          <a:blip r:embed="rId3">
            <a:alphaModFix/>
          </a:blip>
          <a:srcRect/>
          <a:stretch/>
        </p:blipFill>
        <p:spPr>
          <a:xfrm>
            <a:off x="-5953" y="0"/>
            <a:ext cx="12197953" cy="6858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g11757251f1a_0_493"/>
          <p:cNvSpPr txBox="1">
            <a:spLocks noGrp="1"/>
          </p:cNvSpPr>
          <p:nvPr>
            <p:ph type="subTitle" idx="1"/>
          </p:nvPr>
        </p:nvSpPr>
        <p:spPr>
          <a:xfrm>
            <a:off x="5486400" y="4953000"/>
            <a:ext cx="6705600" cy="9906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FF5A33"/>
              </a:buClr>
              <a:buSzPts val="2200"/>
              <a:buNone/>
            </a:pPr>
            <a:r>
              <a:rPr lang="en-US"/>
              <a:t>Bài 6: kế hoạch kiểm thử</a:t>
            </a:r>
            <a:endParaRPr/>
          </a:p>
        </p:txBody>
      </p:sp>
      <p:sp>
        <p:nvSpPr>
          <p:cNvPr id="455" name="Google Shape;455;g11757251f1a_0_493"/>
          <p:cNvSpPr txBox="1">
            <a:spLocks noGrp="1"/>
          </p:cNvSpPr>
          <p:nvPr>
            <p:ph type="title"/>
          </p:nvPr>
        </p:nvSpPr>
        <p:spPr>
          <a:xfrm>
            <a:off x="5506720" y="4284596"/>
            <a:ext cx="6100200" cy="7050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FF5A33"/>
              </a:buClr>
              <a:buSzPts val="3400"/>
              <a:buFont typeface="Calibri"/>
              <a:buNone/>
            </a:pPr>
            <a:r>
              <a:rPr lang="en-US"/>
              <a:t>kiểm thử cơ bản(P2)</a:t>
            </a:r>
            <a:endParaRPr/>
          </a:p>
        </p:txBody>
      </p:sp>
      <p:pic>
        <p:nvPicPr>
          <p:cNvPr id="456" name="Google Shape;456;g11757251f1a_0_493"/>
          <p:cNvPicPr preferRelativeResize="0"/>
          <p:nvPr/>
        </p:nvPicPr>
        <p:blipFill rotWithShape="1">
          <a:blip r:embed="rId3">
            <a:alphaModFix/>
          </a:blip>
          <a:srcRect/>
          <a:stretch/>
        </p:blipFill>
        <p:spPr>
          <a:xfrm>
            <a:off x="1890932" y="2406165"/>
            <a:ext cx="1693935" cy="251869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g11757251f1a_0_49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Nội dung</a:t>
            </a:r>
            <a:endParaRPr/>
          </a:p>
        </p:txBody>
      </p:sp>
      <p:pic>
        <p:nvPicPr>
          <p:cNvPr id="462" name="Google Shape;462;g11757251f1a_0_499" descr="D:\Pictures\PNG\present.png"/>
          <p:cNvPicPr preferRelativeResize="0"/>
          <p:nvPr/>
        </p:nvPicPr>
        <p:blipFill rotWithShape="1">
          <a:blip r:embed="rId3">
            <a:alphaModFix/>
          </a:blip>
          <a:srcRect/>
          <a:stretch/>
        </p:blipFill>
        <p:spPr>
          <a:xfrm flipH="1">
            <a:off x="9268820" y="1017269"/>
            <a:ext cx="2313580" cy="5356860"/>
          </a:xfrm>
          <a:prstGeom prst="rect">
            <a:avLst/>
          </a:prstGeom>
          <a:noFill/>
          <a:ln>
            <a:noFill/>
          </a:ln>
        </p:spPr>
      </p:pic>
      <p:sp>
        <p:nvSpPr>
          <p:cNvPr id="463" name="Google Shape;463;g11757251f1a_0_499"/>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11757251f1a_0_499"/>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g11757251f1a_0_499"/>
          <p:cNvSpPr txBox="1"/>
          <p:nvPr/>
        </p:nvSpPr>
        <p:spPr>
          <a:xfrm>
            <a:off x="894600" y="2067600"/>
            <a:ext cx="8437200" cy="3933900"/>
          </a:xfrm>
          <a:prstGeom prst="rect">
            <a:avLst/>
          </a:prstGeom>
          <a:noFill/>
          <a:ln>
            <a:noFill/>
          </a:ln>
        </p:spPr>
        <p:txBody>
          <a:bodyPr spcFirstLastPara="1" wrap="square" lIns="91425" tIns="45700" rIns="91425" bIns="45700" anchor="t" anchorCtr="0">
            <a:noAutofit/>
          </a:bodyPr>
          <a:lstStyle/>
          <a:p>
            <a:pPr marL="457200" lvl="0" indent="-412750" algn="l" rtl="0">
              <a:lnSpc>
                <a:spcPct val="115000"/>
              </a:lnSpc>
              <a:spcBef>
                <a:spcPts val="0"/>
              </a:spcBef>
              <a:spcAft>
                <a:spcPts val="0"/>
              </a:spcAft>
              <a:buClr>
                <a:srgbClr val="333333"/>
              </a:buClr>
              <a:buSzPts val="2900"/>
              <a:buFont typeface="Quattrocento Sans"/>
              <a:buChar char="•"/>
            </a:pPr>
            <a:r>
              <a:rPr lang="en-US" sz="2900" b="1" dirty="0">
                <a:solidFill>
                  <a:srgbClr val="333333"/>
                </a:solidFill>
                <a:latin typeface="Quattrocento Sans"/>
                <a:ea typeface="Quattrocento Sans"/>
                <a:cs typeface="Quattrocento Sans"/>
                <a:sym typeface="Quattrocento Sans"/>
              </a:rPr>
              <a:t>8 </a:t>
            </a:r>
            <a:r>
              <a:rPr lang="en-US" sz="2900" b="1" dirty="0" err="1">
                <a:solidFill>
                  <a:srgbClr val="333333"/>
                </a:solidFill>
                <a:latin typeface="Quattrocento Sans"/>
                <a:ea typeface="Quattrocento Sans"/>
                <a:cs typeface="Quattrocento Sans"/>
                <a:sym typeface="Quattrocento Sans"/>
              </a:rPr>
              <a:t>bước</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để</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viết</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một</a:t>
            </a:r>
            <a:r>
              <a:rPr lang="en-US" sz="2900" b="1" dirty="0">
                <a:solidFill>
                  <a:srgbClr val="333333"/>
                </a:solidFill>
                <a:latin typeface="Quattrocento Sans"/>
                <a:ea typeface="Quattrocento Sans"/>
                <a:cs typeface="Quattrocento Sans"/>
                <a:sym typeface="Quattrocento Sans"/>
              </a:rPr>
              <a:t> Test Plan</a:t>
            </a:r>
            <a:endParaRPr sz="2900" b="1" dirty="0">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dirty="0" err="1">
                <a:solidFill>
                  <a:srgbClr val="333333"/>
                </a:solidFill>
                <a:latin typeface="Quattrocento Sans"/>
                <a:ea typeface="Quattrocento Sans"/>
                <a:cs typeface="Quattrocento Sans"/>
                <a:sym typeface="Quattrocento Sans"/>
              </a:rPr>
              <a:t>Bước</a:t>
            </a:r>
            <a:r>
              <a:rPr lang="en-US" sz="2900" b="1" dirty="0">
                <a:solidFill>
                  <a:srgbClr val="333333"/>
                </a:solidFill>
                <a:latin typeface="Quattrocento Sans"/>
                <a:ea typeface="Quattrocento Sans"/>
                <a:cs typeface="Quattrocento Sans"/>
                <a:sym typeface="Quattrocento Sans"/>
              </a:rPr>
              <a:t> 4: </a:t>
            </a:r>
            <a:r>
              <a:rPr lang="en-US" sz="2900" b="1" dirty="0" err="1">
                <a:solidFill>
                  <a:srgbClr val="333333"/>
                </a:solidFill>
                <a:latin typeface="Quattrocento Sans"/>
                <a:ea typeface="Quattrocento Sans"/>
                <a:cs typeface="Quattrocento Sans"/>
                <a:sym typeface="Quattrocento Sans"/>
              </a:rPr>
              <a:t>Xác</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định</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tiêu</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chí</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kiểm</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tra</a:t>
            </a:r>
            <a:endParaRPr sz="2900" b="1" dirty="0">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dirty="0" err="1">
                <a:solidFill>
                  <a:srgbClr val="333333"/>
                </a:solidFill>
                <a:latin typeface="Quattrocento Sans"/>
                <a:ea typeface="Quattrocento Sans"/>
                <a:cs typeface="Quattrocento Sans"/>
                <a:sym typeface="Quattrocento Sans"/>
              </a:rPr>
              <a:t>Bước</a:t>
            </a:r>
            <a:r>
              <a:rPr lang="en-US" sz="2900" b="1" dirty="0">
                <a:solidFill>
                  <a:srgbClr val="333333"/>
                </a:solidFill>
                <a:latin typeface="Quattrocento Sans"/>
                <a:ea typeface="Quattrocento Sans"/>
                <a:cs typeface="Quattrocento Sans"/>
                <a:sym typeface="Quattrocento Sans"/>
              </a:rPr>
              <a:t> 5: </a:t>
            </a:r>
            <a:r>
              <a:rPr lang="en-US" sz="2900" b="1" dirty="0" err="1">
                <a:solidFill>
                  <a:srgbClr val="333333"/>
                </a:solidFill>
                <a:latin typeface="Quattrocento Sans"/>
                <a:ea typeface="Quattrocento Sans"/>
                <a:cs typeface="Quattrocento Sans"/>
                <a:sym typeface="Quattrocento Sans"/>
              </a:rPr>
              <a:t>Hoạch</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định</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nguồn</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lực</a:t>
            </a:r>
            <a:endParaRPr sz="2900" b="1" dirty="0">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dirty="0" err="1">
                <a:solidFill>
                  <a:srgbClr val="333333"/>
                </a:solidFill>
                <a:latin typeface="Quattrocento Sans"/>
                <a:ea typeface="Quattrocento Sans"/>
                <a:cs typeface="Quattrocento Sans"/>
                <a:sym typeface="Quattrocento Sans"/>
              </a:rPr>
              <a:t>Bước</a:t>
            </a:r>
            <a:r>
              <a:rPr lang="en-US" sz="2900" b="1" dirty="0">
                <a:solidFill>
                  <a:srgbClr val="333333"/>
                </a:solidFill>
                <a:latin typeface="Quattrocento Sans"/>
                <a:ea typeface="Quattrocento Sans"/>
                <a:cs typeface="Quattrocento Sans"/>
                <a:sym typeface="Quattrocento Sans"/>
              </a:rPr>
              <a:t> 6: </a:t>
            </a:r>
            <a:r>
              <a:rPr lang="en-US" sz="2900" b="1" dirty="0" err="1">
                <a:solidFill>
                  <a:srgbClr val="333333"/>
                </a:solidFill>
                <a:latin typeface="Quattrocento Sans"/>
                <a:ea typeface="Quattrocento Sans"/>
                <a:cs typeface="Quattrocento Sans"/>
                <a:sym typeface="Quattrocento Sans"/>
              </a:rPr>
              <a:t>Lập</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kế</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hoạch</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môi</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trường</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thử</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nghiệm</a:t>
            </a:r>
            <a:endParaRPr sz="2900" b="1" dirty="0">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dirty="0" err="1">
                <a:solidFill>
                  <a:srgbClr val="333333"/>
                </a:solidFill>
                <a:latin typeface="Quattrocento Sans"/>
                <a:ea typeface="Quattrocento Sans"/>
                <a:cs typeface="Quattrocento Sans"/>
                <a:sym typeface="Quattrocento Sans"/>
              </a:rPr>
              <a:t>Bước</a:t>
            </a:r>
            <a:r>
              <a:rPr lang="en-US" sz="2900" b="1" dirty="0">
                <a:solidFill>
                  <a:srgbClr val="333333"/>
                </a:solidFill>
                <a:latin typeface="Quattrocento Sans"/>
                <a:ea typeface="Quattrocento Sans"/>
                <a:cs typeface="Quattrocento Sans"/>
                <a:sym typeface="Quattrocento Sans"/>
              </a:rPr>
              <a:t> 7: </a:t>
            </a:r>
            <a:r>
              <a:rPr lang="en-US" sz="2900" b="1" dirty="0" err="1">
                <a:solidFill>
                  <a:srgbClr val="333333"/>
                </a:solidFill>
                <a:latin typeface="Quattrocento Sans"/>
                <a:ea typeface="Quattrocento Sans"/>
                <a:cs typeface="Quattrocento Sans"/>
                <a:sym typeface="Quattrocento Sans"/>
              </a:rPr>
              <a:t>Lập</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lịch</a:t>
            </a:r>
            <a:r>
              <a:rPr lang="en-US" sz="2900" b="1" dirty="0">
                <a:solidFill>
                  <a:srgbClr val="333333"/>
                </a:solidFill>
                <a:latin typeface="Quattrocento Sans"/>
                <a:ea typeface="Quattrocento Sans"/>
                <a:cs typeface="Quattrocento Sans"/>
                <a:sym typeface="Quattrocento Sans"/>
              </a:rPr>
              <a:t> &amp; </a:t>
            </a:r>
            <a:r>
              <a:rPr lang="en-US" sz="2900" b="1" dirty="0" err="1">
                <a:solidFill>
                  <a:srgbClr val="333333"/>
                </a:solidFill>
                <a:latin typeface="Quattrocento Sans"/>
                <a:ea typeface="Quattrocento Sans"/>
                <a:cs typeface="Quattrocento Sans"/>
                <a:sym typeface="Quattrocento Sans"/>
              </a:rPr>
              <a:t>Ước</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tính</a:t>
            </a:r>
            <a:endParaRPr sz="2900" b="1" dirty="0">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dirty="0" err="1">
                <a:solidFill>
                  <a:srgbClr val="333333"/>
                </a:solidFill>
                <a:latin typeface="Quattrocento Sans"/>
                <a:ea typeface="Quattrocento Sans"/>
                <a:cs typeface="Quattrocento Sans"/>
                <a:sym typeface="Quattrocento Sans"/>
              </a:rPr>
              <a:t>Bước</a:t>
            </a:r>
            <a:r>
              <a:rPr lang="en-US" sz="2900" b="1" dirty="0">
                <a:solidFill>
                  <a:srgbClr val="333333"/>
                </a:solidFill>
                <a:latin typeface="Quattrocento Sans"/>
                <a:ea typeface="Quattrocento Sans"/>
                <a:cs typeface="Quattrocento Sans"/>
                <a:sym typeface="Quattrocento Sans"/>
              </a:rPr>
              <a:t> 8: </a:t>
            </a:r>
            <a:r>
              <a:rPr lang="en-US" sz="2900" b="1" dirty="0" err="1">
                <a:solidFill>
                  <a:srgbClr val="333333"/>
                </a:solidFill>
                <a:latin typeface="Quattrocento Sans"/>
                <a:ea typeface="Quattrocento Sans"/>
                <a:cs typeface="Quattrocento Sans"/>
                <a:sym typeface="Quattrocento Sans"/>
              </a:rPr>
              <a:t>Xác</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định</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phân</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phối</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thử</a:t>
            </a:r>
            <a:r>
              <a:rPr lang="en-US" sz="2900" b="1" dirty="0">
                <a:solidFill>
                  <a:srgbClr val="333333"/>
                </a:solidFill>
                <a:latin typeface="Quattrocento Sans"/>
                <a:ea typeface="Quattrocento Sans"/>
                <a:cs typeface="Quattrocento Sans"/>
                <a:sym typeface="Quattrocento Sans"/>
              </a:rPr>
              <a:t> </a:t>
            </a:r>
            <a:r>
              <a:rPr lang="en-US" sz="2900" b="1" dirty="0" err="1">
                <a:solidFill>
                  <a:srgbClr val="333333"/>
                </a:solidFill>
                <a:latin typeface="Quattrocento Sans"/>
                <a:ea typeface="Quattrocento Sans"/>
                <a:cs typeface="Quattrocento Sans"/>
                <a:sym typeface="Quattrocento Sans"/>
              </a:rPr>
              <a:t>nghiệm</a:t>
            </a:r>
            <a:endParaRPr sz="2900" b="1" dirty="0">
              <a:solidFill>
                <a:srgbClr val="333333"/>
              </a:solidFill>
              <a:latin typeface="Quattrocento Sans"/>
              <a:ea typeface="Quattrocento Sans"/>
              <a:cs typeface="Quattrocento Sans"/>
              <a:sym typeface="Quattrocento Sans"/>
            </a:endParaRPr>
          </a:p>
        </p:txBody>
      </p:sp>
      <p:sp>
        <p:nvSpPr>
          <p:cNvPr id="466" name="Google Shape;466;g11757251f1a_0_499"/>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Nội dung bài học</a:t>
            </a:r>
            <a:endParaRPr sz="2800" b="1" i="0" u="none" strike="noStrike" cap="none">
              <a:solidFill>
                <a:srgbClr val="F79646"/>
              </a:solidFill>
              <a:latin typeface="Quattrocento Sans"/>
              <a:ea typeface="Quattrocento Sans"/>
              <a:cs typeface="Quattrocento Sans"/>
              <a:sym typeface="Quattrocento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g11757251f1a_0_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define test criteria</a:t>
            </a:r>
            <a:endParaRPr/>
          </a:p>
        </p:txBody>
      </p:sp>
      <p:sp>
        <p:nvSpPr>
          <p:cNvPr id="472" name="Google Shape;472;g11757251f1a_0_0"/>
          <p:cNvSpPr txBox="1"/>
          <p:nvPr/>
        </p:nvSpPr>
        <p:spPr>
          <a:xfrm>
            <a:off x="522375" y="1597325"/>
            <a:ext cx="11338200" cy="52260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dirty="0" err="1">
                <a:latin typeface="Quattrocento Sans"/>
                <a:ea typeface="Quattrocento Sans"/>
                <a:cs typeface="Quattrocento Sans"/>
                <a:sym typeface="Quattrocento Sans"/>
              </a:rPr>
              <a:t>Tiêu</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chí</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kiểm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thử</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là</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một</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tiêu</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chuẩn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hoặc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quy</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tắc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mà</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dựa</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vào</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đó</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có</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thể</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thực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hiện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đánh</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giá</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sản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phẩm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Có</a:t>
            </a:r>
            <a:r>
              <a:rPr lang="en-US" sz="3600" dirty="0">
                <a:latin typeface="Quattrocento Sans"/>
                <a:ea typeface="Quattrocento Sans"/>
                <a:cs typeface="Quattrocento Sans"/>
                <a:sym typeface="Quattrocento Sans"/>
              </a:rPr>
              <a:t> 2 </a:t>
            </a:r>
            <a:r>
              <a:rPr lang="en-US" sz="3600" dirty="0" err="1">
                <a:latin typeface="Quattrocento Sans"/>
                <a:ea typeface="Quattrocento Sans"/>
                <a:cs typeface="Quattrocento Sans"/>
                <a:sym typeface="Quattrocento Sans"/>
              </a:rPr>
              <a:t>loại</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tiêu</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chí</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kiểm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thử</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như</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sau</a:t>
            </a:r>
            <a:r>
              <a:rPr lang="en-US" sz="3600" dirty="0">
                <a:latin typeface="Quattrocento Sans"/>
                <a:ea typeface="Quattrocento Sans"/>
                <a:cs typeface="Quattrocento Sans"/>
                <a:sym typeface="Quattrocento Sans"/>
              </a:rPr>
              <a:t>:</a:t>
            </a:r>
            <a:endParaRPr sz="3600" dirty="0">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dirty="0" err="1">
                <a:latin typeface="Quattrocento Sans"/>
                <a:ea typeface="Quattrocento Sans"/>
                <a:cs typeface="Quattrocento Sans"/>
                <a:sym typeface="Quattrocento Sans"/>
              </a:rPr>
              <a:t>Tiêu</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chí</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Đình</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chỉ</a:t>
            </a:r>
            <a:r>
              <a:rPr lang="en-US" sz="3600" dirty="0">
                <a:latin typeface="Quattrocento Sans"/>
                <a:ea typeface="Quattrocento Sans"/>
                <a:cs typeface="Quattrocento Sans"/>
                <a:sym typeface="Quattrocento Sans"/>
              </a:rPr>
              <a:t>(Suspension Criteria)</a:t>
            </a:r>
            <a:endParaRPr sz="3600" dirty="0">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dirty="0" err="1">
                <a:latin typeface="Quattrocento Sans"/>
                <a:ea typeface="Quattrocento Sans"/>
                <a:cs typeface="Quattrocento Sans"/>
                <a:sym typeface="Quattrocento Sans"/>
              </a:rPr>
              <a:t>Tiêu</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chí</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thoát</a:t>
            </a:r>
            <a:r>
              <a:rPr lang="en-US" sz="3600" dirty="0">
                <a:latin typeface="Quattrocento Sans"/>
                <a:ea typeface="Quattrocento Sans"/>
                <a:cs typeface="Quattrocento Sans"/>
                <a:sym typeface="Quattrocento Sans"/>
              </a:rPr>
              <a:t>(Exit Criteria)</a:t>
            </a:r>
            <a:endParaRPr sz="3600" dirty="0">
              <a:latin typeface="Quattrocento Sans"/>
              <a:ea typeface="Quattrocento Sans"/>
              <a:cs typeface="Quattrocento Sans"/>
              <a:sym typeface="Quattrocento Sans"/>
            </a:endParaRPr>
          </a:p>
        </p:txBody>
      </p:sp>
      <p:sp>
        <p:nvSpPr>
          <p:cNvPr id="473" name="Google Shape;473;g11757251f1a_0_0"/>
          <p:cNvSpPr txBox="1"/>
          <p:nvPr/>
        </p:nvSpPr>
        <p:spPr>
          <a:xfrm>
            <a:off x="522375" y="79692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Bước 4: Xác định tiêu chí kiểm thử</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2">
                                            <p:txEl>
                                              <p:pRg st="0" end="0"/>
                                            </p:txEl>
                                          </p:spTgt>
                                        </p:tgtEl>
                                        <p:attrNameLst>
                                          <p:attrName>style.visibility</p:attrName>
                                        </p:attrNameLst>
                                      </p:cBhvr>
                                      <p:to>
                                        <p:strVal val="visible"/>
                                      </p:to>
                                    </p:set>
                                    <p:anim calcmode="lin" valueType="num">
                                      <p:cBhvr additive="base">
                                        <p:cTn id="7" dur="1000"/>
                                        <p:tgtEl>
                                          <p:spTgt spid="47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72">
                                            <p:txEl>
                                              <p:pRg st="1" end="1"/>
                                            </p:txEl>
                                          </p:spTgt>
                                        </p:tgtEl>
                                        <p:attrNameLst>
                                          <p:attrName>style.visibility</p:attrName>
                                        </p:attrNameLst>
                                      </p:cBhvr>
                                      <p:to>
                                        <p:strVal val="visible"/>
                                      </p:to>
                                    </p:set>
                                    <p:anim calcmode="lin" valueType="num">
                                      <p:cBhvr additive="base">
                                        <p:cTn id="12" dur="1000"/>
                                        <p:tgtEl>
                                          <p:spTgt spid="47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72">
                                            <p:txEl>
                                              <p:pRg st="2" end="2"/>
                                            </p:txEl>
                                          </p:spTgt>
                                        </p:tgtEl>
                                        <p:attrNameLst>
                                          <p:attrName>style.visibility</p:attrName>
                                        </p:attrNameLst>
                                      </p:cBhvr>
                                      <p:to>
                                        <p:strVal val="visible"/>
                                      </p:to>
                                    </p:set>
                                    <p:anim calcmode="lin" valueType="num">
                                      <p:cBhvr additive="base">
                                        <p:cTn id="17" dur="1000"/>
                                        <p:tgtEl>
                                          <p:spTgt spid="472">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g11757251f1a_0_1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define test objectives</a:t>
            </a:r>
            <a:endParaRPr/>
          </a:p>
        </p:txBody>
      </p:sp>
      <p:sp>
        <p:nvSpPr>
          <p:cNvPr id="479" name="Google Shape;479;g11757251f1a_0_11"/>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Tiêu</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chí</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Đình</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chỉ</a:t>
            </a:r>
            <a:r>
              <a:rPr lang="en-US" sz="3600" dirty="0">
                <a:solidFill>
                  <a:schemeClr val="dk1"/>
                </a:solidFill>
                <a:latin typeface="Quattrocento Sans"/>
                <a:ea typeface="Quattrocento Sans"/>
                <a:cs typeface="Quattrocento Sans"/>
                <a:sym typeface="Quattrocento Sans"/>
              </a:rPr>
              <a:t>(Suspension Criteria)</a:t>
            </a:r>
            <a:endParaRPr sz="3600" dirty="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Chỉ</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định</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các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tiêu</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chí</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đình</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chỉ</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quan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trọng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cho</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một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bài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kiểm</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tra</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Nếu</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các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tiêu</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chí</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đình</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chỉ</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được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đáp</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ứng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trong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quá</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trình</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thử</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nghiệm</a:t>
            </a:r>
            <a:r>
              <a:rPr lang="en-US" sz="3600" dirty="0">
                <a:solidFill>
                  <a:schemeClr val="dk1"/>
                </a:solidFill>
                <a:latin typeface="Quattrocento Sans"/>
                <a:ea typeface="Quattrocento Sans"/>
                <a:cs typeface="Quattrocento Sans"/>
                <a:sym typeface="Quattrocento Sans"/>
              </a:rPr>
              <a:t>, chu </a:t>
            </a:r>
            <a:r>
              <a:rPr lang="en-US" sz="3600" dirty="0" err="1">
                <a:solidFill>
                  <a:schemeClr val="dk1"/>
                </a:solidFill>
                <a:latin typeface="Quattrocento Sans"/>
                <a:ea typeface="Quattrocento Sans"/>
                <a:cs typeface="Quattrocento Sans"/>
                <a:sym typeface="Quattrocento Sans"/>
              </a:rPr>
              <a:t>kỳ</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thử</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nghiệm</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đang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hoạt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động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sẽ</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bị</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tạm</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dừng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cho</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đến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khi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các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tiêu</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chí</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được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giải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quyết</a:t>
            </a:r>
            <a:r>
              <a:rPr lang="en-US" sz="3600" dirty="0">
                <a:solidFill>
                  <a:schemeClr val="dk1"/>
                </a:solidFill>
                <a:latin typeface="Quattrocento Sans"/>
                <a:ea typeface="Quattrocento Sans"/>
                <a:cs typeface="Quattrocento Sans"/>
                <a:sym typeface="Quattrocento Sans"/>
              </a:rPr>
              <a:t> .</a:t>
            </a:r>
            <a:endParaRPr sz="3600" dirty="0">
              <a:solidFill>
                <a:schemeClr val="dk1"/>
              </a:solidFill>
              <a:latin typeface="Quattrocento Sans"/>
              <a:ea typeface="Quattrocento Sans"/>
              <a:cs typeface="Quattrocento Sans"/>
              <a:sym typeface="Quattrocento Sans"/>
            </a:endParaRPr>
          </a:p>
          <a:p>
            <a:pPr marL="0" lvl="0" indent="0" algn="l" rtl="0">
              <a:spcBef>
                <a:spcPts val="0"/>
              </a:spcBef>
              <a:spcAft>
                <a:spcPts val="0"/>
              </a:spcAft>
              <a:buNone/>
            </a:pPr>
            <a:r>
              <a:rPr lang="en-US" sz="3600" dirty="0" err="1">
                <a:solidFill>
                  <a:schemeClr val="dk1"/>
                </a:solidFill>
                <a:latin typeface="Quattrocento Sans"/>
                <a:ea typeface="Quattrocento Sans"/>
                <a:cs typeface="Quattrocento Sans"/>
                <a:sym typeface="Quattrocento Sans"/>
              </a:rPr>
              <a:t>Ví</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dụ</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Nếu</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các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thành</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viên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trong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nhóm</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của</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bạn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báo</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cáo</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rằng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có</a:t>
            </a:r>
            <a:r>
              <a:rPr lang="en-US" sz="3600" dirty="0">
                <a:solidFill>
                  <a:schemeClr val="dk1"/>
                </a:solidFill>
                <a:latin typeface="Quattrocento Sans"/>
                <a:ea typeface="Quattrocento Sans"/>
                <a:cs typeface="Quattrocento Sans"/>
                <a:sym typeface="Quattrocento Sans"/>
              </a:rPr>
              <a:t> 40% </a:t>
            </a:r>
            <a:r>
              <a:rPr lang="en-US" sz="3600" dirty="0" err="1">
                <a:solidFill>
                  <a:schemeClr val="dk1"/>
                </a:solidFill>
                <a:latin typeface="Quattrocento Sans"/>
                <a:ea typeface="Quattrocento Sans"/>
                <a:cs typeface="Quattrocento Sans"/>
                <a:sym typeface="Quattrocento Sans"/>
              </a:rPr>
              <a:t>trường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hợp</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kiểm</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thử</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không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thành</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công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bạn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nên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tạm</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ngừng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kiểm</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tra</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cho</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đến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khi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nhóm</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phát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triển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khắc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phục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tất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cả</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các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trường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hợp</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không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thành</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công</a:t>
            </a:r>
            <a:r>
              <a:rPr lang="en-US" sz="3600" dirty="0">
                <a:solidFill>
                  <a:schemeClr val="dk1"/>
                </a:solidFill>
                <a:latin typeface="Quattrocento Sans"/>
                <a:ea typeface="Quattrocento Sans"/>
                <a:cs typeface="Quattrocento Sans"/>
                <a:sym typeface="Quattrocento Sans"/>
              </a:rPr>
              <a:t>.</a:t>
            </a:r>
            <a:endParaRPr sz="3600" dirty="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dur="1100">
        <p:push dir="r"/>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9">
                                            <p:txEl>
                                              <p:pRg st="0" end="0"/>
                                            </p:txEl>
                                          </p:spTgt>
                                        </p:tgtEl>
                                        <p:attrNameLst>
                                          <p:attrName>style.visibility</p:attrName>
                                        </p:attrNameLst>
                                      </p:cBhvr>
                                      <p:to>
                                        <p:strVal val="visible"/>
                                      </p:to>
                                    </p:set>
                                    <p:anim calcmode="lin" valueType="num">
                                      <p:cBhvr additive="base">
                                        <p:cTn id="7" dur="1000"/>
                                        <p:tgtEl>
                                          <p:spTgt spid="479">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79">
                                            <p:txEl>
                                              <p:pRg st="1" end="1"/>
                                            </p:txEl>
                                          </p:spTgt>
                                        </p:tgtEl>
                                        <p:attrNameLst>
                                          <p:attrName>style.visibility</p:attrName>
                                        </p:attrNameLst>
                                      </p:cBhvr>
                                      <p:to>
                                        <p:strVal val="visible"/>
                                      </p:to>
                                    </p:set>
                                    <p:anim calcmode="lin" valueType="num">
                                      <p:cBhvr additive="base">
                                        <p:cTn id="12" dur="1000"/>
                                        <p:tgtEl>
                                          <p:spTgt spid="479">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79">
                                            <p:txEl>
                                              <p:pRg st="2" end="2"/>
                                            </p:txEl>
                                          </p:spTgt>
                                        </p:tgtEl>
                                        <p:attrNameLst>
                                          <p:attrName>style.visibility</p:attrName>
                                        </p:attrNameLst>
                                      </p:cBhvr>
                                      <p:to>
                                        <p:strVal val="visible"/>
                                      </p:to>
                                    </p:set>
                                    <p:anim calcmode="lin" valueType="num">
                                      <p:cBhvr additive="base">
                                        <p:cTn id="17" dur="1000"/>
                                        <p:tgtEl>
                                          <p:spTgt spid="479">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g11757251f1a_0_20"/>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define test objectives</a:t>
            </a:r>
            <a:endParaRPr/>
          </a:p>
        </p:txBody>
      </p:sp>
      <p:sp>
        <p:nvSpPr>
          <p:cNvPr id="485" name="Google Shape;485;g11757251f1a_0_20"/>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Sơ đồ Tiêu chí Đình chỉ(Suspension Criteria Workflow)</a:t>
            </a:r>
            <a:endParaRPr sz="3600">
              <a:solidFill>
                <a:schemeClr val="dk1"/>
              </a:solidFill>
              <a:latin typeface="Quattrocento Sans"/>
              <a:ea typeface="Quattrocento Sans"/>
              <a:cs typeface="Quattrocento Sans"/>
              <a:sym typeface="Quattrocento Sans"/>
            </a:endParaRPr>
          </a:p>
          <a:p>
            <a:pPr marL="0" lvl="0" indent="0" algn="l" rtl="0">
              <a:spcBef>
                <a:spcPts val="0"/>
              </a:spcBef>
              <a:spcAft>
                <a:spcPts val="0"/>
              </a:spcAft>
              <a:buNone/>
            </a:pPr>
            <a:endParaRPr sz="3600">
              <a:solidFill>
                <a:schemeClr val="dk1"/>
              </a:solidFill>
              <a:latin typeface="Quattrocento Sans"/>
              <a:ea typeface="Quattrocento Sans"/>
              <a:cs typeface="Quattrocento Sans"/>
              <a:sym typeface="Quattrocento Sans"/>
            </a:endParaRPr>
          </a:p>
        </p:txBody>
      </p:sp>
      <p:pic>
        <p:nvPicPr>
          <p:cNvPr id="486" name="Google Shape;486;g11757251f1a_0_20"/>
          <p:cNvPicPr preferRelativeResize="0"/>
          <p:nvPr/>
        </p:nvPicPr>
        <p:blipFill>
          <a:blip r:embed="rId3">
            <a:alphaModFix/>
          </a:blip>
          <a:stretch>
            <a:fillRect/>
          </a:stretch>
        </p:blipFill>
        <p:spPr>
          <a:xfrm>
            <a:off x="4274875" y="1796475"/>
            <a:ext cx="5248300" cy="49158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g11757251f1a_0_2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define test objectives</a:t>
            </a:r>
            <a:endParaRPr/>
          </a:p>
        </p:txBody>
      </p:sp>
      <p:sp>
        <p:nvSpPr>
          <p:cNvPr id="492" name="Google Shape;492;g11757251f1a_0_26"/>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Tiêu</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chí</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thoát</a:t>
            </a:r>
            <a:r>
              <a:rPr lang="en-US" sz="3600" dirty="0">
                <a:solidFill>
                  <a:schemeClr val="dk1"/>
                </a:solidFill>
                <a:latin typeface="Quattrocento Sans"/>
                <a:ea typeface="Quattrocento Sans"/>
                <a:cs typeface="Quattrocento Sans"/>
                <a:sym typeface="Quattrocento Sans"/>
              </a:rPr>
              <a:t>(Exit Criteria)</a:t>
            </a:r>
            <a:endParaRPr sz="3600" dirty="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Chỉ</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định</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các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tiêu</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chí</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thoát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biểu</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thị</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sự</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hoàn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thành</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thành</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công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của</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một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giai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đoạn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thử</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nghiệm</a:t>
            </a:r>
            <a:r>
              <a:rPr lang="en-US" sz="3600" dirty="0">
                <a:solidFill>
                  <a:schemeClr val="dk1"/>
                </a:solidFill>
                <a:latin typeface="Quattrocento Sans"/>
                <a:ea typeface="Quattrocento Sans"/>
                <a:cs typeface="Quattrocento Sans"/>
                <a:sym typeface="Quattrocento Sans"/>
              </a:rPr>
              <a:t>.</a:t>
            </a:r>
            <a:endParaRPr sz="3600" dirty="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Tiêu</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chí</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thoát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là</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kết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quả</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mục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tiêu</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của</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thử</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nghiệm</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và</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cần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thiết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trước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khi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tiếp</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tục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giai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đoạn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phát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triển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tiếp</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theo.</a:t>
            </a:r>
            <a:endParaRPr sz="3600" dirty="0">
              <a:solidFill>
                <a:schemeClr val="dk1"/>
              </a:solidFill>
              <a:latin typeface="Quattrocento Sans"/>
              <a:ea typeface="Quattrocento Sans"/>
              <a:cs typeface="Quattrocento Sans"/>
              <a:sym typeface="Quattrocento Sans"/>
            </a:endParaRPr>
          </a:p>
          <a:p>
            <a:pPr marL="0" lvl="0" indent="0" algn="l" rtl="0">
              <a:spcBef>
                <a:spcPts val="0"/>
              </a:spcBef>
              <a:spcAft>
                <a:spcPts val="0"/>
              </a:spcAft>
              <a:buNone/>
            </a:pPr>
            <a:r>
              <a:rPr lang="en-US" sz="3600" dirty="0" err="1">
                <a:solidFill>
                  <a:schemeClr val="dk1"/>
                </a:solidFill>
                <a:latin typeface="Quattrocento Sans"/>
                <a:ea typeface="Quattrocento Sans"/>
                <a:cs typeface="Quattrocento Sans"/>
                <a:sym typeface="Quattrocento Sans"/>
              </a:rPr>
              <a:t>Ví</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dụ</a:t>
            </a:r>
            <a:r>
              <a:rPr lang="en-US" sz="3600" dirty="0">
                <a:solidFill>
                  <a:schemeClr val="dk1"/>
                </a:solidFill>
                <a:latin typeface="Quattrocento Sans"/>
                <a:ea typeface="Quattrocento Sans"/>
                <a:cs typeface="Quattrocento Sans"/>
                <a:sym typeface="Quattrocento Sans"/>
              </a:rPr>
              <a:t>: 95% </a:t>
            </a:r>
            <a:r>
              <a:rPr lang="en-US" sz="3600" dirty="0" err="1">
                <a:solidFill>
                  <a:schemeClr val="dk1"/>
                </a:solidFill>
                <a:latin typeface="Quattrocento Sans"/>
                <a:ea typeface="Quattrocento Sans"/>
                <a:cs typeface="Quattrocento Sans"/>
                <a:sym typeface="Quattrocento Sans"/>
              </a:rPr>
              <a:t>của</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tất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cả</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các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trường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hợp</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kiểm</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tra</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quan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trọng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phải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vượt</a:t>
            </a:r>
            <a:r>
              <a:rPr lang="en-US" sz="3600" dirty="0">
                <a:solidFill>
                  <a:schemeClr val="dk1"/>
                </a:solidFill>
                <a:latin typeface="Quattrocento Sans"/>
                <a:ea typeface="Quattrocento Sans"/>
                <a:cs typeface="Quattrocento Sans"/>
                <a:sym typeface="Quattrocento Sans"/>
              </a:rPr>
              <a:t> qua.</a:t>
            </a:r>
            <a:endParaRPr sz="3600" dirty="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dur="11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92">
                                            <p:txEl>
                                              <p:pRg st="0" end="0"/>
                                            </p:txEl>
                                          </p:spTgt>
                                        </p:tgtEl>
                                        <p:attrNameLst>
                                          <p:attrName>style.visibility</p:attrName>
                                        </p:attrNameLst>
                                      </p:cBhvr>
                                      <p:to>
                                        <p:strVal val="visible"/>
                                      </p:to>
                                    </p:set>
                                    <p:anim calcmode="lin" valueType="num">
                                      <p:cBhvr additive="base">
                                        <p:cTn id="7" dur="1000"/>
                                        <p:tgtEl>
                                          <p:spTgt spid="492">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92">
                                            <p:txEl>
                                              <p:pRg st="1" end="1"/>
                                            </p:txEl>
                                          </p:spTgt>
                                        </p:tgtEl>
                                        <p:attrNameLst>
                                          <p:attrName>style.visibility</p:attrName>
                                        </p:attrNameLst>
                                      </p:cBhvr>
                                      <p:to>
                                        <p:strVal val="visible"/>
                                      </p:to>
                                    </p:set>
                                    <p:anim calcmode="lin" valueType="num">
                                      <p:cBhvr additive="base">
                                        <p:cTn id="12" dur="1000"/>
                                        <p:tgtEl>
                                          <p:spTgt spid="492">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92">
                                            <p:txEl>
                                              <p:pRg st="2" end="2"/>
                                            </p:txEl>
                                          </p:spTgt>
                                        </p:tgtEl>
                                        <p:attrNameLst>
                                          <p:attrName>style.visibility</p:attrName>
                                        </p:attrNameLst>
                                      </p:cBhvr>
                                      <p:to>
                                        <p:strVal val="visible"/>
                                      </p:to>
                                    </p:set>
                                    <p:anim calcmode="lin" valueType="num">
                                      <p:cBhvr additive="base">
                                        <p:cTn id="17" dur="1000"/>
                                        <p:tgtEl>
                                          <p:spTgt spid="492">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492">
                                            <p:txEl>
                                              <p:pRg st="3" end="3"/>
                                            </p:txEl>
                                          </p:spTgt>
                                        </p:tgtEl>
                                        <p:attrNameLst>
                                          <p:attrName>style.visibility</p:attrName>
                                        </p:attrNameLst>
                                      </p:cBhvr>
                                      <p:to>
                                        <p:strVal val="visible"/>
                                      </p:to>
                                    </p:set>
                                    <p:anim calcmode="lin" valueType="num">
                                      <p:cBhvr additive="base">
                                        <p:cTn id="22" dur="1000"/>
                                        <p:tgtEl>
                                          <p:spTgt spid="492">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g11757251f1a_0_3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define test objectives</a:t>
            </a:r>
            <a:endParaRPr/>
          </a:p>
        </p:txBody>
      </p:sp>
      <p:sp>
        <p:nvSpPr>
          <p:cNvPr id="498" name="Google Shape;498;g11757251f1a_0_32"/>
          <p:cNvSpPr txBox="1"/>
          <p:nvPr/>
        </p:nvSpPr>
        <p:spPr>
          <a:xfrm>
            <a:off x="649725" y="953250"/>
            <a:ext cx="10932600" cy="33762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Phương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pháp</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xác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định</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Tiêu</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chí</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thoát</a:t>
            </a:r>
            <a:endParaRPr sz="3600" dirty="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Tỉ</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lệ</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Chạy</a:t>
            </a:r>
            <a:r>
              <a:rPr lang="en-US" sz="3600" dirty="0">
                <a:solidFill>
                  <a:schemeClr val="dk1"/>
                </a:solidFill>
                <a:latin typeface="Quattrocento Sans"/>
                <a:ea typeface="Quattrocento Sans"/>
                <a:cs typeface="Quattrocento Sans"/>
                <a:sym typeface="Quattrocento Sans"/>
              </a:rPr>
              <a:t>(Run rate): </a:t>
            </a:r>
            <a:r>
              <a:rPr lang="en-US" sz="3600" dirty="0" err="1">
                <a:solidFill>
                  <a:schemeClr val="dk1"/>
                </a:solidFill>
                <a:latin typeface="Quattrocento Sans"/>
                <a:ea typeface="Quattrocento Sans"/>
                <a:cs typeface="Quattrocento Sans"/>
                <a:sym typeface="Quattrocento Sans"/>
              </a:rPr>
              <a:t>Yêu</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cầu</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bắt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buộc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phải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là</a:t>
            </a:r>
            <a:r>
              <a:rPr lang="en-US" sz="3600" dirty="0">
                <a:solidFill>
                  <a:schemeClr val="dk1"/>
                </a:solidFill>
                <a:latin typeface="Quattrocento Sans"/>
                <a:ea typeface="Quattrocento Sans"/>
                <a:cs typeface="Quattrocento Sans"/>
                <a:sym typeface="Quattrocento Sans"/>
              </a:rPr>
              <a:t> 100% </a:t>
            </a:r>
            <a:r>
              <a:rPr lang="en-US" sz="3600" dirty="0" err="1">
                <a:solidFill>
                  <a:schemeClr val="dk1"/>
                </a:solidFill>
                <a:latin typeface="Quattrocento Sans"/>
                <a:ea typeface="Quattrocento Sans"/>
                <a:cs typeface="Quattrocento Sans"/>
                <a:sym typeface="Quattrocento Sans"/>
              </a:rPr>
              <a:t>mới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xác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nhận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tiêu</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chí</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Thoát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trừ</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khi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có</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lý</a:t>
            </a:r>
            <a:r>
              <a:rPr lang="en-US" sz="3600" dirty="0">
                <a:solidFill>
                  <a:schemeClr val="dk1"/>
                </a:solidFill>
                <a:latin typeface="Quattrocento Sans"/>
                <a:ea typeface="Quattrocento Sans"/>
                <a:cs typeface="Quattrocento Sans"/>
                <a:sym typeface="Quattrocento Sans"/>
              </a:rPr>
              <a:t> do </a:t>
            </a:r>
            <a:r>
              <a:rPr lang="en-US" sz="3600" dirty="0" err="1">
                <a:solidFill>
                  <a:schemeClr val="dk1"/>
                </a:solidFill>
                <a:latin typeface="Quattrocento Sans"/>
                <a:ea typeface="Quattrocento Sans"/>
                <a:cs typeface="Quattrocento Sans"/>
                <a:sym typeface="Quattrocento Sans"/>
              </a:rPr>
              <a:t>rõ</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ràng</a:t>
            </a:r>
            <a:r>
              <a:rPr lang="en-US" sz="3600" dirty="0">
                <a:solidFill>
                  <a:schemeClr val="dk1"/>
                </a:solidFill>
                <a:latin typeface="Quattrocento Sans"/>
                <a:ea typeface="Quattrocento Sans"/>
                <a:cs typeface="Quattrocento Sans"/>
                <a:sym typeface="Quattrocento Sans"/>
              </a:rPr>
              <a:t>.</a:t>
            </a:r>
            <a:endParaRPr sz="3600" dirty="0">
              <a:solidFill>
                <a:schemeClr val="dk1"/>
              </a:solidFill>
              <a:latin typeface="Quattrocento Sans"/>
              <a:ea typeface="Quattrocento Sans"/>
              <a:cs typeface="Quattrocento Sans"/>
              <a:sym typeface="Quattrocento Sans"/>
            </a:endParaRPr>
          </a:p>
          <a:p>
            <a:pPr marL="0" lvl="0" indent="0" algn="l" rtl="0">
              <a:spcBef>
                <a:spcPts val="0"/>
              </a:spcBef>
              <a:spcAft>
                <a:spcPts val="0"/>
              </a:spcAft>
              <a:buNone/>
            </a:pPr>
            <a:endParaRPr sz="3600" dirty="0">
              <a:solidFill>
                <a:schemeClr val="dk1"/>
              </a:solidFill>
              <a:latin typeface="Quattrocento Sans"/>
              <a:ea typeface="Quattrocento Sans"/>
              <a:cs typeface="Quattrocento Sans"/>
              <a:sym typeface="Quattrocento Sans"/>
            </a:endParaRPr>
          </a:p>
        </p:txBody>
      </p:sp>
      <p:pic>
        <p:nvPicPr>
          <p:cNvPr id="499" name="Google Shape;499;g11757251f1a_0_32"/>
          <p:cNvPicPr preferRelativeResize="0"/>
          <p:nvPr/>
        </p:nvPicPr>
        <p:blipFill>
          <a:blip r:embed="rId3">
            <a:alphaModFix/>
          </a:blip>
          <a:stretch>
            <a:fillRect/>
          </a:stretch>
        </p:blipFill>
        <p:spPr>
          <a:xfrm>
            <a:off x="4293050" y="2989600"/>
            <a:ext cx="6707150" cy="3500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1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98">
                                            <p:txEl>
                                              <p:pRg st="0" end="0"/>
                                            </p:txEl>
                                          </p:spTgt>
                                        </p:tgtEl>
                                        <p:attrNameLst>
                                          <p:attrName>style.visibility</p:attrName>
                                        </p:attrNameLst>
                                      </p:cBhvr>
                                      <p:to>
                                        <p:strVal val="visible"/>
                                      </p:to>
                                    </p:set>
                                    <p:anim calcmode="lin" valueType="num">
                                      <p:cBhvr additive="base">
                                        <p:cTn id="7" dur="1000"/>
                                        <p:tgtEl>
                                          <p:spTgt spid="49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98">
                                            <p:txEl>
                                              <p:pRg st="1" end="1"/>
                                            </p:txEl>
                                          </p:spTgt>
                                        </p:tgtEl>
                                        <p:attrNameLst>
                                          <p:attrName>style.visibility</p:attrName>
                                        </p:attrNameLst>
                                      </p:cBhvr>
                                      <p:to>
                                        <p:strVal val="visible"/>
                                      </p:to>
                                    </p:set>
                                    <p:anim calcmode="lin" valueType="num">
                                      <p:cBhvr additive="base">
                                        <p:cTn id="12" dur="1000"/>
                                        <p:tgtEl>
                                          <p:spTgt spid="498">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98">
                                            <p:txEl>
                                              <p:pRg st="2" end="2"/>
                                            </p:txEl>
                                          </p:spTgt>
                                        </p:tgtEl>
                                        <p:attrNameLst>
                                          <p:attrName>style.visibility</p:attrName>
                                        </p:attrNameLst>
                                      </p:cBhvr>
                                      <p:to>
                                        <p:strVal val="visible"/>
                                      </p:to>
                                    </p:set>
                                    <p:anim calcmode="lin" valueType="num">
                                      <p:cBhvr additive="base">
                                        <p:cTn id="17" dur="1000"/>
                                        <p:tgtEl>
                                          <p:spTgt spid="498">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g11757251f1a_0_62"/>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define test objectives</a:t>
            </a:r>
            <a:endParaRPr/>
          </a:p>
        </p:txBody>
      </p:sp>
      <p:sp>
        <p:nvSpPr>
          <p:cNvPr id="505" name="Google Shape;505;g11757251f1a_0_62"/>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1143000" lvl="2" indent="-330200" algn="l" rtl="0">
              <a:spcBef>
                <a:spcPts val="0"/>
              </a:spcBef>
              <a:spcAft>
                <a:spcPts val="0"/>
              </a:spcAft>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Tỉ</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lệ</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Vượt</a:t>
            </a:r>
            <a:r>
              <a:rPr lang="en-US" sz="3600" dirty="0">
                <a:solidFill>
                  <a:schemeClr val="dk1"/>
                </a:solidFill>
                <a:latin typeface="Quattrocento Sans"/>
                <a:ea typeface="Quattrocento Sans"/>
                <a:cs typeface="Quattrocento Sans"/>
                <a:sym typeface="Quattrocento Sans"/>
              </a:rPr>
              <a:t> qua(Pass rate): </a:t>
            </a:r>
            <a:r>
              <a:rPr lang="en-US" sz="3600" dirty="0" err="1">
                <a:solidFill>
                  <a:schemeClr val="dk1"/>
                </a:solidFill>
                <a:latin typeface="Quattrocento Sans"/>
                <a:ea typeface="Quattrocento Sans"/>
                <a:cs typeface="Quattrocento Sans"/>
                <a:sym typeface="Quattrocento Sans"/>
              </a:rPr>
              <a:t>Là</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mục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tiêu</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của</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dự</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án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nó</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phụ</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thuộc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vào</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phạm</a:t>
            </a:r>
            <a:r>
              <a:rPr lang="en-US" sz="3600" dirty="0">
                <a:solidFill>
                  <a:schemeClr val="dk1"/>
                </a:solidFill>
                <a:latin typeface="Quattrocento Sans"/>
                <a:ea typeface="Quattrocento Sans"/>
                <a:cs typeface="Quattrocento Sans"/>
                <a:sym typeface="Quattrocento Sans"/>
              </a:rPr>
              <a:t> vi </a:t>
            </a:r>
            <a:r>
              <a:rPr lang="en-US" sz="3600" dirty="0" err="1">
                <a:solidFill>
                  <a:schemeClr val="dk1"/>
                </a:solidFill>
                <a:latin typeface="Quattrocento Sans"/>
                <a:ea typeface="Quattrocento Sans"/>
                <a:cs typeface="Quattrocento Sans"/>
                <a:sym typeface="Quattrocento Sans"/>
              </a:rPr>
              <a:t>dự</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án</a:t>
            </a:r>
            <a:r>
              <a:rPr lang="en-US" sz="3600" dirty="0">
                <a:solidFill>
                  <a:schemeClr val="dk1"/>
                </a:solidFill>
                <a:latin typeface="Quattrocento Sans"/>
                <a:ea typeface="Quattrocento Sans"/>
                <a:cs typeface="Quattrocento Sans"/>
                <a:sym typeface="Quattrocento Sans"/>
              </a:rPr>
              <a:t>.</a:t>
            </a:r>
            <a:endParaRPr sz="3600" dirty="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dur="11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05">
                                            <p:txEl>
                                              <p:pRg st="0" end="0"/>
                                            </p:txEl>
                                          </p:spTgt>
                                        </p:tgtEl>
                                        <p:attrNameLst>
                                          <p:attrName>style.visibility</p:attrName>
                                        </p:attrNameLst>
                                      </p:cBhvr>
                                      <p:to>
                                        <p:strVal val="visible"/>
                                      </p:to>
                                    </p:set>
                                    <p:anim calcmode="lin" valueType="num">
                                      <p:cBhvr additive="base">
                                        <p:cTn id="7" dur="1000"/>
                                        <p:tgtEl>
                                          <p:spTgt spid="505">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g11757251f1a_0_3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define test objectives</a:t>
            </a:r>
            <a:endParaRPr/>
          </a:p>
        </p:txBody>
      </p:sp>
      <p:sp>
        <p:nvSpPr>
          <p:cNvPr id="511" name="Google Shape;511;g11757251f1a_0_37"/>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Tỉ</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lệ</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Chạy</a:t>
            </a:r>
            <a:r>
              <a:rPr lang="en-US" sz="3600" dirty="0">
                <a:solidFill>
                  <a:schemeClr val="dk1"/>
                </a:solidFill>
                <a:latin typeface="Quattrocento Sans"/>
                <a:ea typeface="Quattrocento Sans"/>
                <a:cs typeface="Quattrocento Sans"/>
                <a:sym typeface="Quattrocento Sans"/>
              </a:rPr>
              <a:t>(Run rate)</a:t>
            </a:r>
            <a:endParaRPr sz="3600" dirty="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Tỉ</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lệ</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chạy</a:t>
            </a:r>
            <a:r>
              <a:rPr lang="en-US" sz="3600" dirty="0">
                <a:solidFill>
                  <a:schemeClr val="dk1"/>
                </a:solidFill>
                <a:latin typeface="Quattrocento Sans"/>
                <a:ea typeface="Quattrocento Sans"/>
                <a:cs typeface="Quattrocento Sans"/>
                <a:sym typeface="Quattrocento Sans"/>
              </a:rPr>
              <a:t>(Run rate) </a:t>
            </a:r>
            <a:r>
              <a:rPr lang="en-US" sz="3600" dirty="0" err="1">
                <a:solidFill>
                  <a:schemeClr val="dk1"/>
                </a:solidFill>
                <a:latin typeface="Quattrocento Sans"/>
                <a:ea typeface="Quattrocento Sans"/>
                <a:cs typeface="Quattrocento Sans"/>
                <a:sym typeface="Quattrocento Sans"/>
              </a:rPr>
              <a:t>là</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tỷ</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lệ</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giữa</a:t>
            </a:r>
            <a:r>
              <a:rPr lang="en-US" sz="3600" dirty="0">
                <a:solidFill>
                  <a:schemeClr val="dk1"/>
                </a:solidFill>
                <a:latin typeface="Quattrocento Sans"/>
                <a:ea typeface="Quattrocento Sans"/>
                <a:cs typeface="Quattrocento Sans"/>
                <a:sym typeface="Quattrocento Sans"/>
              </a:rPr>
              <a:t> </a:t>
            </a:r>
            <a:r>
              <a:rPr lang="en-US" sz="3600" b="1" dirty="0" err="1">
                <a:solidFill>
                  <a:schemeClr val="dk1"/>
                </a:solidFill>
                <a:latin typeface="Quattrocento Sans"/>
                <a:ea typeface="Quattrocento Sans"/>
                <a:cs typeface="Quattrocento Sans"/>
                <a:sym typeface="Quattrocento Sans"/>
              </a:rPr>
              <a:t>số</a:t>
            </a:r>
            <a:r>
              <a:rPr lang="en-US" sz="3600" b="1" dirty="0">
                <a:solidFill>
                  <a:schemeClr val="dk1"/>
                </a:solidFill>
                <a:latin typeface="Quattrocento Sans"/>
                <a:ea typeface="Quattrocento Sans"/>
                <a:cs typeface="Quattrocento Sans"/>
                <a:sym typeface="Quattrocento Sans"/>
              </a:rPr>
              <a:t> </a:t>
            </a:r>
            <a:r>
              <a:rPr lang="en-US" sz="3600" b="1" dirty="0" err="1">
                <a:solidFill>
                  <a:schemeClr val="dk1"/>
                </a:solidFill>
                <a:latin typeface="Quattrocento Sans"/>
                <a:ea typeface="Quattrocento Sans"/>
                <a:cs typeface="Quattrocento Sans"/>
                <a:sym typeface="Quattrocento Sans"/>
              </a:rPr>
              <a:t>trường</a:t>
            </a:r>
            <a:r>
              <a:rPr lang="en-US" sz="3600" b="1" dirty="0">
                <a:solidFill>
                  <a:schemeClr val="dk1"/>
                </a:solidFill>
                <a:latin typeface="Quattrocento Sans"/>
                <a:ea typeface="Quattrocento Sans"/>
                <a:cs typeface="Quattrocento Sans"/>
                <a:sym typeface="Quattrocento Sans"/>
              </a:rPr>
              <a:t> </a:t>
            </a:r>
            <a:r>
              <a:rPr lang="en-US" sz="3600" b="1" dirty="0" err="1">
                <a:solidFill>
                  <a:schemeClr val="dk1"/>
                </a:solidFill>
                <a:latin typeface="Quattrocento Sans"/>
                <a:ea typeface="Quattrocento Sans"/>
                <a:cs typeface="Quattrocento Sans"/>
                <a:sym typeface="Quattrocento Sans"/>
              </a:rPr>
              <a:t>hợp</a:t>
            </a:r>
            <a:r>
              <a:rPr lang="en-US" sz="3600" b="1" dirty="0">
                <a:solidFill>
                  <a:schemeClr val="dk1"/>
                </a:solidFill>
                <a:latin typeface="Quattrocento Sans"/>
                <a:ea typeface="Quattrocento Sans"/>
                <a:cs typeface="Quattrocento Sans"/>
                <a:sym typeface="Quattrocento Sans"/>
              </a:rPr>
              <a:t> </a:t>
            </a:r>
            <a:r>
              <a:rPr lang="en-US" sz="3600" b="1" dirty="0" err="1">
                <a:solidFill>
                  <a:schemeClr val="dk1"/>
                </a:solidFill>
                <a:latin typeface="Quattrocento Sans"/>
                <a:ea typeface="Quattrocento Sans"/>
                <a:cs typeface="Quattrocento Sans"/>
                <a:sym typeface="Quattrocento Sans"/>
              </a:rPr>
              <a:t>thử</a:t>
            </a:r>
            <a:r>
              <a:rPr lang="en-US" sz="3600" b="1" dirty="0">
                <a:solidFill>
                  <a:schemeClr val="dk1"/>
                </a:solidFill>
                <a:latin typeface="Quattrocento Sans"/>
                <a:ea typeface="Quattrocento Sans"/>
                <a:cs typeface="Quattrocento Sans"/>
                <a:sym typeface="Quattrocento Sans"/>
              </a:rPr>
              <a:t> </a:t>
            </a:r>
            <a:r>
              <a:rPr lang="en-US" sz="3600" b="1" dirty="0" err="1">
                <a:solidFill>
                  <a:schemeClr val="dk1"/>
                </a:solidFill>
                <a:latin typeface="Quattrocento Sans"/>
                <a:ea typeface="Quattrocento Sans"/>
                <a:cs typeface="Quattrocento Sans"/>
                <a:sym typeface="Quattrocento Sans"/>
              </a:rPr>
              <a:t>nghiệm</a:t>
            </a:r>
            <a:r>
              <a:rPr lang="en-US" sz="3600" b="1" dirty="0">
                <a:solidFill>
                  <a:schemeClr val="dk1"/>
                </a:solidFill>
                <a:latin typeface="Quattrocento Sans"/>
                <a:ea typeface="Quattrocento Sans"/>
                <a:cs typeface="Quattrocento Sans"/>
                <a:sym typeface="Quattrocento Sans"/>
              </a:rPr>
              <a:t> </a:t>
            </a:r>
            <a:r>
              <a:rPr lang="en-US" sz="3600" b="1" dirty="0" err="1">
                <a:solidFill>
                  <a:schemeClr val="dk1"/>
                </a:solidFill>
                <a:latin typeface="Quattrocento Sans"/>
                <a:ea typeface="Quattrocento Sans"/>
                <a:cs typeface="Quattrocento Sans"/>
                <a:sym typeface="Quattrocento Sans"/>
              </a:rPr>
              <a:t>được</a:t>
            </a:r>
            <a:r>
              <a:rPr lang="en-US" sz="3600" b="1" dirty="0">
                <a:solidFill>
                  <a:schemeClr val="dk1"/>
                </a:solidFill>
                <a:latin typeface="Quattrocento Sans"/>
                <a:ea typeface="Quattrocento Sans"/>
                <a:cs typeface="Quattrocento Sans"/>
                <a:sym typeface="Quattrocento Sans"/>
              </a:rPr>
              <a:t> </a:t>
            </a:r>
            <a:r>
              <a:rPr lang="en-US" sz="3600" b="1" dirty="0" err="1">
                <a:solidFill>
                  <a:schemeClr val="dk1"/>
                </a:solidFill>
                <a:latin typeface="Quattrocento Sans"/>
                <a:ea typeface="Quattrocento Sans"/>
                <a:cs typeface="Quattrocento Sans"/>
                <a:sym typeface="Quattrocento Sans"/>
              </a:rPr>
              <a:t>thực</a:t>
            </a:r>
            <a:r>
              <a:rPr lang="en-US" sz="3600" b="1" dirty="0">
                <a:solidFill>
                  <a:schemeClr val="dk1"/>
                </a:solidFill>
                <a:latin typeface="Quattrocento Sans"/>
                <a:ea typeface="Quattrocento Sans"/>
                <a:cs typeface="Quattrocento Sans"/>
                <a:sym typeface="Quattrocento Sans"/>
              </a:rPr>
              <a:t> </a:t>
            </a:r>
            <a:r>
              <a:rPr lang="en-US" sz="3600" b="1" dirty="0" err="1">
                <a:solidFill>
                  <a:schemeClr val="dk1"/>
                </a:solidFill>
                <a:latin typeface="Quattrocento Sans"/>
                <a:ea typeface="Quattrocento Sans"/>
                <a:cs typeface="Quattrocento Sans"/>
                <a:sym typeface="Quattrocento Sans"/>
              </a:rPr>
              <a:t>hiện</a:t>
            </a:r>
            <a:r>
              <a:rPr lang="en-US" sz="3600" b="1" dirty="0">
                <a:solidFill>
                  <a:schemeClr val="dk1"/>
                </a:solidFill>
                <a:latin typeface="Quattrocento Sans"/>
                <a:ea typeface="Quattrocento Sans"/>
                <a:cs typeface="Quattrocento Sans"/>
                <a:sym typeface="Quattrocento Sans"/>
              </a:rPr>
              <a:t> / </a:t>
            </a:r>
            <a:r>
              <a:rPr lang="en-US" sz="3600" b="1" dirty="0" err="1">
                <a:solidFill>
                  <a:schemeClr val="dk1"/>
                </a:solidFill>
                <a:latin typeface="Quattrocento Sans"/>
                <a:ea typeface="Quattrocento Sans"/>
                <a:cs typeface="Quattrocento Sans"/>
                <a:sym typeface="Quattrocento Sans"/>
              </a:rPr>
              <a:t>tổng</a:t>
            </a:r>
            <a:r>
              <a:rPr lang="en-US" sz="3600" b="1" dirty="0">
                <a:solidFill>
                  <a:schemeClr val="dk1"/>
                </a:solidFill>
                <a:latin typeface="Quattrocento Sans"/>
                <a:ea typeface="Quattrocento Sans"/>
                <a:cs typeface="Quattrocento Sans"/>
                <a:sym typeface="Quattrocento Sans"/>
              </a:rPr>
              <a:t> </a:t>
            </a:r>
            <a:r>
              <a:rPr lang="en-US" sz="3600" b="1" dirty="0" err="1">
                <a:solidFill>
                  <a:schemeClr val="dk1"/>
                </a:solidFill>
                <a:latin typeface="Quattrocento Sans"/>
                <a:ea typeface="Quattrocento Sans"/>
                <a:cs typeface="Quattrocento Sans"/>
                <a:sym typeface="Quattrocento Sans"/>
              </a:rPr>
              <a:t>số</a:t>
            </a:r>
            <a:r>
              <a:rPr lang="en-US" sz="3600" b="1" dirty="0">
                <a:solidFill>
                  <a:schemeClr val="dk1"/>
                </a:solidFill>
                <a:latin typeface="Quattrocento Sans"/>
                <a:ea typeface="Quattrocento Sans"/>
                <a:cs typeface="Quattrocento Sans"/>
                <a:sym typeface="Quattrocento Sans"/>
              </a:rPr>
              <a:t> </a:t>
            </a:r>
            <a:r>
              <a:rPr lang="en-US" sz="3600" b="1" dirty="0" err="1">
                <a:solidFill>
                  <a:schemeClr val="dk1"/>
                </a:solidFill>
                <a:latin typeface="Quattrocento Sans"/>
                <a:ea typeface="Quattrocento Sans"/>
                <a:cs typeface="Quattrocento Sans"/>
                <a:sym typeface="Quattrocento Sans"/>
              </a:rPr>
              <a:t>trường</a:t>
            </a:r>
            <a:r>
              <a:rPr lang="en-US" sz="3600" b="1" dirty="0">
                <a:solidFill>
                  <a:schemeClr val="dk1"/>
                </a:solidFill>
                <a:latin typeface="Quattrocento Sans"/>
                <a:ea typeface="Quattrocento Sans"/>
                <a:cs typeface="Quattrocento Sans"/>
                <a:sym typeface="Quattrocento Sans"/>
              </a:rPr>
              <a:t> </a:t>
            </a:r>
            <a:r>
              <a:rPr lang="en-US" sz="3600" b="1" dirty="0" err="1">
                <a:solidFill>
                  <a:schemeClr val="dk1"/>
                </a:solidFill>
                <a:latin typeface="Quattrocento Sans"/>
                <a:ea typeface="Quattrocento Sans"/>
                <a:cs typeface="Quattrocento Sans"/>
                <a:sym typeface="Quattrocento Sans"/>
              </a:rPr>
              <a:t>hợp</a:t>
            </a:r>
            <a:r>
              <a:rPr lang="en-US" sz="3600" b="1" dirty="0">
                <a:solidFill>
                  <a:schemeClr val="dk1"/>
                </a:solidFill>
                <a:latin typeface="Quattrocento Sans"/>
                <a:ea typeface="Quattrocento Sans"/>
                <a:cs typeface="Quattrocento Sans"/>
                <a:sym typeface="Quattrocento Sans"/>
              </a:rPr>
              <a:t> </a:t>
            </a:r>
            <a:r>
              <a:rPr lang="en-US" sz="3600" b="1" dirty="0" err="1">
                <a:solidFill>
                  <a:schemeClr val="dk1"/>
                </a:solidFill>
                <a:latin typeface="Quattrocento Sans"/>
                <a:ea typeface="Quattrocento Sans"/>
                <a:cs typeface="Quattrocento Sans"/>
                <a:sym typeface="Quattrocento Sans"/>
              </a:rPr>
              <a:t>thử</a:t>
            </a:r>
            <a:r>
              <a:rPr lang="en-US" sz="3600" b="1" dirty="0">
                <a:solidFill>
                  <a:schemeClr val="dk1"/>
                </a:solidFill>
                <a:latin typeface="Quattrocento Sans"/>
                <a:ea typeface="Quattrocento Sans"/>
                <a:cs typeface="Quattrocento Sans"/>
                <a:sym typeface="Quattrocento Sans"/>
              </a:rPr>
              <a:t> </a:t>
            </a:r>
            <a:r>
              <a:rPr lang="en-US" sz="3600" b="1" dirty="0" err="1">
                <a:solidFill>
                  <a:schemeClr val="dk1"/>
                </a:solidFill>
                <a:latin typeface="Quattrocento Sans"/>
                <a:ea typeface="Quattrocento Sans"/>
                <a:cs typeface="Quattrocento Sans"/>
                <a:sym typeface="Quattrocento Sans"/>
              </a:rPr>
              <a:t>nghiệm</a:t>
            </a:r>
            <a:r>
              <a:rPr lang="en-US" sz="3600" dirty="0">
                <a:solidFill>
                  <a:schemeClr val="dk1"/>
                </a:solidFill>
                <a:latin typeface="Quattrocento Sans"/>
                <a:ea typeface="Quattrocento Sans"/>
                <a:cs typeface="Quattrocento Sans"/>
                <a:sym typeface="Quattrocento Sans"/>
              </a:rPr>
              <a:t>(</a:t>
            </a:r>
            <a:r>
              <a:rPr lang="en-US" sz="3600" b="1" i="1" dirty="0">
                <a:solidFill>
                  <a:schemeClr val="dk1"/>
                </a:solidFill>
                <a:latin typeface="Quattrocento Sans"/>
                <a:ea typeface="Quattrocento Sans"/>
                <a:cs typeface="Quattrocento Sans"/>
                <a:sym typeface="Quattrocento Sans"/>
              </a:rPr>
              <a:t>Number test cases executed/Total test cases</a:t>
            </a:r>
            <a:r>
              <a:rPr lang="en-US" sz="3600" dirty="0">
                <a:solidFill>
                  <a:schemeClr val="dk1"/>
                </a:solidFill>
                <a:latin typeface="Quattrocento Sans"/>
                <a:ea typeface="Quattrocento Sans"/>
                <a:cs typeface="Quattrocento Sans"/>
                <a:sym typeface="Quattrocento Sans"/>
              </a:rPr>
              <a:t>).</a:t>
            </a:r>
            <a:endParaRPr sz="3600" dirty="0">
              <a:solidFill>
                <a:schemeClr val="dk1"/>
              </a:solidFill>
              <a:latin typeface="Quattrocento Sans"/>
              <a:ea typeface="Quattrocento Sans"/>
              <a:cs typeface="Quattrocento Sans"/>
              <a:sym typeface="Quattrocento Sans"/>
            </a:endParaRPr>
          </a:p>
          <a:p>
            <a:pPr marL="0" lvl="0" indent="0" algn="l" rtl="0">
              <a:spcBef>
                <a:spcPts val="0"/>
              </a:spcBef>
              <a:spcAft>
                <a:spcPts val="0"/>
              </a:spcAft>
              <a:buNone/>
            </a:pPr>
            <a:r>
              <a:rPr lang="en-US" sz="3600" dirty="0" err="1">
                <a:solidFill>
                  <a:schemeClr val="dk1"/>
                </a:solidFill>
                <a:latin typeface="Quattrocento Sans"/>
                <a:ea typeface="Quattrocento Sans"/>
                <a:cs typeface="Quattrocento Sans"/>
                <a:sym typeface="Quattrocento Sans"/>
              </a:rPr>
              <a:t>Ví</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dụ</a:t>
            </a:r>
            <a:r>
              <a:rPr lang="en-US" sz="3600" dirty="0">
                <a:solidFill>
                  <a:schemeClr val="dk1"/>
                </a:solidFill>
                <a:latin typeface="Quattrocento Sans"/>
                <a:ea typeface="Quattrocento Sans"/>
                <a:cs typeface="Quattrocento Sans"/>
                <a:sym typeface="Quattrocento Sans"/>
              </a:rPr>
              <a:t>: Thông </a:t>
            </a:r>
            <a:r>
              <a:rPr lang="en-US" sz="3600" dirty="0" err="1">
                <a:solidFill>
                  <a:schemeClr val="dk1"/>
                </a:solidFill>
                <a:latin typeface="Quattrocento Sans"/>
                <a:ea typeface="Quattrocento Sans"/>
                <a:cs typeface="Quattrocento Sans"/>
                <a:sym typeface="Quattrocento Sans"/>
              </a:rPr>
              <a:t>số</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kỹ</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thuật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kiểm</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tra</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có</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tổng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số</a:t>
            </a:r>
            <a:r>
              <a:rPr lang="en-US" sz="3600" dirty="0">
                <a:solidFill>
                  <a:schemeClr val="dk1"/>
                </a:solidFill>
                <a:latin typeface="Quattrocento Sans"/>
                <a:ea typeface="Quattrocento Sans"/>
                <a:cs typeface="Quattrocento Sans"/>
                <a:sym typeface="Quattrocento Sans"/>
              </a:rPr>
              <a:t> 120 TC, </a:t>
            </a:r>
            <a:r>
              <a:rPr lang="en-US" sz="3600" dirty="0" err="1">
                <a:solidFill>
                  <a:schemeClr val="dk1"/>
                </a:solidFill>
                <a:latin typeface="Quattrocento Sans"/>
                <a:ea typeface="Quattrocento Sans"/>
                <a:cs typeface="Quattrocento Sans"/>
                <a:sym typeface="Quattrocento Sans"/>
              </a:rPr>
              <a:t>nhưng</a:t>
            </a:r>
            <a:r>
              <a:rPr lang="en-US" sz="3600" dirty="0">
                <a:solidFill>
                  <a:schemeClr val="dk1"/>
                </a:solidFill>
                <a:latin typeface="Quattrocento Sans"/>
                <a:ea typeface="Quattrocento Sans"/>
                <a:cs typeface="Quattrocento Sans"/>
                <a:sym typeface="Quattrocento Sans"/>
              </a:rPr>
              <a:t> Tester </a:t>
            </a:r>
            <a:r>
              <a:rPr lang="en-US" sz="3600" dirty="0" err="1">
                <a:solidFill>
                  <a:schemeClr val="dk1"/>
                </a:solidFill>
                <a:latin typeface="Quattrocento Sans"/>
                <a:ea typeface="Quattrocento Sans"/>
                <a:cs typeface="Quattrocento Sans"/>
                <a:sym typeface="Quattrocento Sans"/>
              </a:rPr>
              <a:t>chỉ</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thực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hiện</a:t>
            </a:r>
            <a:r>
              <a:rPr lang="en-US" sz="3600" dirty="0">
                <a:solidFill>
                  <a:schemeClr val="dk1"/>
                </a:solidFill>
                <a:latin typeface="Quattrocento Sans"/>
                <a:ea typeface="Quattrocento Sans"/>
                <a:cs typeface="Quattrocento Sans"/>
                <a:sym typeface="Quattrocento Sans"/>
              </a:rPr>
              <a:t> 100 TC, </a:t>
            </a:r>
            <a:r>
              <a:rPr lang="en-US" sz="3600" dirty="0" err="1">
                <a:solidFill>
                  <a:schemeClr val="dk1"/>
                </a:solidFill>
                <a:latin typeface="Quattrocento Sans"/>
                <a:ea typeface="Quattrocento Sans"/>
                <a:cs typeface="Quattrocento Sans"/>
                <a:sym typeface="Quattrocento Sans"/>
              </a:rPr>
              <a:t>Vì</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vậy</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tỷ</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lệ</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chạy</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là</a:t>
            </a:r>
            <a:r>
              <a:rPr lang="en-US" sz="3600" dirty="0">
                <a:solidFill>
                  <a:schemeClr val="dk1"/>
                </a:solidFill>
                <a:latin typeface="Quattrocento Sans"/>
                <a:ea typeface="Quattrocento Sans"/>
                <a:cs typeface="Quattrocento Sans"/>
                <a:sym typeface="Quattrocento Sans"/>
              </a:rPr>
              <a:t> 100/120 = 0,83 (83%).</a:t>
            </a:r>
            <a:endParaRPr sz="3600" dirty="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dur="11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11">
                                            <p:txEl>
                                              <p:pRg st="0" end="0"/>
                                            </p:txEl>
                                          </p:spTgt>
                                        </p:tgtEl>
                                        <p:attrNameLst>
                                          <p:attrName>style.visibility</p:attrName>
                                        </p:attrNameLst>
                                      </p:cBhvr>
                                      <p:to>
                                        <p:strVal val="visible"/>
                                      </p:to>
                                    </p:set>
                                    <p:anim calcmode="lin" valueType="num">
                                      <p:cBhvr additive="base">
                                        <p:cTn id="7" dur="1000"/>
                                        <p:tgtEl>
                                          <p:spTgt spid="51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11">
                                            <p:txEl>
                                              <p:pRg st="1" end="1"/>
                                            </p:txEl>
                                          </p:spTgt>
                                        </p:tgtEl>
                                        <p:attrNameLst>
                                          <p:attrName>style.visibility</p:attrName>
                                        </p:attrNameLst>
                                      </p:cBhvr>
                                      <p:to>
                                        <p:strVal val="visible"/>
                                      </p:to>
                                    </p:set>
                                    <p:anim calcmode="lin" valueType="num">
                                      <p:cBhvr additive="base">
                                        <p:cTn id="12" dur="1000"/>
                                        <p:tgtEl>
                                          <p:spTgt spid="51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11">
                                            <p:txEl>
                                              <p:pRg st="2" end="2"/>
                                            </p:txEl>
                                          </p:spTgt>
                                        </p:tgtEl>
                                        <p:attrNameLst>
                                          <p:attrName>style.visibility</p:attrName>
                                        </p:attrNameLst>
                                      </p:cBhvr>
                                      <p:to>
                                        <p:strVal val="visible"/>
                                      </p:to>
                                    </p:set>
                                    <p:anim calcmode="lin" valueType="num">
                                      <p:cBhvr additive="base">
                                        <p:cTn id="17" dur="1000"/>
                                        <p:tgtEl>
                                          <p:spTgt spid="511">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g11757251f1a_0_4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define test objectives</a:t>
            </a:r>
            <a:endParaRPr/>
          </a:p>
        </p:txBody>
      </p:sp>
      <p:sp>
        <p:nvSpPr>
          <p:cNvPr id="517" name="Google Shape;517;g11757251f1a_0_48"/>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Tỉ lệ Vượt qua(Pass rate)</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Tỷ lệ vượt qua(Pass rate) là tỷ lệ giữa </a:t>
            </a:r>
            <a:r>
              <a:rPr lang="en-US" sz="3600" b="1">
                <a:solidFill>
                  <a:schemeClr val="dk1"/>
                </a:solidFill>
                <a:latin typeface="Quattrocento Sans"/>
                <a:ea typeface="Quattrocento Sans"/>
                <a:cs typeface="Quattrocento Sans"/>
                <a:sym typeface="Quattrocento Sans"/>
              </a:rPr>
              <a:t>số trường hợp thử nghiệm được thông qua / trường hợp thử nghiệm được thực hiện</a:t>
            </a:r>
            <a:r>
              <a:rPr lang="en-US" sz="3600">
                <a:solidFill>
                  <a:schemeClr val="dk1"/>
                </a:solidFill>
                <a:latin typeface="Quattrocento Sans"/>
                <a:ea typeface="Quattrocento Sans"/>
                <a:cs typeface="Quattrocento Sans"/>
                <a:sym typeface="Quattrocento Sans"/>
              </a:rPr>
              <a:t>(</a:t>
            </a:r>
            <a:r>
              <a:rPr lang="en-US" sz="3600" b="1" i="1">
                <a:solidFill>
                  <a:schemeClr val="dk1"/>
                </a:solidFill>
                <a:latin typeface="Quattrocento Sans"/>
                <a:ea typeface="Quattrocento Sans"/>
                <a:cs typeface="Quattrocento Sans"/>
                <a:sym typeface="Quattrocento Sans"/>
              </a:rPr>
              <a:t>Numbers test cases passed / Test cases executed</a:t>
            </a:r>
            <a:r>
              <a:rPr lang="en-US" sz="3600">
                <a:solidFill>
                  <a:schemeClr val="dk1"/>
                </a:solidFill>
                <a:latin typeface="Quattrocento Sans"/>
                <a:ea typeface="Quattrocento Sans"/>
                <a:cs typeface="Quattrocento Sans"/>
                <a:sym typeface="Quattrocento Sans"/>
              </a:rPr>
              <a:t>).</a:t>
            </a:r>
            <a:endParaRPr sz="3600">
              <a:solidFill>
                <a:schemeClr val="dk1"/>
              </a:solidFill>
              <a:latin typeface="Quattrocento Sans"/>
              <a:ea typeface="Quattrocento Sans"/>
              <a:cs typeface="Quattrocento Sans"/>
              <a:sym typeface="Quattrocento Sans"/>
            </a:endParaRPr>
          </a:p>
          <a:p>
            <a:pPr marL="0" lvl="0" indent="0" algn="l" rtl="0">
              <a:spcBef>
                <a:spcPts val="0"/>
              </a:spcBef>
              <a:spcAft>
                <a:spcPts val="0"/>
              </a:spcAft>
              <a:buNone/>
            </a:pPr>
            <a:r>
              <a:rPr lang="en-US" sz="3600">
                <a:solidFill>
                  <a:schemeClr val="dk1"/>
                </a:solidFill>
                <a:latin typeface="Quattrocento Sans"/>
                <a:ea typeface="Quattrocento Sans"/>
                <a:cs typeface="Quattrocento Sans"/>
                <a:sym typeface="Quattrocento Sans"/>
              </a:rPr>
              <a:t>Ví dụ: Trong 100 TC ở Run rate được thực thi, có 80 TestCase đã Pass, do đó, Pass rate là 80/100 = 0,8 (80%).</a:t>
            </a:r>
            <a:endParaRPr sz="36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dur="11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17">
                                            <p:txEl>
                                              <p:pRg st="0" end="0"/>
                                            </p:txEl>
                                          </p:spTgt>
                                        </p:tgtEl>
                                        <p:attrNameLst>
                                          <p:attrName>style.visibility</p:attrName>
                                        </p:attrNameLst>
                                      </p:cBhvr>
                                      <p:to>
                                        <p:strVal val="visible"/>
                                      </p:to>
                                    </p:set>
                                    <p:anim calcmode="lin" valueType="num">
                                      <p:cBhvr additive="base">
                                        <p:cTn id="7" dur="1000"/>
                                        <p:tgtEl>
                                          <p:spTgt spid="51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17">
                                            <p:txEl>
                                              <p:pRg st="1" end="1"/>
                                            </p:txEl>
                                          </p:spTgt>
                                        </p:tgtEl>
                                        <p:attrNameLst>
                                          <p:attrName>style.visibility</p:attrName>
                                        </p:attrNameLst>
                                      </p:cBhvr>
                                      <p:to>
                                        <p:strVal val="visible"/>
                                      </p:to>
                                    </p:set>
                                    <p:anim calcmode="lin" valueType="num">
                                      <p:cBhvr additive="base">
                                        <p:cTn id="12" dur="1000"/>
                                        <p:tgtEl>
                                          <p:spTgt spid="517">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17">
                                            <p:txEl>
                                              <p:pRg st="2" end="2"/>
                                            </p:txEl>
                                          </p:spTgt>
                                        </p:tgtEl>
                                        <p:attrNameLst>
                                          <p:attrName>style.visibility</p:attrName>
                                        </p:attrNameLst>
                                      </p:cBhvr>
                                      <p:to>
                                        <p:strVal val="visible"/>
                                      </p:to>
                                    </p:set>
                                    <p:anim calcmode="lin" valueType="num">
                                      <p:cBhvr additive="base">
                                        <p:cTn id="17" dur="1000"/>
                                        <p:tgtEl>
                                          <p:spTgt spid="517">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g11757251f1a_0_6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resource planning</a:t>
            </a:r>
            <a:endParaRPr/>
          </a:p>
        </p:txBody>
      </p:sp>
      <p:sp>
        <p:nvSpPr>
          <p:cNvPr id="523" name="Google Shape;523;g11757251f1a_0_69"/>
          <p:cNvSpPr txBox="1"/>
          <p:nvPr/>
        </p:nvSpPr>
        <p:spPr>
          <a:xfrm>
            <a:off x="335925" y="1562550"/>
            <a:ext cx="11246400" cy="5226000"/>
          </a:xfrm>
          <a:prstGeom prst="rect">
            <a:avLst/>
          </a:prstGeom>
          <a:noFill/>
          <a:ln>
            <a:noFill/>
          </a:ln>
        </p:spPr>
        <p:txBody>
          <a:bodyPr spcFirstLastPara="1" wrap="square" lIns="91425" tIns="45700" rIns="91425" bIns="45700" anchor="t" anchorCtr="0">
            <a:noAutofit/>
          </a:bodyPr>
          <a:lstStyle/>
          <a:p>
            <a:pPr marL="742950" lvl="1" indent="-342900" algn="l" rtl="0">
              <a:spcBef>
                <a:spcPts val="0"/>
              </a:spcBef>
              <a:spcAft>
                <a:spcPts val="0"/>
              </a:spcAft>
              <a:buClr>
                <a:srgbClr val="FF5A33"/>
              </a:buClr>
              <a:buSzPts val="3300"/>
              <a:buFont typeface="Quattrocento Sans"/>
              <a:buChar char="❖"/>
            </a:pPr>
            <a:r>
              <a:rPr lang="en-US" sz="3300">
                <a:latin typeface="Quattrocento Sans"/>
                <a:ea typeface="Quattrocento Sans"/>
                <a:cs typeface="Quattrocento Sans"/>
                <a:sym typeface="Quattrocento Sans"/>
              </a:rPr>
              <a:t>Kế hoạch nguồn lực là một bản tóm tắt chi tiết về tất cả các loại nguồn lực cần thiết để hoàn thành nhiệm vụ của dự án. </a:t>
            </a:r>
            <a:endParaRPr sz="3300">
              <a:latin typeface="Quattrocento Sans"/>
              <a:ea typeface="Quattrocento Sans"/>
              <a:cs typeface="Quattrocento Sans"/>
              <a:sym typeface="Quattrocento Sans"/>
            </a:endParaRPr>
          </a:p>
          <a:p>
            <a:pPr marL="742950" lvl="1" indent="-342900" algn="l" rtl="0">
              <a:spcBef>
                <a:spcPts val="0"/>
              </a:spcBef>
              <a:spcAft>
                <a:spcPts val="0"/>
              </a:spcAft>
              <a:buClr>
                <a:srgbClr val="FF5A33"/>
              </a:buClr>
              <a:buSzPts val="3300"/>
              <a:buFont typeface="Quattrocento Sans"/>
              <a:buChar char="❖"/>
            </a:pPr>
            <a:r>
              <a:rPr lang="en-US" sz="3300">
                <a:latin typeface="Quattrocento Sans"/>
                <a:ea typeface="Quattrocento Sans"/>
                <a:cs typeface="Quattrocento Sans"/>
                <a:sym typeface="Quattrocento Sans"/>
              </a:rPr>
              <a:t>Lập kế hoạch nguồn lực là yếu tố quan trọng của việc lập kế hoạch kiểm tra vì giúp xác định số lượng nguồn lực (nhân viên, thiết bị…) sẽ được sử dụng cho dự án. Do đó, Người quản lý kiểm thử có thể đưa ra lịch trình &amp; ước tính chính xác cho dự án.</a:t>
            </a:r>
            <a:endParaRPr sz="3300">
              <a:latin typeface="Quattrocento Sans"/>
              <a:ea typeface="Quattrocento Sans"/>
              <a:cs typeface="Quattrocento Sans"/>
              <a:sym typeface="Quattrocento Sans"/>
            </a:endParaRPr>
          </a:p>
          <a:p>
            <a:pPr marL="742950" lvl="1" indent="-342900" algn="l" rtl="0">
              <a:spcBef>
                <a:spcPts val="0"/>
              </a:spcBef>
              <a:spcAft>
                <a:spcPts val="0"/>
              </a:spcAft>
              <a:buClr>
                <a:srgbClr val="FF5A33"/>
              </a:buClr>
              <a:buSzPts val="3300"/>
              <a:buFont typeface="Quattrocento Sans"/>
              <a:buChar char="❖"/>
            </a:pPr>
            <a:r>
              <a:rPr lang="en-US" sz="3300">
                <a:latin typeface="Quattrocento Sans"/>
                <a:ea typeface="Quattrocento Sans"/>
                <a:cs typeface="Quattrocento Sans"/>
                <a:sym typeface="Quattrocento Sans"/>
              </a:rPr>
              <a:t>Phần này đại diện cho các tài nguyên được đề xuất cho dự án của bạn.</a:t>
            </a:r>
            <a:endParaRPr sz="3300">
              <a:latin typeface="Quattrocento Sans"/>
              <a:ea typeface="Quattrocento Sans"/>
              <a:cs typeface="Quattrocento Sans"/>
              <a:sym typeface="Quattrocento Sans"/>
            </a:endParaRPr>
          </a:p>
        </p:txBody>
      </p:sp>
      <p:sp>
        <p:nvSpPr>
          <p:cNvPr id="524" name="Google Shape;524;g11757251f1a_0_69"/>
          <p:cNvSpPr txBox="1"/>
          <p:nvPr/>
        </p:nvSpPr>
        <p:spPr>
          <a:xfrm>
            <a:off x="522375" y="762150"/>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Bước 5: Lập kế hoạch nguồn lực</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23">
                                            <p:txEl>
                                              <p:pRg st="0" end="0"/>
                                            </p:txEl>
                                          </p:spTgt>
                                        </p:tgtEl>
                                        <p:attrNameLst>
                                          <p:attrName>style.visibility</p:attrName>
                                        </p:attrNameLst>
                                      </p:cBhvr>
                                      <p:to>
                                        <p:strVal val="visible"/>
                                      </p:to>
                                    </p:set>
                                    <p:anim calcmode="lin" valueType="num">
                                      <p:cBhvr additive="base">
                                        <p:cTn id="7" dur="1000"/>
                                        <p:tgtEl>
                                          <p:spTgt spid="523">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23">
                                            <p:txEl>
                                              <p:pRg st="1" end="1"/>
                                            </p:txEl>
                                          </p:spTgt>
                                        </p:tgtEl>
                                        <p:attrNameLst>
                                          <p:attrName>style.visibility</p:attrName>
                                        </p:attrNameLst>
                                      </p:cBhvr>
                                      <p:to>
                                        <p:strVal val="visible"/>
                                      </p:to>
                                    </p:set>
                                    <p:anim calcmode="lin" valueType="num">
                                      <p:cBhvr additive="base">
                                        <p:cTn id="12" dur="1000"/>
                                        <p:tgtEl>
                                          <p:spTgt spid="523">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23">
                                            <p:txEl>
                                              <p:pRg st="2" end="2"/>
                                            </p:txEl>
                                          </p:spTgt>
                                        </p:tgtEl>
                                        <p:attrNameLst>
                                          <p:attrName>style.visibility</p:attrName>
                                        </p:attrNameLst>
                                      </p:cBhvr>
                                      <p:to>
                                        <p:strVal val="visible"/>
                                      </p:to>
                                    </p:set>
                                    <p:anim calcmode="lin" valueType="num">
                                      <p:cBhvr additive="base">
                                        <p:cTn id="17" dur="1000"/>
                                        <p:tgtEl>
                                          <p:spTgt spid="523">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g11757251f1a_0_7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resource planning</a:t>
            </a:r>
            <a:endParaRPr/>
          </a:p>
        </p:txBody>
      </p:sp>
      <p:sp>
        <p:nvSpPr>
          <p:cNvPr id="530" name="Google Shape;530;g11757251f1a_0_76"/>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Xác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định</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nguồn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lực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dự</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án</a:t>
            </a:r>
            <a:r>
              <a:rPr lang="en-US" sz="3600" dirty="0">
                <a:solidFill>
                  <a:schemeClr val="dk1"/>
                </a:solidFill>
                <a:latin typeface="Quattrocento Sans"/>
                <a:ea typeface="Quattrocento Sans"/>
                <a:cs typeface="Quattrocento Sans"/>
                <a:sym typeface="Quattrocento Sans"/>
              </a:rPr>
              <a:t> bao </a:t>
            </a:r>
            <a:r>
              <a:rPr lang="en-US" sz="3600" dirty="0" err="1">
                <a:solidFill>
                  <a:schemeClr val="dk1"/>
                </a:solidFill>
                <a:latin typeface="Quattrocento Sans"/>
                <a:ea typeface="Quattrocento Sans"/>
                <a:cs typeface="Quattrocento Sans"/>
                <a:sym typeface="Quattrocento Sans"/>
              </a:rPr>
              <a:t>gồm</a:t>
            </a:r>
            <a:r>
              <a:rPr lang="en-US" sz="3600" dirty="0">
                <a:solidFill>
                  <a:schemeClr val="dk1"/>
                </a:solidFill>
                <a:latin typeface="Quattrocento Sans"/>
                <a:ea typeface="Quattrocento Sans"/>
                <a:cs typeface="Quattrocento Sans"/>
                <a:sym typeface="Quattrocento Sans"/>
              </a:rPr>
              <a:t> 2 </a:t>
            </a:r>
            <a:r>
              <a:rPr lang="en-US" sz="3600" dirty="0" err="1">
                <a:solidFill>
                  <a:schemeClr val="dk1"/>
                </a:solidFill>
                <a:latin typeface="Quattrocento Sans"/>
                <a:ea typeface="Quattrocento Sans"/>
                <a:cs typeface="Quattrocento Sans"/>
                <a:sym typeface="Quattrocento Sans"/>
              </a:rPr>
              <a:t>phần</a:t>
            </a:r>
            <a:r>
              <a:rPr lang="en-US" sz="3600" dirty="0">
                <a:solidFill>
                  <a:schemeClr val="dk1"/>
                </a:solidFill>
                <a:latin typeface="Quattrocento Sans"/>
                <a:ea typeface="Quattrocento Sans"/>
                <a:cs typeface="Quattrocento Sans"/>
                <a:sym typeface="Quattrocento Sans"/>
              </a:rPr>
              <a:t>:</a:t>
            </a:r>
            <a:endParaRPr sz="3600" dirty="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Xác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định</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về</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Nguồn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Nhân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Lực</a:t>
            </a:r>
            <a:r>
              <a:rPr lang="en-US" sz="3600" dirty="0">
                <a:solidFill>
                  <a:schemeClr val="dk1"/>
                </a:solidFill>
                <a:latin typeface="Quattrocento Sans"/>
                <a:ea typeface="Quattrocento Sans"/>
                <a:cs typeface="Quattrocento Sans"/>
                <a:sym typeface="Quattrocento Sans"/>
              </a:rPr>
              <a:t>(Human Resource)</a:t>
            </a:r>
            <a:endParaRPr sz="3600" dirty="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Xác</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định</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về</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Tài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Nguyên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Hệ</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Thống</a:t>
            </a:r>
            <a:r>
              <a:rPr lang="en-US" sz="3600" dirty="0">
                <a:solidFill>
                  <a:schemeClr val="dk1"/>
                </a:solidFill>
                <a:latin typeface="Quattrocento Sans"/>
                <a:ea typeface="Quattrocento Sans"/>
                <a:cs typeface="Quattrocento Sans"/>
                <a:sym typeface="Quattrocento Sans"/>
              </a:rPr>
              <a:t>(System Resource)</a:t>
            </a:r>
            <a:endParaRPr sz="3600" dirty="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dur="11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30">
                                            <p:txEl>
                                              <p:pRg st="0" end="0"/>
                                            </p:txEl>
                                          </p:spTgt>
                                        </p:tgtEl>
                                        <p:attrNameLst>
                                          <p:attrName>style.visibility</p:attrName>
                                        </p:attrNameLst>
                                      </p:cBhvr>
                                      <p:to>
                                        <p:strVal val="visible"/>
                                      </p:to>
                                    </p:set>
                                    <p:anim calcmode="lin" valueType="num">
                                      <p:cBhvr additive="base">
                                        <p:cTn id="7" dur="1000"/>
                                        <p:tgtEl>
                                          <p:spTgt spid="53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30">
                                            <p:txEl>
                                              <p:pRg st="1" end="1"/>
                                            </p:txEl>
                                          </p:spTgt>
                                        </p:tgtEl>
                                        <p:attrNameLst>
                                          <p:attrName>style.visibility</p:attrName>
                                        </p:attrNameLst>
                                      </p:cBhvr>
                                      <p:to>
                                        <p:strVal val="visible"/>
                                      </p:to>
                                    </p:set>
                                    <p:anim calcmode="lin" valueType="num">
                                      <p:cBhvr additive="base">
                                        <p:cTn id="12" dur="1000"/>
                                        <p:tgtEl>
                                          <p:spTgt spid="53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30">
                                            <p:txEl>
                                              <p:pRg st="2" end="2"/>
                                            </p:txEl>
                                          </p:spTgt>
                                        </p:tgtEl>
                                        <p:attrNameLst>
                                          <p:attrName>style.visibility</p:attrName>
                                        </p:attrNameLst>
                                      </p:cBhvr>
                                      <p:to>
                                        <p:strVal val="visible"/>
                                      </p:to>
                                    </p:set>
                                    <p:anim calcmode="lin" valueType="num">
                                      <p:cBhvr additive="base">
                                        <p:cTn id="17" dur="1000"/>
                                        <p:tgtEl>
                                          <p:spTgt spid="530">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g11757251f1a_0_8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resource planning</a:t>
            </a:r>
            <a:endParaRPr/>
          </a:p>
        </p:txBody>
      </p:sp>
      <p:sp>
        <p:nvSpPr>
          <p:cNvPr id="536" name="Google Shape;536;g11757251f1a_0_83"/>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Ví dụ về Xác định Nguồn Nhân Lực:</a:t>
            </a:r>
            <a:endParaRPr sz="3600">
              <a:solidFill>
                <a:schemeClr val="dk1"/>
              </a:solidFill>
              <a:latin typeface="Quattrocento Sans"/>
              <a:ea typeface="Quattrocento Sans"/>
              <a:cs typeface="Quattrocento Sans"/>
              <a:sym typeface="Quattrocento Sans"/>
            </a:endParaRPr>
          </a:p>
          <a:p>
            <a:pPr marL="0" lvl="0" indent="0" algn="l" rtl="0">
              <a:spcBef>
                <a:spcPts val="0"/>
              </a:spcBef>
              <a:spcAft>
                <a:spcPts val="0"/>
              </a:spcAft>
              <a:buNone/>
            </a:pPr>
            <a:endParaRPr sz="3600">
              <a:solidFill>
                <a:schemeClr val="dk1"/>
              </a:solidFill>
              <a:latin typeface="Quattrocento Sans"/>
              <a:ea typeface="Quattrocento Sans"/>
              <a:cs typeface="Quattrocento Sans"/>
              <a:sym typeface="Quattrocento Sans"/>
            </a:endParaRPr>
          </a:p>
        </p:txBody>
      </p:sp>
      <p:graphicFrame>
        <p:nvGraphicFramePr>
          <p:cNvPr id="537" name="Google Shape;537;g11757251f1a_0_83"/>
          <p:cNvGraphicFramePr/>
          <p:nvPr/>
        </p:nvGraphicFramePr>
        <p:xfrm>
          <a:off x="255500" y="1625750"/>
          <a:ext cx="11681000" cy="5232240"/>
        </p:xfrm>
        <a:graphic>
          <a:graphicData uri="http://schemas.openxmlformats.org/drawingml/2006/table">
            <a:tbl>
              <a:tblPr>
                <a:noFill/>
                <a:tableStyleId>{70BAC3E6-0D91-4EE4-A904-E20CA6FAAC95}</a:tableStyleId>
              </a:tblPr>
              <a:tblGrid>
                <a:gridCol w="836575">
                  <a:extLst>
                    <a:ext uri="{9D8B030D-6E8A-4147-A177-3AD203B41FA5}">
                      <a16:colId xmlns:a16="http://schemas.microsoft.com/office/drawing/2014/main" val="20000"/>
                    </a:ext>
                  </a:extLst>
                </a:gridCol>
                <a:gridCol w="1775750">
                  <a:extLst>
                    <a:ext uri="{9D8B030D-6E8A-4147-A177-3AD203B41FA5}">
                      <a16:colId xmlns:a16="http://schemas.microsoft.com/office/drawing/2014/main" val="20001"/>
                    </a:ext>
                  </a:extLst>
                </a:gridCol>
                <a:gridCol w="9068675">
                  <a:extLst>
                    <a:ext uri="{9D8B030D-6E8A-4147-A177-3AD203B41FA5}">
                      <a16:colId xmlns:a16="http://schemas.microsoft.com/office/drawing/2014/main" val="20002"/>
                    </a:ext>
                  </a:extLst>
                </a:gridCol>
              </a:tblGrid>
              <a:tr h="660300">
                <a:tc>
                  <a:txBody>
                    <a:bodyPr/>
                    <a:lstStyle/>
                    <a:p>
                      <a:pPr marL="0" lvl="0" indent="0" algn="l" rtl="0">
                        <a:spcBef>
                          <a:spcPts val="0"/>
                        </a:spcBef>
                        <a:spcAft>
                          <a:spcPts val="0"/>
                        </a:spcAft>
                        <a:buNone/>
                      </a:pPr>
                      <a:r>
                        <a:rPr lang="en-US" sz="2300" b="1"/>
                        <a:t>No.</a:t>
                      </a:r>
                      <a:endParaRPr sz="2300" b="1"/>
                    </a:p>
                  </a:txBody>
                  <a:tcPr marL="91425" marR="91425" marT="91425" marB="91425"/>
                </a:tc>
                <a:tc>
                  <a:txBody>
                    <a:bodyPr/>
                    <a:lstStyle/>
                    <a:p>
                      <a:pPr marL="0" lvl="0" indent="0" algn="l" rtl="0">
                        <a:spcBef>
                          <a:spcPts val="0"/>
                        </a:spcBef>
                        <a:spcAft>
                          <a:spcPts val="0"/>
                        </a:spcAft>
                        <a:buNone/>
                      </a:pPr>
                      <a:r>
                        <a:rPr lang="en-US" sz="2300" b="1">
                          <a:solidFill>
                            <a:srgbClr val="222222"/>
                          </a:solidFill>
                          <a:highlight>
                            <a:srgbClr val="F9F9F9"/>
                          </a:highlight>
                        </a:rPr>
                        <a:t>Member</a:t>
                      </a:r>
                      <a:endParaRPr sz="2300"/>
                    </a:p>
                  </a:txBody>
                  <a:tcPr marL="91425" marR="91425" marT="91425" marB="91425"/>
                </a:tc>
                <a:tc>
                  <a:txBody>
                    <a:bodyPr/>
                    <a:lstStyle/>
                    <a:p>
                      <a:pPr marL="0" lvl="0" indent="0" algn="l" rtl="0">
                        <a:spcBef>
                          <a:spcPts val="0"/>
                        </a:spcBef>
                        <a:spcAft>
                          <a:spcPts val="0"/>
                        </a:spcAft>
                        <a:buNone/>
                      </a:pPr>
                      <a:r>
                        <a:rPr lang="en-US" sz="2300" b="1">
                          <a:solidFill>
                            <a:srgbClr val="222222"/>
                          </a:solidFill>
                          <a:highlight>
                            <a:srgbClr val="F9F9F9"/>
                          </a:highlight>
                        </a:rPr>
                        <a:t>Tasks</a:t>
                      </a:r>
                      <a:endParaRPr sz="2300"/>
                    </a:p>
                  </a:txBody>
                  <a:tcPr marL="91425" marR="91425" marT="91425" marB="91425"/>
                </a:tc>
                <a:extLst>
                  <a:ext uri="{0D108BD9-81ED-4DB2-BD59-A6C34878D82A}">
                    <a16:rowId xmlns:a16="http://schemas.microsoft.com/office/drawing/2014/main" val="10000"/>
                  </a:ext>
                </a:extLst>
              </a:tr>
              <a:tr h="1215150">
                <a:tc>
                  <a:txBody>
                    <a:bodyPr/>
                    <a:lstStyle/>
                    <a:p>
                      <a:pPr marL="0" lvl="0" indent="0" algn="l" rtl="0">
                        <a:spcBef>
                          <a:spcPts val="0"/>
                        </a:spcBef>
                        <a:spcAft>
                          <a:spcPts val="0"/>
                        </a:spcAft>
                        <a:buNone/>
                      </a:pPr>
                      <a:r>
                        <a:rPr lang="en-US" sz="2300"/>
                        <a:t>1</a:t>
                      </a:r>
                      <a:endParaRPr sz="2300"/>
                    </a:p>
                  </a:txBody>
                  <a:tcPr marL="91425" marR="91425" marT="91425" marB="91425"/>
                </a:tc>
                <a:tc>
                  <a:txBody>
                    <a:bodyPr/>
                    <a:lstStyle/>
                    <a:p>
                      <a:pPr marL="0" lvl="0" indent="0" algn="l" rtl="0">
                        <a:spcBef>
                          <a:spcPts val="0"/>
                        </a:spcBef>
                        <a:spcAft>
                          <a:spcPts val="0"/>
                        </a:spcAft>
                        <a:buNone/>
                      </a:pPr>
                      <a:r>
                        <a:rPr lang="en-US" sz="2300" dirty="0"/>
                        <a:t>Test Manager</a:t>
                      </a:r>
                      <a:endParaRPr sz="2300" dirty="0"/>
                    </a:p>
                  </a:txBody>
                  <a:tcPr marL="91425" marR="91425" marT="91425" marB="91425"/>
                </a:tc>
                <a:tc>
                  <a:txBody>
                    <a:bodyPr/>
                    <a:lstStyle/>
                    <a:p>
                      <a:pPr marL="457200" lvl="0" indent="-374650" algn="l" rtl="0">
                        <a:spcBef>
                          <a:spcPts val="0"/>
                        </a:spcBef>
                        <a:spcAft>
                          <a:spcPts val="0"/>
                        </a:spcAft>
                        <a:buSzPts val="2300"/>
                        <a:buChar char="-"/>
                      </a:pPr>
                      <a:r>
                        <a:rPr lang="en-US" sz="2300"/>
                        <a:t>Quản lý toàn bộ dự án</a:t>
                      </a:r>
                      <a:endParaRPr sz="2300"/>
                    </a:p>
                    <a:p>
                      <a:pPr marL="457200" lvl="0" indent="-374650" algn="l" rtl="0">
                        <a:spcBef>
                          <a:spcPts val="0"/>
                        </a:spcBef>
                        <a:spcAft>
                          <a:spcPts val="0"/>
                        </a:spcAft>
                        <a:buSzPts val="2300"/>
                        <a:buChar char="-"/>
                      </a:pPr>
                      <a:r>
                        <a:rPr lang="en-US" sz="2300"/>
                        <a:t>Xác định hướng dự án</a:t>
                      </a:r>
                      <a:endParaRPr sz="2300"/>
                    </a:p>
                    <a:p>
                      <a:pPr marL="457200" lvl="0" indent="-374650" algn="l" rtl="0">
                        <a:spcBef>
                          <a:spcPts val="0"/>
                        </a:spcBef>
                        <a:spcAft>
                          <a:spcPts val="0"/>
                        </a:spcAft>
                        <a:buSzPts val="2300"/>
                        <a:buChar char="-"/>
                      </a:pPr>
                      <a:r>
                        <a:rPr lang="en-US" sz="2300"/>
                        <a:t>Lấy được các nguồn lực thích hợp</a:t>
                      </a:r>
                      <a:endParaRPr sz="2300"/>
                    </a:p>
                  </a:txBody>
                  <a:tcPr marL="91425" marR="91425" marT="91425" marB="91425"/>
                </a:tc>
                <a:extLst>
                  <a:ext uri="{0D108BD9-81ED-4DB2-BD59-A6C34878D82A}">
                    <a16:rowId xmlns:a16="http://schemas.microsoft.com/office/drawing/2014/main" val="10001"/>
                  </a:ext>
                </a:extLst>
              </a:tr>
              <a:tr h="3285425">
                <a:tc>
                  <a:txBody>
                    <a:bodyPr/>
                    <a:lstStyle/>
                    <a:p>
                      <a:pPr marL="0" lvl="0" indent="0" algn="l" rtl="0">
                        <a:spcBef>
                          <a:spcPts val="0"/>
                        </a:spcBef>
                        <a:spcAft>
                          <a:spcPts val="0"/>
                        </a:spcAft>
                        <a:buNone/>
                      </a:pPr>
                      <a:r>
                        <a:rPr lang="en-US" sz="2300"/>
                        <a:t>2</a:t>
                      </a:r>
                      <a:endParaRPr sz="2300"/>
                    </a:p>
                  </a:txBody>
                  <a:tcPr marL="91425" marR="91425" marT="91425" marB="91425"/>
                </a:tc>
                <a:tc>
                  <a:txBody>
                    <a:bodyPr/>
                    <a:lstStyle/>
                    <a:p>
                      <a:pPr marL="0" lvl="0" indent="0" algn="l" rtl="0">
                        <a:spcBef>
                          <a:spcPts val="0"/>
                        </a:spcBef>
                        <a:spcAft>
                          <a:spcPts val="0"/>
                        </a:spcAft>
                        <a:buNone/>
                      </a:pPr>
                      <a:r>
                        <a:rPr lang="en-US" sz="2300" dirty="0"/>
                        <a:t>Tester</a:t>
                      </a:r>
                      <a:endParaRPr sz="2300" dirty="0"/>
                    </a:p>
                  </a:txBody>
                  <a:tcPr marL="91425" marR="91425" marT="91425" marB="91425"/>
                </a:tc>
                <a:tc>
                  <a:txBody>
                    <a:bodyPr/>
                    <a:lstStyle/>
                    <a:p>
                      <a:pPr marL="457200" lvl="0" indent="-374650" algn="l" rtl="0">
                        <a:spcBef>
                          <a:spcPts val="0"/>
                        </a:spcBef>
                        <a:spcAft>
                          <a:spcPts val="0"/>
                        </a:spcAft>
                        <a:buSzPts val="2300"/>
                        <a:buChar char="-"/>
                      </a:pPr>
                      <a:r>
                        <a:rPr lang="en-US" sz="2300" dirty="0" err="1"/>
                        <a:t>Xác</a:t>
                      </a:r>
                      <a:r>
                        <a:rPr lang="en-US" sz="2300" dirty="0"/>
                        <a:t> </a:t>
                      </a:r>
                      <a:r>
                        <a:rPr lang="en-US" sz="2300" dirty="0" err="1"/>
                        <a:t>định</a:t>
                      </a:r>
                      <a:r>
                        <a:rPr lang="en-US" sz="2300" dirty="0"/>
                        <a:t> </a:t>
                      </a:r>
                      <a:r>
                        <a:rPr lang="en-US" sz="2300" dirty="0" err="1"/>
                        <a:t>và</a:t>
                      </a:r>
                      <a:r>
                        <a:rPr lang="en-US" sz="2300" dirty="0"/>
                        <a:t> </a:t>
                      </a:r>
                      <a:r>
                        <a:rPr lang="en-US" sz="2300" dirty="0" err="1"/>
                        <a:t>mô</a:t>
                      </a:r>
                      <a:r>
                        <a:rPr lang="en-US" sz="2300" dirty="0"/>
                        <a:t> </a:t>
                      </a:r>
                      <a:r>
                        <a:rPr lang="en-US" sz="2300" dirty="0" err="1"/>
                        <a:t>tả</a:t>
                      </a:r>
                      <a:r>
                        <a:rPr lang="en-US" sz="2300" dirty="0"/>
                        <a:t> </a:t>
                      </a:r>
                      <a:r>
                        <a:rPr lang="en-US" sz="2300" dirty="0" err="1"/>
                        <a:t>các</a:t>
                      </a:r>
                      <a:r>
                        <a:rPr lang="en-US" sz="2300" dirty="0"/>
                        <a:t> </a:t>
                      </a:r>
                      <a:r>
                        <a:rPr lang="en-US" sz="2300" dirty="0" err="1"/>
                        <a:t>kỹ</a:t>
                      </a:r>
                      <a:r>
                        <a:rPr lang="en-US" sz="2300" dirty="0"/>
                        <a:t> </a:t>
                      </a:r>
                      <a:r>
                        <a:rPr lang="en-US" sz="2300" dirty="0" err="1"/>
                        <a:t>thuật</a:t>
                      </a:r>
                      <a:r>
                        <a:rPr lang="en-US" sz="2300" dirty="0"/>
                        <a:t> / </a:t>
                      </a:r>
                      <a:r>
                        <a:rPr lang="en-US" sz="2300" dirty="0" err="1"/>
                        <a:t>công</a:t>
                      </a:r>
                      <a:r>
                        <a:rPr lang="en-US" sz="2300" dirty="0"/>
                        <a:t> </a:t>
                      </a:r>
                      <a:r>
                        <a:rPr lang="en-US" sz="2300" dirty="0" err="1"/>
                        <a:t>cụ</a:t>
                      </a:r>
                      <a:r>
                        <a:rPr lang="en-US" sz="2300" dirty="0"/>
                        <a:t> / </a:t>
                      </a:r>
                      <a:r>
                        <a:rPr lang="en-US" sz="2300" dirty="0" err="1"/>
                        <a:t>kiến</a:t>
                      </a:r>
                      <a:r>
                        <a:rPr lang="en-US" sz="2300" dirty="0"/>
                        <a:t> </a:t>
                      </a:r>
                      <a:r>
                        <a:rPr lang="en-US" sz="2300" dirty="0" err="1"/>
                        <a:t>trúc</a:t>
                      </a:r>
                      <a:r>
                        <a:rPr lang="en-US" sz="2300" dirty="0"/>
                        <a:t> </a:t>
                      </a:r>
                      <a:r>
                        <a:rPr lang="en-US" sz="2300" dirty="0" err="1"/>
                        <a:t>tự</a:t>
                      </a:r>
                      <a:r>
                        <a:rPr lang="en-US" sz="2300" dirty="0"/>
                        <a:t> </a:t>
                      </a:r>
                      <a:r>
                        <a:rPr lang="en-US" sz="2300" dirty="0" err="1"/>
                        <a:t>động</a:t>
                      </a:r>
                      <a:r>
                        <a:rPr lang="en-US" sz="2300" dirty="0"/>
                        <a:t> </a:t>
                      </a:r>
                      <a:r>
                        <a:rPr lang="en-US" sz="2300" dirty="0" err="1"/>
                        <a:t>hóa</a:t>
                      </a:r>
                      <a:r>
                        <a:rPr lang="en-US" sz="2300" dirty="0"/>
                        <a:t> </a:t>
                      </a:r>
                      <a:r>
                        <a:rPr lang="en-US" sz="2300" dirty="0" err="1"/>
                        <a:t>kiểm</a:t>
                      </a:r>
                      <a:r>
                        <a:rPr lang="en-US" sz="2300" dirty="0"/>
                        <a:t> </a:t>
                      </a:r>
                      <a:r>
                        <a:rPr lang="en-US" sz="2300" dirty="0" err="1"/>
                        <a:t>tra</a:t>
                      </a:r>
                      <a:r>
                        <a:rPr lang="en-US" sz="2300" dirty="0"/>
                        <a:t> </a:t>
                      </a:r>
                      <a:r>
                        <a:rPr lang="en-US" sz="2300" dirty="0" err="1"/>
                        <a:t>thích</a:t>
                      </a:r>
                      <a:r>
                        <a:rPr lang="en-US" sz="2300" dirty="0"/>
                        <a:t> </a:t>
                      </a:r>
                      <a:r>
                        <a:rPr lang="en-US" sz="2300" dirty="0" err="1"/>
                        <a:t>hợp</a:t>
                      </a:r>
                      <a:endParaRPr sz="2300" dirty="0"/>
                    </a:p>
                    <a:p>
                      <a:pPr marL="457200" lvl="0" indent="-374650" algn="l" rtl="0">
                        <a:spcBef>
                          <a:spcPts val="0"/>
                        </a:spcBef>
                        <a:spcAft>
                          <a:spcPts val="0"/>
                        </a:spcAft>
                        <a:buSzPts val="2300"/>
                        <a:buChar char="-"/>
                      </a:pPr>
                      <a:r>
                        <a:rPr lang="en-US" sz="2300" dirty="0" err="1"/>
                        <a:t>Xác</a:t>
                      </a:r>
                      <a:r>
                        <a:rPr lang="en-US" sz="2300" dirty="0"/>
                        <a:t> </a:t>
                      </a:r>
                      <a:r>
                        <a:rPr lang="en-US" sz="2300" dirty="0" err="1"/>
                        <a:t>minh</a:t>
                      </a:r>
                      <a:r>
                        <a:rPr lang="en-US" sz="2300" dirty="0"/>
                        <a:t> </a:t>
                      </a:r>
                      <a:r>
                        <a:rPr lang="en-US" sz="2300" dirty="0" err="1"/>
                        <a:t>và</a:t>
                      </a:r>
                      <a:r>
                        <a:rPr lang="en-US" sz="2300" dirty="0"/>
                        <a:t> </a:t>
                      </a:r>
                      <a:r>
                        <a:rPr lang="en-US" sz="2300" dirty="0" err="1"/>
                        <a:t>đánh</a:t>
                      </a:r>
                      <a:r>
                        <a:rPr lang="en-US" sz="2300" dirty="0"/>
                        <a:t> </a:t>
                      </a:r>
                      <a:r>
                        <a:rPr lang="en-US" sz="2300" dirty="0" err="1"/>
                        <a:t>giá</a:t>
                      </a:r>
                      <a:r>
                        <a:rPr lang="en-US" sz="2300" dirty="0"/>
                        <a:t> </a:t>
                      </a:r>
                      <a:r>
                        <a:rPr lang="en-US" sz="2300" dirty="0" err="1"/>
                        <a:t>Phương</a:t>
                      </a:r>
                      <a:r>
                        <a:rPr lang="en-US" sz="2300" dirty="0"/>
                        <a:t> </a:t>
                      </a:r>
                      <a:r>
                        <a:rPr lang="en-US" sz="2300" dirty="0" err="1"/>
                        <a:t>pháp</a:t>
                      </a:r>
                      <a:r>
                        <a:rPr lang="en-US" sz="2300" dirty="0"/>
                        <a:t> </a:t>
                      </a:r>
                      <a:r>
                        <a:rPr lang="en-US" sz="2300" dirty="0" err="1"/>
                        <a:t>tiếp</a:t>
                      </a:r>
                      <a:r>
                        <a:rPr lang="en-US" sz="2300" dirty="0"/>
                        <a:t> </a:t>
                      </a:r>
                      <a:r>
                        <a:rPr lang="en-US" sz="2300" dirty="0" err="1"/>
                        <a:t>cận</a:t>
                      </a:r>
                      <a:r>
                        <a:rPr lang="en-US" sz="2300" dirty="0"/>
                        <a:t> </a:t>
                      </a:r>
                      <a:r>
                        <a:rPr lang="en-US" sz="2300" dirty="0" err="1"/>
                        <a:t>thử</a:t>
                      </a:r>
                      <a:r>
                        <a:rPr lang="en-US" sz="2300" dirty="0"/>
                        <a:t> </a:t>
                      </a:r>
                      <a:r>
                        <a:rPr lang="en-US" sz="2300" dirty="0" err="1"/>
                        <a:t>nghiệm</a:t>
                      </a:r>
                      <a:endParaRPr sz="2300" dirty="0"/>
                    </a:p>
                    <a:p>
                      <a:pPr marL="457200" lvl="0" indent="-374650" algn="l" rtl="0">
                        <a:spcBef>
                          <a:spcPts val="0"/>
                        </a:spcBef>
                        <a:spcAft>
                          <a:spcPts val="0"/>
                        </a:spcAft>
                        <a:buSzPts val="2300"/>
                        <a:buChar char="-"/>
                      </a:pPr>
                      <a:r>
                        <a:rPr lang="en-US" sz="2300" dirty="0" err="1"/>
                        <a:t>Thực</a:t>
                      </a:r>
                      <a:r>
                        <a:rPr lang="en-US" sz="2300" dirty="0"/>
                        <a:t> </a:t>
                      </a:r>
                      <a:r>
                        <a:rPr lang="en-US" sz="2300" dirty="0" err="1"/>
                        <a:t>hiện</a:t>
                      </a:r>
                      <a:r>
                        <a:rPr lang="en-US" sz="2300" dirty="0"/>
                        <a:t> </a:t>
                      </a:r>
                      <a:r>
                        <a:rPr lang="en-US" sz="2300" dirty="0" err="1"/>
                        <a:t>các</a:t>
                      </a:r>
                      <a:r>
                        <a:rPr lang="en-US" sz="2300" dirty="0"/>
                        <a:t> </a:t>
                      </a:r>
                      <a:r>
                        <a:rPr lang="en-US" sz="2300" dirty="0" err="1"/>
                        <a:t>bài</a:t>
                      </a:r>
                      <a:r>
                        <a:rPr lang="en-US" sz="2300" dirty="0"/>
                        <a:t> </a:t>
                      </a:r>
                      <a:r>
                        <a:rPr lang="en-US" sz="2300" dirty="0" err="1"/>
                        <a:t>kiểm</a:t>
                      </a:r>
                      <a:r>
                        <a:rPr lang="en-US" sz="2300" dirty="0"/>
                        <a:t> </a:t>
                      </a:r>
                      <a:r>
                        <a:rPr lang="en-US" sz="2300" dirty="0" err="1"/>
                        <a:t>tra</a:t>
                      </a:r>
                      <a:r>
                        <a:rPr lang="en-US" sz="2300" dirty="0"/>
                        <a:t>, </a:t>
                      </a:r>
                      <a:r>
                        <a:rPr lang="en-US" sz="2300" dirty="0" err="1"/>
                        <a:t>Ghi</a:t>
                      </a:r>
                      <a:r>
                        <a:rPr lang="en-US" sz="2300" dirty="0"/>
                        <a:t> </a:t>
                      </a:r>
                      <a:r>
                        <a:rPr lang="en-US" sz="2300" dirty="0" err="1"/>
                        <a:t>kết</a:t>
                      </a:r>
                      <a:r>
                        <a:rPr lang="en-US" sz="2300" dirty="0"/>
                        <a:t> </a:t>
                      </a:r>
                      <a:r>
                        <a:rPr lang="en-US" sz="2300" dirty="0" err="1"/>
                        <a:t>quả</a:t>
                      </a:r>
                      <a:r>
                        <a:rPr lang="en-US" sz="2300" dirty="0"/>
                        <a:t>, </a:t>
                      </a:r>
                      <a:r>
                        <a:rPr lang="en-US" sz="2300" dirty="0" err="1"/>
                        <a:t>Báo</a:t>
                      </a:r>
                      <a:r>
                        <a:rPr lang="en-US" sz="2300" dirty="0"/>
                        <a:t> </a:t>
                      </a:r>
                      <a:r>
                        <a:rPr lang="en-US" sz="2300" dirty="0" err="1"/>
                        <a:t>cáo</a:t>
                      </a:r>
                      <a:r>
                        <a:rPr lang="en-US" sz="2300" dirty="0"/>
                        <a:t> </a:t>
                      </a:r>
                      <a:r>
                        <a:rPr lang="en-US" sz="2300" dirty="0" err="1"/>
                        <a:t>các</a:t>
                      </a:r>
                      <a:r>
                        <a:rPr lang="en-US" sz="2300" dirty="0"/>
                        <a:t> </a:t>
                      </a:r>
                      <a:r>
                        <a:rPr lang="en-US" sz="2300" dirty="0" err="1"/>
                        <a:t>khiếm</a:t>
                      </a:r>
                      <a:r>
                        <a:rPr lang="en-US" sz="2300" dirty="0"/>
                        <a:t> </a:t>
                      </a:r>
                      <a:r>
                        <a:rPr lang="en-US" sz="2300" dirty="0" err="1"/>
                        <a:t>khuyết</a:t>
                      </a:r>
                      <a:r>
                        <a:rPr lang="en-US" sz="2300" dirty="0"/>
                        <a:t>.</a:t>
                      </a:r>
                      <a:endParaRPr sz="2300" dirty="0"/>
                    </a:p>
                    <a:p>
                      <a:pPr marL="457200" lvl="0" indent="-374650" algn="l" rtl="0">
                        <a:spcBef>
                          <a:spcPts val="0"/>
                        </a:spcBef>
                        <a:spcAft>
                          <a:spcPts val="0"/>
                        </a:spcAft>
                        <a:buSzPts val="2300"/>
                        <a:buChar char="-"/>
                      </a:pPr>
                      <a:r>
                        <a:rPr lang="en-US" sz="2300" dirty="0" err="1"/>
                        <a:t>Người</a:t>
                      </a:r>
                      <a:r>
                        <a:rPr lang="en-US" sz="2300" dirty="0"/>
                        <a:t> </a:t>
                      </a:r>
                      <a:r>
                        <a:rPr lang="en-US" sz="2300" dirty="0" err="1"/>
                        <a:t>kiểm</a:t>
                      </a:r>
                      <a:r>
                        <a:rPr lang="en-US" sz="2300" dirty="0"/>
                        <a:t> </a:t>
                      </a:r>
                      <a:r>
                        <a:rPr lang="en-US" sz="2300" dirty="0" err="1"/>
                        <a:t>tra</a:t>
                      </a:r>
                      <a:r>
                        <a:rPr lang="en-US" sz="2300" dirty="0"/>
                        <a:t> </a:t>
                      </a:r>
                      <a:r>
                        <a:rPr lang="en-US" sz="2300" dirty="0" err="1"/>
                        <a:t>có</a:t>
                      </a:r>
                      <a:r>
                        <a:rPr lang="en-US" sz="2300" dirty="0"/>
                        <a:t> </a:t>
                      </a:r>
                      <a:r>
                        <a:rPr lang="en-US" sz="2300" dirty="0" err="1"/>
                        <a:t>thể</a:t>
                      </a:r>
                      <a:r>
                        <a:rPr lang="en-US" sz="2300" dirty="0"/>
                        <a:t> </a:t>
                      </a:r>
                      <a:r>
                        <a:rPr lang="en-US" sz="2300" dirty="0" err="1"/>
                        <a:t>là</a:t>
                      </a:r>
                      <a:r>
                        <a:rPr lang="en-US" sz="2300" dirty="0"/>
                        <a:t> </a:t>
                      </a:r>
                      <a:r>
                        <a:rPr lang="en-US" sz="2300" dirty="0" err="1"/>
                        <a:t>thành</a:t>
                      </a:r>
                      <a:r>
                        <a:rPr lang="en-US" sz="2300" dirty="0"/>
                        <a:t> </a:t>
                      </a:r>
                      <a:r>
                        <a:rPr lang="en-US" sz="2300" dirty="0" err="1"/>
                        <a:t>viên</a:t>
                      </a:r>
                      <a:r>
                        <a:rPr lang="en-US" sz="2300" dirty="0"/>
                        <a:t> </a:t>
                      </a:r>
                      <a:r>
                        <a:rPr lang="en-US" sz="2300" dirty="0" err="1"/>
                        <a:t>trong</a:t>
                      </a:r>
                      <a:r>
                        <a:rPr lang="en-US" sz="2300" dirty="0"/>
                        <a:t> </a:t>
                      </a:r>
                      <a:r>
                        <a:rPr lang="en-US" sz="2300" dirty="0" err="1"/>
                        <a:t>nguồn</a:t>
                      </a:r>
                      <a:r>
                        <a:rPr lang="en-US" sz="2300" dirty="0"/>
                        <a:t> </a:t>
                      </a:r>
                      <a:r>
                        <a:rPr lang="en-US" sz="2300" dirty="0" err="1"/>
                        <a:t>hoặc</a:t>
                      </a:r>
                      <a:r>
                        <a:rPr lang="en-US" sz="2300" dirty="0"/>
                        <a:t> </a:t>
                      </a:r>
                      <a:r>
                        <a:rPr lang="en-US" sz="2300" dirty="0" err="1"/>
                        <a:t>ngoài</a:t>
                      </a:r>
                      <a:r>
                        <a:rPr lang="en-US" sz="2300" dirty="0"/>
                        <a:t> </a:t>
                      </a:r>
                      <a:r>
                        <a:rPr lang="en-US" sz="2300" dirty="0" err="1"/>
                        <a:t>nguồn</a:t>
                      </a:r>
                      <a:r>
                        <a:rPr lang="en-US" sz="2300" dirty="0"/>
                        <a:t>, </a:t>
                      </a:r>
                      <a:r>
                        <a:rPr lang="en-US" sz="2300" dirty="0" err="1"/>
                        <a:t>dựa</a:t>
                      </a:r>
                      <a:r>
                        <a:rPr lang="en-US" sz="2300" dirty="0"/>
                        <a:t> </a:t>
                      </a:r>
                      <a:r>
                        <a:rPr lang="en-US" sz="2300" dirty="0" err="1"/>
                        <a:t>trên</a:t>
                      </a:r>
                      <a:r>
                        <a:rPr lang="en-US" sz="2300" dirty="0"/>
                        <a:t> </a:t>
                      </a:r>
                      <a:r>
                        <a:rPr lang="en-US" sz="2300" dirty="0" err="1"/>
                        <a:t>ngân</a:t>
                      </a:r>
                      <a:r>
                        <a:rPr lang="en-US" sz="2300" dirty="0"/>
                        <a:t> </a:t>
                      </a:r>
                      <a:r>
                        <a:rPr lang="en-US" sz="2300" dirty="0" err="1"/>
                        <a:t>sách</a:t>
                      </a:r>
                      <a:r>
                        <a:rPr lang="en-US" sz="2300" dirty="0"/>
                        <a:t> </a:t>
                      </a:r>
                      <a:r>
                        <a:rPr lang="en-US" sz="2300" dirty="0" err="1"/>
                        <a:t>dự</a:t>
                      </a:r>
                      <a:r>
                        <a:rPr lang="en-US" sz="2300" dirty="0"/>
                        <a:t> </a:t>
                      </a:r>
                      <a:r>
                        <a:rPr lang="en-US" sz="2300" dirty="0" err="1"/>
                        <a:t>án</a:t>
                      </a:r>
                      <a:endParaRPr sz="2300" dirty="0"/>
                    </a:p>
                    <a:p>
                      <a:pPr marL="457200" lvl="0" indent="-374650" algn="l" rtl="0">
                        <a:spcBef>
                          <a:spcPts val="0"/>
                        </a:spcBef>
                        <a:spcAft>
                          <a:spcPts val="0"/>
                        </a:spcAft>
                        <a:buSzPts val="2300"/>
                        <a:buChar char="-"/>
                      </a:pPr>
                      <a:r>
                        <a:rPr lang="en-US" sz="2300" dirty="0" err="1"/>
                        <a:t>Đối</a:t>
                      </a:r>
                      <a:r>
                        <a:rPr lang="en-US" sz="2300" dirty="0"/>
                        <a:t> </a:t>
                      </a:r>
                      <a:r>
                        <a:rPr lang="en-US" sz="2300" dirty="0" err="1"/>
                        <a:t>với</a:t>
                      </a:r>
                      <a:r>
                        <a:rPr lang="en-US" sz="2300" dirty="0"/>
                        <a:t> </a:t>
                      </a:r>
                      <a:r>
                        <a:rPr lang="en-US" sz="2300" dirty="0" err="1"/>
                        <a:t>nhiệm</a:t>
                      </a:r>
                      <a:r>
                        <a:rPr lang="en-US" sz="2300" dirty="0"/>
                        <a:t> </a:t>
                      </a:r>
                      <a:r>
                        <a:rPr lang="en-US" sz="2300" dirty="0" err="1"/>
                        <a:t>vụ</a:t>
                      </a:r>
                      <a:r>
                        <a:rPr lang="en-US" sz="2300" dirty="0"/>
                        <a:t> </a:t>
                      </a:r>
                      <a:r>
                        <a:rPr lang="en-US" sz="2300" dirty="0" err="1"/>
                        <a:t>yêu</a:t>
                      </a:r>
                      <a:r>
                        <a:rPr lang="en-US" sz="2300" dirty="0"/>
                        <a:t> </a:t>
                      </a:r>
                      <a:r>
                        <a:rPr lang="en-US" sz="2300" dirty="0" err="1"/>
                        <a:t>cầu</a:t>
                      </a:r>
                      <a:r>
                        <a:rPr lang="en-US" sz="2300" dirty="0"/>
                        <a:t> </a:t>
                      </a:r>
                      <a:r>
                        <a:rPr lang="en-US" sz="2300" dirty="0" err="1"/>
                        <a:t>kỹ</a:t>
                      </a:r>
                      <a:r>
                        <a:rPr lang="en-US" sz="2300" dirty="0"/>
                        <a:t> </a:t>
                      </a:r>
                      <a:r>
                        <a:rPr lang="en-US" sz="2300" dirty="0" err="1"/>
                        <a:t>năng</a:t>
                      </a:r>
                      <a:r>
                        <a:rPr lang="en-US" sz="2300" dirty="0"/>
                        <a:t> </a:t>
                      </a:r>
                      <a:r>
                        <a:rPr lang="en-US" sz="2300" dirty="0" err="1"/>
                        <a:t>thấp</a:t>
                      </a:r>
                      <a:r>
                        <a:rPr lang="en-US" sz="2300" dirty="0"/>
                        <a:t>, </a:t>
                      </a:r>
                      <a:r>
                        <a:rPr lang="en-US" sz="2300" dirty="0" err="1"/>
                        <a:t>tôi</a:t>
                      </a:r>
                      <a:r>
                        <a:rPr lang="en-US" sz="2300" dirty="0"/>
                        <a:t> </a:t>
                      </a:r>
                      <a:r>
                        <a:rPr lang="en-US" sz="2300" dirty="0" err="1"/>
                        <a:t>khuyên</a:t>
                      </a:r>
                      <a:r>
                        <a:rPr lang="en-US" sz="2300" dirty="0"/>
                        <a:t> </a:t>
                      </a:r>
                      <a:r>
                        <a:rPr lang="en-US" sz="2300" dirty="0" err="1"/>
                        <a:t>bạn</a:t>
                      </a:r>
                      <a:r>
                        <a:rPr lang="en-US" sz="2300" dirty="0"/>
                        <a:t> </a:t>
                      </a:r>
                      <a:r>
                        <a:rPr lang="en-US" sz="2300" dirty="0" err="1"/>
                        <a:t>nên</a:t>
                      </a:r>
                      <a:r>
                        <a:rPr lang="en-US" sz="2300" dirty="0"/>
                        <a:t> </a:t>
                      </a:r>
                      <a:r>
                        <a:rPr lang="en-US" sz="2300" dirty="0" err="1"/>
                        <a:t>chọn</a:t>
                      </a:r>
                      <a:r>
                        <a:rPr lang="en-US" sz="2300" dirty="0"/>
                        <a:t> </a:t>
                      </a:r>
                      <a:r>
                        <a:rPr lang="en-US" sz="2300" dirty="0" err="1"/>
                        <a:t>các</a:t>
                      </a:r>
                      <a:r>
                        <a:rPr lang="en-US" sz="2300" dirty="0"/>
                        <a:t> </a:t>
                      </a:r>
                      <a:r>
                        <a:rPr lang="en-US" sz="2300" dirty="0" err="1"/>
                        <a:t>thành</a:t>
                      </a:r>
                      <a:r>
                        <a:rPr lang="en-US" sz="2300" dirty="0"/>
                        <a:t> </a:t>
                      </a:r>
                      <a:r>
                        <a:rPr lang="en-US" sz="2300" dirty="0" err="1"/>
                        <a:t>viên</a:t>
                      </a:r>
                      <a:r>
                        <a:rPr lang="en-US" sz="2300" dirty="0"/>
                        <a:t> </a:t>
                      </a:r>
                      <a:r>
                        <a:rPr lang="en-US" sz="2300" dirty="0" err="1"/>
                        <a:t>thuê</a:t>
                      </a:r>
                      <a:r>
                        <a:rPr lang="en-US" sz="2300" dirty="0"/>
                        <a:t> </a:t>
                      </a:r>
                      <a:r>
                        <a:rPr lang="en-US" sz="2300" dirty="0" err="1"/>
                        <a:t>ngoài</a:t>
                      </a:r>
                      <a:r>
                        <a:rPr lang="en-US" sz="2300" dirty="0"/>
                        <a:t> </a:t>
                      </a:r>
                      <a:r>
                        <a:rPr lang="en-US" sz="2300" dirty="0" err="1"/>
                        <a:t>để</a:t>
                      </a:r>
                      <a:r>
                        <a:rPr lang="en-US" sz="2300" dirty="0"/>
                        <a:t> </a:t>
                      </a:r>
                      <a:r>
                        <a:rPr lang="en-US" sz="2300" dirty="0" err="1"/>
                        <a:t>tiết</a:t>
                      </a:r>
                      <a:r>
                        <a:rPr lang="en-US" sz="2300" dirty="0"/>
                        <a:t> </a:t>
                      </a:r>
                      <a:r>
                        <a:rPr lang="en-US" sz="2300" dirty="0" err="1"/>
                        <a:t>kiệm</a:t>
                      </a:r>
                      <a:r>
                        <a:rPr lang="en-US" sz="2300" dirty="0"/>
                        <a:t> chi </a:t>
                      </a:r>
                      <a:r>
                        <a:rPr lang="en-US" sz="2300" dirty="0" err="1"/>
                        <a:t>phí</a:t>
                      </a:r>
                      <a:r>
                        <a:rPr lang="en-US" sz="2300" dirty="0"/>
                        <a:t> </a:t>
                      </a:r>
                      <a:r>
                        <a:rPr lang="en-US" sz="2300" dirty="0" err="1"/>
                        <a:t>dự</a:t>
                      </a:r>
                      <a:r>
                        <a:rPr lang="en-US" sz="2300" dirty="0"/>
                        <a:t> </a:t>
                      </a:r>
                      <a:r>
                        <a:rPr lang="en-US" sz="2300" dirty="0" err="1"/>
                        <a:t>án</a:t>
                      </a:r>
                      <a:r>
                        <a:rPr lang="en-US" sz="2300" dirty="0"/>
                        <a:t>.</a:t>
                      </a:r>
                      <a:endParaRPr sz="2300" dirty="0"/>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1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36">
                                            <p:txEl>
                                              <p:pRg st="0" end="0"/>
                                            </p:txEl>
                                          </p:spTgt>
                                        </p:tgtEl>
                                        <p:attrNameLst>
                                          <p:attrName>style.visibility</p:attrName>
                                        </p:attrNameLst>
                                      </p:cBhvr>
                                      <p:to>
                                        <p:strVal val="visible"/>
                                      </p:to>
                                    </p:set>
                                    <p:anim calcmode="lin" valueType="num">
                                      <p:cBhvr additive="base">
                                        <p:cTn id="7" dur="1000"/>
                                        <p:tgtEl>
                                          <p:spTgt spid="536">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36">
                                            <p:txEl>
                                              <p:pRg st="1" end="1"/>
                                            </p:txEl>
                                          </p:spTgt>
                                        </p:tgtEl>
                                        <p:attrNameLst>
                                          <p:attrName>style.visibility</p:attrName>
                                        </p:attrNameLst>
                                      </p:cBhvr>
                                      <p:to>
                                        <p:strVal val="visible"/>
                                      </p:to>
                                    </p:set>
                                    <p:anim calcmode="lin" valueType="num">
                                      <p:cBhvr additive="base">
                                        <p:cTn id="12" dur="1000"/>
                                        <p:tgtEl>
                                          <p:spTgt spid="536">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g11757251f1a_0_10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resource planning</a:t>
            </a:r>
            <a:endParaRPr/>
          </a:p>
        </p:txBody>
      </p:sp>
      <p:sp>
        <p:nvSpPr>
          <p:cNvPr id="543" name="Google Shape;543;g11757251f1a_0_108"/>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sz="3600">
              <a:solidFill>
                <a:schemeClr val="dk1"/>
              </a:solidFill>
              <a:latin typeface="Quattrocento Sans"/>
              <a:ea typeface="Quattrocento Sans"/>
              <a:cs typeface="Quattrocento Sans"/>
              <a:sym typeface="Quattrocento Sans"/>
            </a:endParaRPr>
          </a:p>
        </p:txBody>
      </p:sp>
      <p:graphicFrame>
        <p:nvGraphicFramePr>
          <p:cNvPr id="544" name="Google Shape;544;g11757251f1a_0_108"/>
          <p:cNvGraphicFramePr/>
          <p:nvPr/>
        </p:nvGraphicFramePr>
        <p:xfrm>
          <a:off x="317038" y="953250"/>
          <a:ext cx="11356200" cy="5595400"/>
        </p:xfrm>
        <a:graphic>
          <a:graphicData uri="http://schemas.openxmlformats.org/drawingml/2006/table">
            <a:tbl>
              <a:tblPr>
                <a:noFill/>
                <a:tableStyleId>{70BAC3E6-0D91-4EE4-A904-E20CA6FAAC95}</a:tableStyleId>
              </a:tblPr>
              <a:tblGrid>
                <a:gridCol w="813300">
                  <a:extLst>
                    <a:ext uri="{9D8B030D-6E8A-4147-A177-3AD203B41FA5}">
                      <a16:colId xmlns:a16="http://schemas.microsoft.com/office/drawing/2014/main" val="20000"/>
                    </a:ext>
                  </a:extLst>
                </a:gridCol>
                <a:gridCol w="3241450">
                  <a:extLst>
                    <a:ext uri="{9D8B030D-6E8A-4147-A177-3AD203B41FA5}">
                      <a16:colId xmlns:a16="http://schemas.microsoft.com/office/drawing/2014/main" val="20001"/>
                    </a:ext>
                  </a:extLst>
                </a:gridCol>
                <a:gridCol w="7301450">
                  <a:extLst>
                    <a:ext uri="{9D8B030D-6E8A-4147-A177-3AD203B41FA5}">
                      <a16:colId xmlns:a16="http://schemas.microsoft.com/office/drawing/2014/main" val="20002"/>
                    </a:ext>
                  </a:extLst>
                </a:gridCol>
              </a:tblGrid>
              <a:tr h="1212325">
                <a:tc>
                  <a:txBody>
                    <a:bodyPr/>
                    <a:lstStyle/>
                    <a:p>
                      <a:pPr marL="0" lvl="0" indent="0" algn="l" rtl="0">
                        <a:spcBef>
                          <a:spcPts val="0"/>
                        </a:spcBef>
                        <a:spcAft>
                          <a:spcPts val="0"/>
                        </a:spcAft>
                        <a:buNone/>
                      </a:pPr>
                      <a:r>
                        <a:rPr lang="en-US" sz="2500"/>
                        <a:t>3</a:t>
                      </a:r>
                      <a:endParaRPr sz="2500"/>
                    </a:p>
                  </a:txBody>
                  <a:tcPr marL="91425" marR="91425" marT="91425" marB="91425"/>
                </a:tc>
                <a:tc>
                  <a:txBody>
                    <a:bodyPr/>
                    <a:lstStyle/>
                    <a:p>
                      <a:pPr marL="0" lvl="0" indent="0" algn="l" rtl="0">
                        <a:spcBef>
                          <a:spcPts val="0"/>
                        </a:spcBef>
                        <a:spcAft>
                          <a:spcPts val="0"/>
                        </a:spcAft>
                        <a:buNone/>
                      </a:pPr>
                      <a:r>
                        <a:rPr lang="en-US" sz="2500"/>
                        <a:t>Developer in Test</a:t>
                      </a:r>
                      <a:endParaRPr sz="2500"/>
                    </a:p>
                  </a:txBody>
                  <a:tcPr marL="91425" marR="91425" marT="91425" marB="91425"/>
                </a:tc>
                <a:tc>
                  <a:txBody>
                    <a:bodyPr/>
                    <a:lstStyle/>
                    <a:p>
                      <a:pPr marL="457200" lvl="0" indent="-387350" algn="l" rtl="0">
                        <a:spcBef>
                          <a:spcPts val="0"/>
                        </a:spcBef>
                        <a:spcAft>
                          <a:spcPts val="0"/>
                        </a:spcAft>
                        <a:buSzPts val="2500"/>
                        <a:buChar char="-"/>
                      </a:pPr>
                      <a:r>
                        <a:rPr lang="en-US" sz="2500"/>
                        <a:t>Triển khai các trường hợp thử nghiệm, chương trình thử nghiệm, bộ thử nghiệm, v.v.</a:t>
                      </a:r>
                      <a:endParaRPr sz="2500"/>
                    </a:p>
                  </a:txBody>
                  <a:tcPr marL="91425" marR="91425" marT="91425" marB="91425"/>
                </a:tc>
                <a:extLst>
                  <a:ext uri="{0D108BD9-81ED-4DB2-BD59-A6C34878D82A}">
                    <a16:rowId xmlns:a16="http://schemas.microsoft.com/office/drawing/2014/main" val="10000"/>
                  </a:ext>
                </a:extLst>
              </a:tr>
              <a:tr h="1865125">
                <a:tc>
                  <a:txBody>
                    <a:bodyPr/>
                    <a:lstStyle/>
                    <a:p>
                      <a:pPr marL="0" lvl="0" indent="0" algn="l" rtl="0">
                        <a:spcBef>
                          <a:spcPts val="0"/>
                        </a:spcBef>
                        <a:spcAft>
                          <a:spcPts val="0"/>
                        </a:spcAft>
                        <a:buNone/>
                      </a:pPr>
                      <a:r>
                        <a:rPr lang="en-US" sz="2500"/>
                        <a:t>4</a:t>
                      </a:r>
                      <a:endParaRPr sz="2500"/>
                    </a:p>
                  </a:txBody>
                  <a:tcPr marL="91425" marR="91425" marT="91425" marB="91425"/>
                </a:tc>
                <a:tc>
                  <a:txBody>
                    <a:bodyPr/>
                    <a:lstStyle/>
                    <a:p>
                      <a:pPr marL="0" lvl="0" indent="0" algn="l" rtl="0">
                        <a:spcBef>
                          <a:spcPts val="0"/>
                        </a:spcBef>
                        <a:spcAft>
                          <a:spcPts val="0"/>
                        </a:spcAft>
                        <a:buNone/>
                      </a:pPr>
                      <a:r>
                        <a:rPr lang="en-US" sz="2500"/>
                        <a:t>Test Administrator</a:t>
                      </a:r>
                      <a:endParaRPr sz="2500"/>
                    </a:p>
                  </a:txBody>
                  <a:tcPr marL="91425" marR="91425" marT="91425" marB="91425"/>
                </a:tc>
                <a:tc>
                  <a:txBody>
                    <a:bodyPr/>
                    <a:lstStyle/>
                    <a:p>
                      <a:pPr marL="457200" lvl="0" indent="-387350" algn="l" rtl="0">
                        <a:spcBef>
                          <a:spcPts val="0"/>
                        </a:spcBef>
                        <a:spcAft>
                          <a:spcPts val="0"/>
                        </a:spcAft>
                        <a:buSzPts val="2500"/>
                        <a:buChar char="-"/>
                      </a:pPr>
                      <a:r>
                        <a:rPr lang="en-US" sz="2500"/>
                        <a:t>Xây dựng và đảm bảo Môi trường thử nghiệm và nội dung được quản lý và duy trì</a:t>
                      </a:r>
                      <a:endParaRPr sz="2500"/>
                    </a:p>
                    <a:p>
                      <a:pPr marL="457200" lvl="0" indent="-387350" algn="l" rtl="0">
                        <a:spcBef>
                          <a:spcPts val="0"/>
                        </a:spcBef>
                        <a:spcAft>
                          <a:spcPts val="0"/>
                        </a:spcAft>
                        <a:buSzPts val="2500"/>
                        <a:buChar char="-"/>
                      </a:pPr>
                      <a:r>
                        <a:rPr lang="en-US" sz="2500"/>
                        <a:t>Support Tester sử dụng môi trường thử nghiệm để thực hiện thử nghiệm</a:t>
                      </a:r>
                      <a:endParaRPr sz="2500"/>
                    </a:p>
                  </a:txBody>
                  <a:tcPr marL="91425" marR="91425" marT="91425" marB="91425"/>
                </a:tc>
                <a:extLst>
                  <a:ext uri="{0D108BD9-81ED-4DB2-BD59-A6C34878D82A}">
                    <a16:rowId xmlns:a16="http://schemas.microsoft.com/office/drawing/2014/main" val="10001"/>
                  </a:ext>
                </a:extLst>
              </a:tr>
              <a:tr h="2517950">
                <a:tc>
                  <a:txBody>
                    <a:bodyPr/>
                    <a:lstStyle/>
                    <a:p>
                      <a:pPr marL="0" lvl="0" indent="0" algn="l" rtl="0">
                        <a:spcBef>
                          <a:spcPts val="0"/>
                        </a:spcBef>
                        <a:spcAft>
                          <a:spcPts val="0"/>
                        </a:spcAft>
                        <a:buNone/>
                      </a:pPr>
                      <a:r>
                        <a:rPr lang="en-US" sz="2500"/>
                        <a:t>5</a:t>
                      </a:r>
                      <a:endParaRPr sz="2500"/>
                    </a:p>
                  </a:txBody>
                  <a:tcPr marL="91425" marR="91425" marT="91425" marB="91425"/>
                </a:tc>
                <a:tc>
                  <a:txBody>
                    <a:bodyPr/>
                    <a:lstStyle/>
                    <a:p>
                      <a:pPr marL="0" lvl="0" indent="0" algn="l" rtl="0">
                        <a:spcBef>
                          <a:spcPts val="0"/>
                        </a:spcBef>
                        <a:spcAft>
                          <a:spcPts val="0"/>
                        </a:spcAft>
                        <a:buNone/>
                      </a:pPr>
                      <a:r>
                        <a:rPr lang="en-US" sz="2500"/>
                        <a:t>SQA members</a:t>
                      </a:r>
                      <a:endParaRPr sz="2500"/>
                    </a:p>
                  </a:txBody>
                  <a:tcPr marL="91425" marR="91425" marT="91425" marB="91425"/>
                </a:tc>
                <a:tc>
                  <a:txBody>
                    <a:bodyPr/>
                    <a:lstStyle/>
                    <a:p>
                      <a:pPr marL="457200" lvl="0" indent="-387350" algn="l" rtl="0">
                        <a:spcBef>
                          <a:spcPts val="0"/>
                        </a:spcBef>
                        <a:spcAft>
                          <a:spcPts val="0"/>
                        </a:spcAft>
                        <a:buSzPts val="2500"/>
                        <a:buChar char="-"/>
                      </a:pPr>
                      <a:r>
                        <a:rPr lang="en-US" sz="2500"/>
                        <a:t>Phụ trách đảm bảo chất lượng</a:t>
                      </a:r>
                      <a:endParaRPr sz="2500"/>
                    </a:p>
                    <a:p>
                      <a:pPr marL="457200" lvl="0" indent="-387350" algn="l" rtl="0">
                        <a:spcBef>
                          <a:spcPts val="0"/>
                        </a:spcBef>
                        <a:spcAft>
                          <a:spcPts val="0"/>
                        </a:spcAft>
                        <a:buSzPts val="2500"/>
                        <a:buChar char="-"/>
                      </a:pPr>
                      <a:r>
                        <a:rPr lang="en-US" sz="2500"/>
                        <a:t>Kiểm tra để xác nhận xem quá trình thử nghiệm có đáp ứng các yêu cầu đã chỉ định hay không</a:t>
                      </a:r>
                      <a:endParaRPr sz="2500"/>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1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43">
                                            <p:txEl>
                                              <p:pRg st="0" end="0"/>
                                            </p:txEl>
                                          </p:spTgt>
                                        </p:tgtEl>
                                        <p:attrNameLst>
                                          <p:attrName>style.visibility</p:attrName>
                                        </p:attrNameLst>
                                      </p:cBhvr>
                                      <p:to>
                                        <p:strVal val="visible"/>
                                      </p:to>
                                    </p:set>
                                    <p:anim calcmode="lin" valueType="num">
                                      <p:cBhvr additive="base">
                                        <p:cTn id="7" dur="1000"/>
                                        <p:tgtEl>
                                          <p:spTgt spid="543">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g11757251f1a_0_11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resource planning</a:t>
            </a:r>
            <a:endParaRPr/>
          </a:p>
        </p:txBody>
      </p:sp>
      <p:sp>
        <p:nvSpPr>
          <p:cNvPr id="550" name="Google Shape;550;g11757251f1a_0_114"/>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Ví dụ về Xác định Tài Nguyên Hệ Thống:</a:t>
            </a:r>
            <a:endParaRPr sz="3600">
              <a:solidFill>
                <a:schemeClr val="dk1"/>
              </a:solidFill>
              <a:latin typeface="Quattrocento Sans"/>
              <a:ea typeface="Quattrocento Sans"/>
              <a:cs typeface="Quattrocento Sans"/>
              <a:sym typeface="Quattrocento Sans"/>
            </a:endParaRPr>
          </a:p>
          <a:p>
            <a:pPr marL="0" lvl="0" indent="0" algn="l" rtl="0">
              <a:spcBef>
                <a:spcPts val="0"/>
              </a:spcBef>
              <a:spcAft>
                <a:spcPts val="0"/>
              </a:spcAft>
              <a:buNone/>
            </a:pPr>
            <a:endParaRPr sz="3600">
              <a:solidFill>
                <a:schemeClr val="dk1"/>
              </a:solidFill>
              <a:latin typeface="Quattrocento Sans"/>
              <a:ea typeface="Quattrocento Sans"/>
              <a:cs typeface="Quattrocento Sans"/>
              <a:sym typeface="Quattrocento Sans"/>
            </a:endParaRPr>
          </a:p>
        </p:txBody>
      </p:sp>
      <p:graphicFrame>
        <p:nvGraphicFramePr>
          <p:cNvPr id="551" name="Google Shape;551;g11757251f1a_0_114"/>
          <p:cNvGraphicFramePr/>
          <p:nvPr/>
        </p:nvGraphicFramePr>
        <p:xfrm>
          <a:off x="287325" y="1784440"/>
          <a:ext cx="11617350" cy="5073550"/>
        </p:xfrm>
        <a:graphic>
          <a:graphicData uri="http://schemas.openxmlformats.org/drawingml/2006/table">
            <a:tbl>
              <a:tblPr>
                <a:noFill/>
                <a:tableStyleId>{70BAC3E6-0D91-4EE4-A904-E20CA6FAAC95}</a:tableStyleId>
              </a:tblPr>
              <a:tblGrid>
                <a:gridCol w="832025">
                  <a:extLst>
                    <a:ext uri="{9D8B030D-6E8A-4147-A177-3AD203B41FA5}">
                      <a16:colId xmlns:a16="http://schemas.microsoft.com/office/drawing/2014/main" val="20000"/>
                    </a:ext>
                  </a:extLst>
                </a:gridCol>
                <a:gridCol w="1766075">
                  <a:extLst>
                    <a:ext uri="{9D8B030D-6E8A-4147-A177-3AD203B41FA5}">
                      <a16:colId xmlns:a16="http://schemas.microsoft.com/office/drawing/2014/main" val="20001"/>
                    </a:ext>
                  </a:extLst>
                </a:gridCol>
                <a:gridCol w="9019250">
                  <a:extLst>
                    <a:ext uri="{9D8B030D-6E8A-4147-A177-3AD203B41FA5}">
                      <a16:colId xmlns:a16="http://schemas.microsoft.com/office/drawing/2014/main" val="20002"/>
                    </a:ext>
                  </a:extLst>
                </a:gridCol>
              </a:tblGrid>
              <a:tr h="673425">
                <a:tc>
                  <a:txBody>
                    <a:bodyPr/>
                    <a:lstStyle/>
                    <a:p>
                      <a:pPr marL="0" lvl="0" indent="0" algn="l" rtl="0">
                        <a:spcBef>
                          <a:spcPts val="0"/>
                        </a:spcBef>
                        <a:spcAft>
                          <a:spcPts val="0"/>
                        </a:spcAft>
                        <a:buNone/>
                      </a:pPr>
                      <a:r>
                        <a:rPr lang="en-US" sz="2300" b="1"/>
                        <a:t>No.</a:t>
                      </a:r>
                      <a:endParaRPr sz="2300" b="1"/>
                    </a:p>
                  </a:txBody>
                  <a:tcPr marL="91425" marR="91425" marT="91425" marB="91425"/>
                </a:tc>
                <a:tc>
                  <a:txBody>
                    <a:bodyPr/>
                    <a:lstStyle/>
                    <a:p>
                      <a:pPr marL="0" lvl="0" indent="0" algn="l" rtl="0">
                        <a:spcBef>
                          <a:spcPts val="0"/>
                        </a:spcBef>
                        <a:spcAft>
                          <a:spcPts val="0"/>
                        </a:spcAft>
                        <a:buNone/>
                      </a:pPr>
                      <a:r>
                        <a:rPr lang="en-US" sz="2300" b="1">
                          <a:solidFill>
                            <a:srgbClr val="222222"/>
                          </a:solidFill>
                          <a:highlight>
                            <a:srgbClr val="F9F9F9"/>
                          </a:highlight>
                        </a:rPr>
                        <a:t>Resources</a:t>
                      </a:r>
                      <a:endParaRPr sz="2300"/>
                    </a:p>
                  </a:txBody>
                  <a:tcPr marL="91425" marR="91425" marT="91425" marB="91425"/>
                </a:tc>
                <a:tc>
                  <a:txBody>
                    <a:bodyPr/>
                    <a:lstStyle/>
                    <a:p>
                      <a:pPr marL="0" lvl="0" indent="0" algn="l" rtl="0">
                        <a:spcBef>
                          <a:spcPts val="0"/>
                        </a:spcBef>
                        <a:spcAft>
                          <a:spcPts val="0"/>
                        </a:spcAft>
                        <a:buNone/>
                      </a:pPr>
                      <a:r>
                        <a:rPr lang="en-US" sz="2300" b="1">
                          <a:solidFill>
                            <a:srgbClr val="222222"/>
                          </a:solidFill>
                          <a:highlight>
                            <a:srgbClr val="F9F9F9"/>
                          </a:highlight>
                        </a:rPr>
                        <a:t>Descriptions</a:t>
                      </a:r>
                      <a:endParaRPr sz="2300"/>
                    </a:p>
                  </a:txBody>
                  <a:tcPr marL="91425" marR="91425" marT="91425" marB="91425"/>
                </a:tc>
                <a:extLst>
                  <a:ext uri="{0D108BD9-81ED-4DB2-BD59-A6C34878D82A}">
                    <a16:rowId xmlns:a16="http://schemas.microsoft.com/office/drawing/2014/main" val="10000"/>
                  </a:ext>
                </a:extLst>
              </a:tr>
              <a:tr h="1558525">
                <a:tc>
                  <a:txBody>
                    <a:bodyPr/>
                    <a:lstStyle/>
                    <a:p>
                      <a:pPr marL="0" lvl="0" indent="0" algn="l" rtl="0">
                        <a:spcBef>
                          <a:spcPts val="0"/>
                        </a:spcBef>
                        <a:spcAft>
                          <a:spcPts val="0"/>
                        </a:spcAft>
                        <a:buNone/>
                      </a:pPr>
                      <a:r>
                        <a:rPr lang="en-US" sz="2700"/>
                        <a:t>1</a:t>
                      </a:r>
                      <a:endParaRPr sz="2700"/>
                    </a:p>
                  </a:txBody>
                  <a:tcPr marL="91425" marR="91425" marT="91425" marB="91425"/>
                </a:tc>
                <a:tc>
                  <a:txBody>
                    <a:bodyPr/>
                    <a:lstStyle/>
                    <a:p>
                      <a:pPr marL="0" lvl="0" indent="0" algn="l" rtl="0">
                        <a:spcBef>
                          <a:spcPts val="0"/>
                        </a:spcBef>
                        <a:spcAft>
                          <a:spcPts val="0"/>
                        </a:spcAft>
                        <a:buNone/>
                      </a:pPr>
                      <a:r>
                        <a:rPr lang="en-US" sz="2700"/>
                        <a:t>Server</a:t>
                      </a:r>
                      <a:endParaRPr sz="2700"/>
                    </a:p>
                  </a:txBody>
                  <a:tcPr marL="91425" marR="91425" marT="91425" marB="91425"/>
                </a:tc>
                <a:tc>
                  <a:txBody>
                    <a:bodyPr/>
                    <a:lstStyle/>
                    <a:p>
                      <a:pPr marL="457200" lvl="0" indent="-400050" algn="l" rtl="0">
                        <a:spcBef>
                          <a:spcPts val="0"/>
                        </a:spcBef>
                        <a:spcAft>
                          <a:spcPts val="0"/>
                        </a:spcAft>
                        <a:buSzPts val="2700"/>
                        <a:buChar char="-"/>
                      </a:pPr>
                      <a:r>
                        <a:rPr lang="en-US" sz="2700"/>
                        <a:t>Cài đặt ứng dụng web đang thử nghiệm</a:t>
                      </a:r>
                      <a:endParaRPr sz="2700"/>
                    </a:p>
                    <a:p>
                      <a:pPr marL="457200" lvl="0" indent="-400050" algn="l" rtl="0">
                        <a:spcBef>
                          <a:spcPts val="0"/>
                        </a:spcBef>
                        <a:spcAft>
                          <a:spcPts val="0"/>
                        </a:spcAft>
                        <a:buSzPts val="2700"/>
                        <a:buChar char="-"/>
                      </a:pPr>
                      <a:r>
                        <a:rPr lang="en-US" sz="2700"/>
                        <a:t>Điều này bao gồm một máy chủ web, máy chủ cơ sở dữ liệu và máy chủ ứng dụng riêng biệt nếu có</a:t>
                      </a:r>
                      <a:endParaRPr sz="2700"/>
                    </a:p>
                  </a:txBody>
                  <a:tcPr marL="91425" marR="91425" marT="91425" marB="91425"/>
                </a:tc>
                <a:extLst>
                  <a:ext uri="{0D108BD9-81ED-4DB2-BD59-A6C34878D82A}">
                    <a16:rowId xmlns:a16="http://schemas.microsoft.com/office/drawing/2014/main" val="10001"/>
                  </a:ext>
                </a:extLst>
              </a:tr>
              <a:tr h="2841600">
                <a:tc>
                  <a:txBody>
                    <a:bodyPr/>
                    <a:lstStyle/>
                    <a:p>
                      <a:pPr marL="0" lvl="0" indent="0" algn="l" rtl="0">
                        <a:spcBef>
                          <a:spcPts val="0"/>
                        </a:spcBef>
                        <a:spcAft>
                          <a:spcPts val="0"/>
                        </a:spcAft>
                        <a:buNone/>
                      </a:pPr>
                      <a:r>
                        <a:rPr lang="en-US" sz="2700"/>
                        <a:t>2</a:t>
                      </a:r>
                      <a:endParaRPr sz="2700"/>
                    </a:p>
                  </a:txBody>
                  <a:tcPr marL="91425" marR="91425" marT="91425" marB="91425"/>
                </a:tc>
                <a:tc>
                  <a:txBody>
                    <a:bodyPr/>
                    <a:lstStyle/>
                    <a:p>
                      <a:pPr marL="0" lvl="0" indent="0" algn="l" rtl="0">
                        <a:spcBef>
                          <a:spcPts val="0"/>
                        </a:spcBef>
                        <a:spcAft>
                          <a:spcPts val="0"/>
                        </a:spcAft>
                        <a:buNone/>
                      </a:pPr>
                      <a:r>
                        <a:rPr lang="en-US" sz="2700"/>
                        <a:t>Test tool</a:t>
                      </a:r>
                      <a:endParaRPr sz="2700"/>
                    </a:p>
                  </a:txBody>
                  <a:tcPr marL="91425" marR="91425" marT="91425" marB="91425"/>
                </a:tc>
                <a:tc>
                  <a:txBody>
                    <a:bodyPr/>
                    <a:lstStyle/>
                    <a:p>
                      <a:pPr marL="457200" lvl="0" indent="-400050" algn="l" rtl="0">
                        <a:spcBef>
                          <a:spcPts val="0"/>
                        </a:spcBef>
                        <a:spcAft>
                          <a:spcPts val="0"/>
                        </a:spcAft>
                        <a:buSzPts val="2700"/>
                        <a:buChar char="-"/>
                      </a:pPr>
                      <a:r>
                        <a:rPr lang="en-US" sz="2700" dirty="0" err="1"/>
                        <a:t>Công</a:t>
                      </a:r>
                      <a:r>
                        <a:rPr lang="en-US" sz="2700" dirty="0"/>
                        <a:t> </a:t>
                      </a:r>
                      <a:r>
                        <a:rPr lang="en-US" sz="2700" dirty="0" err="1"/>
                        <a:t>cụ</a:t>
                      </a:r>
                      <a:r>
                        <a:rPr lang="en-US" sz="2700" dirty="0"/>
                        <a:t> </a:t>
                      </a:r>
                      <a:r>
                        <a:rPr lang="en-US" sz="2700" dirty="0" err="1"/>
                        <a:t>thử</a:t>
                      </a:r>
                      <a:r>
                        <a:rPr lang="en-US" sz="2700" dirty="0"/>
                        <a:t> </a:t>
                      </a:r>
                      <a:r>
                        <a:rPr lang="en-US" sz="2700" dirty="0" err="1"/>
                        <a:t>nghiệm</a:t>
                      </a:r>
                      <a:r>
                        <a:rPr lang="en-US" sz="2700" dirty="0"/>
                        <a:t> </a:t>
                      </a:r>
                      <a:r>
                        <a:rPr lang="en-US" sz="2700" dirty="0" err="1"/>
                        <a:t>là</a:t>
                      </a:r>
                      <a:r>
                        <a:rPr lang="en-US" sz="2700" dirty="0"/>
                        <a:t> </a:t>
                      </a:r>
                      <a:r>
                        <a:rPr lang="en-US" sz="2700" dirty="0" err="1"/>
                        <a:t>tự</a:t>
                      </a:r>
                      <a:r>
                        <a:rPr lang="en-US" sz="2700" dirty="0"/>
                        <a:t> </a:t>
                      </a:r>
                      <a:r>
                        <a:rPr lang="en-US" sz="2700" dirty="0" err="1"/>
                        <a:t>động</a:t>
                      </a:r>
                      <a:r>
                        <a:rPr lang="en-US" sz="2700" dirty="0"/>
                        <a:t> </a:t>
                      </a:r>
                      <a:r>
                        <a:rPr lang="en-US" sz="2700" dirty="0" err="1"/>
                        <a:t>hóa</a:t>
                      </a:r>
                      <a:r>
                        <a:rPr lang="en-US" sz="2700" dirty="0"/>
                        <a:t> </a:t>
                      </a:r>
                      <a:r>
                        <a:rPr lang="en-US" sz="2700" dirty="0" err="1"/>
                        <a:t>thử</a:t>
                      </a:r>
                      <a:r>
                        <a:rPr lang="en-US" sz="2700" dirty="0"/>
                        <a:t> </a:t>
                      </a:r>
                      <a:r>
                        <a:rPr lang="en-US" sz="2700" dirty="0" err="1"/>
                        <a:t>nghiệm</a:t>
                      </a:r>
                      <a:r>
                        <a:rPr lang="en-US" sz="2700" dirty="0"/>
                        <a:t>, </a:t>
                      </a:r>
                      <a:r>
                        <a:rPr lang="en-US" sz="2700" dirty="0" err="1"/>
                        <a:t>mô</a:t>
                      </a:r>
                      <a:r>
                        <a:rPr lang="en-US" sz="2700" dirty="0"/>
                        <a:t> </a:t>
                      </a:r>
                      <a:r>
                        <a:rPr lang="en-US" sz="2700" dirty="0" err="1"/>
                        <a:t>phỏng</a:t>
                      </a:r>
                      <a:r>
                        <a:rPr lang="en-US" sz="2700" dirty="0"/>
                        <a:t> </a:t>
                      </a:r>
                      <a:r>
                        <a:rPr lang="en-US" sz="2700" dirty="0" err="1"/>
                        <a:t>hoạt</a:t>
                      </a:r>
                      <a:r>
                        <a:rPr lang="en-US" sz="2700" dirty="0"/>
                        <a:t> </a:t>
                      </a:r>
                      <a:r>
                        <a:rPr lang="en-US" sz="2700" dirty="0" err="1"/>
                        <a:t>động</a:t>
                      </a:r>
                      <a:r>
                        <a:rPr lang="en-US" sz="2700" dirty="0"/>
                        <a:t> </a:t>
                      </a:r>
                      <a:r>
                        <a:rPr lang="en-US" sz="2700" dirty="0" err="1"/>
                        <a:t>của</a:t>
                      </a:r>
                      <a:r>
                        <a:rPr lang="en-US" sz="2700" dirty="0"/>
                        <a:t> </a:t>
                      </a:r>
                      <a:r>
                        <a:rPr lang="en-US" sz="2700" dirty="0" err="1"/>
                        <a:t>người</a:t>
                      </a:r>
                      <a:r>
                        <a:rPr lang="en-US" sz="2700" dirty="0"/>
                        <a:t> </a:t>
                      </a:r>
                      <a:r>
                        <a:rPr lang="en-US" sz="2700" dirty="0" err="1"/>
                        <a:t>dùng</a:t>
                      </a:r>
                      <a:r>
                        <a:rPr lang="en-US" sz="2700" dirty="0"/>
                        <a:t>, </a:t>
                      </a:r>
                      <a:r>
                        <a:rPr lang="en-US" sz="2700" dirty="0" err="1"/>
                        <a:t>tạo</a:t>
                      </a:r>
                      <a:r>
                        <a:rPr lang="en-US" sz="2700" dirty="0"/>
                        <a:t> </a:t>
                      </a:r>
                      <a:r>
                        <a:rPr lang="en-US" sz="2700" dirty="0" err="1"/>
                        <a:t>kết</a:t>
                      </a:r>
                      <a:r>
                        <a:rPr lang="en-US" sz="2700" dirty="0"/>
                        <a:t> </a:t>
                      </a:r>
                      <a:r>
                        <a:rPr lang="en-US" sz="2700" dirty="0" err="1"/>
                        <a:t>quả</a:t>
                      </a:r>
                      <a:r>
                        <a:rPr lang="en-US" sz="2700" dirty="0"/>
                        <a:t> </a:t>
                      </a:r>
                      <a:r>
                        <a:rPr lang="en-US" sz="2700" dirty="0" err="1"/>
                        <a:t>thử</a:t>
                      </a:r>
                      <a:r>
                        <a:rPr lang="en-US" sz="2700" dirty="0"/>
                        <a:t> </a:t>
                      </a:r>
                      <a:r>
                        <a:rPr lang="en-US" sz="2700" dirty="0" err="1"/>
                        <a:t>nghiệm</a:t>
                      </a:r>
                      <a:endParaRPr sz="2700" dirty="0"/>
                    </a:p>
                    <a:p>
                      <a:pPr marL="457200" lvl="0" indent="-400050" algn="l" rtl="0">
                        <a:spcBef>
                          <a:spcPts val="0"/>
                        </a:spcBef>
                        <a:spcAft>
                          <a:spcPts val="0"/>
                        </a:spcAft>
                        <a:buSzPts val="2700"/>
                        <a:buChar char="-"/>
                      </a:pPr>
                      <a:r>
                        <a:rPr lang="en-US" sz="2700" dirty="0" err="1"/>
                        <a:t>Có</a:t>
                      </a:r>
                      <a:r>
                        <a:rPr lang="en-US" sz="2700" dirty="0"/>
                        <a:t> </a:t>
                      </a:r>
                      <a:r>
                        <a:rPr lang="en-US" sz="2700" dirty="0" err="1"/>
                        <a:t>rất</a:t>
                      </a:r>
                      <a:r>
                        <a:rPr lang="en-US" sz="2700" dirty="0"/>
                        <a:t> </a:t>
                      </a:r>
                      <a:r>
                        <a:rPr lang="en-US" sz="2700" dirty="0" err="1"/>
                        <a:t>nhiều</a:t>
                      </a:r>
                      <a:r>
                        <a:rPr lang="en-US" sz="2700" dirty="0"/>
                        <a:t> </a:t>
                      </a:r>
                      <a:r>
                        <a:rPr lang="en-US" sz="2700" dirty="0" err="1"/>
                        <a:t>công</a:t>
                      </a:r>
                      <a:r>
                        <a:rPr lang="en-US" sz="2700" dirty="0"/>
                        <a:t> </a:t>
                      </a:r>
                      <a:r>
                        <a:rPr lang="en-US" sz="2700" dirty="0" err="1"/>
                        <a:t>cụ</a:t>
                      </a:r>
                      <a:r>
                        <a:rPr lang="en-US" sz="2700" dirty="0"/>
                        <a:t> </a:t>
                      </a:r>
                      <a:r>
                        <a:rPr lang="en-US" sz="2700" dirty="0" err="1"/>
                        <a:t>kiểm</a:t>
                      </a:r>
                      <a:r>
                        <a:rPr lang="en-US" sz="2700" dirty="0"/>
                        <a:t> </a:t>
                      </a:r>
                      <a:r>
                        <a:rPr lang="en-US" sz="2700" dirty="0" err="1"/>
                        <a:t>tra</a:t>
                      </a:r>
                      <a:r>
                        <a:rPr lang="en-US" sz="2700" dirty="0"/>
                        <a:t> </a:t>
                      </a:r>
                      <a:r>
                        <a:rPr lang="en-US" sz="2700" dirty="0" err="1"/>
                        <a:t>bạn</a:t>
                      </a:r>
                      <a:r>
                        <a:rPr lang="en-US" sz="2700" dirty="0"/>
                        <a:t> </a:t>
                      </a:r>
                      <a:r>
                        <a:rPr lang="en-US" sz="2700" dirty="0" err="1"/>
                        <a:t>có</a:t>
                      </a:r>
                      <a:r>
                        <a:rPr lang="en-US" sz="2700" dirty="0"/>
                        <a:t> </a:t>
                      </a:r>
                      <a:r>
                        <a:rPr lang="en-US" sz="2700" dirty="0" err="1"/>
                        <a:t>thể</a:t>
                      </a:r>
                      <a:r>
                        <a:rPr lang="en-US" sz="2700" dirty="0"/>
                        <a:t> </a:t>
                      </a:r>
                      <a:r>
                        <a:rPr lang="en-US" sz="2700" dirty="0" err="1"/>
                        <a:t>sử</a:t>
                      </a:r>
                      <a:r>
                        <a:rPr lang="en-US" sz="2700" dirty="0"/>
                        <a:t> </a:t>
                      </a:r>
                      <a:r>
                        <a:rPr lang="en-US" sz="2700" dirty="0" err="1"/>
                        <a:t>dụng</a:t>
                      </a:r>
                      <a:r>
                        <a:rPr lang="en-US" sz="2700" dirty="0"/>
                        <a:t> </a:t>
                      </a:r>
                      <a:r>
                        <a:rPr lang="en-US" sz="2700" dirty="0" err="1"/>
                        <a:t>cho</a:t>
                      </a:r>
                      <a:r>
                        <a:rPr lang="en-US" sz="2700" dirty="0"/>
                        <a:t> </a:t>
                      </a:r>
                      <a:r>
                        <a:rPr lang="en-US" sz="2700" dirty="0" err="1"/>
                        <a:t>dự</a:t>
                      </a:r>
                      <a:r>
                        <a:rPr lang="en-US" sz="2700" dirty="0"/>
                        <a:t> </a:t>
                      </a:r>
                      <a:r>
                        <a:rPr lang="en-US" sz="2700" dirty="0" err="1"/>
                        <a:t>án</a:t>
                      </a:r>
                      <a:r>
                        <a:rPr lang="en-US" sz="2700" dirty="0"/>
                        <a:t> </a:t>
                      </a:r>
                      <a:r>
                        <a:rPr lang="en-US" sz="2700" dirty="0" err="1"/>
                        <a:t>này</a:t>
                      </a:r>
                      <a:r>
                        <a:rPr lang="en-US" sz="2700" dirty="0"/>
                        <a:t> </a:t>
                      </a:r>
                      <a:r>
                        <a:rPr lang="en-US" sz="2700" dirty="0" err="1"/>
                        <a:t>như</a:t>
                      </a:r>
                      <a:r>
                        <a:rPr lang="en-US" sz="2700" dirty="0"/>
                        <a:t> Selenium, QTP… vv.</a:t>
                      </a:r>
                      <a:endParaRPr sz="2700" dirty="0"/>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1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50">
                                            <p:txEl>
                                              <p:pRg st="0" end="0"/>
                                            </p:txEl>
                                          </p:spTgt>
                                        </p:tgtEl>
                                        <p:attrNameLst>
                                          <p:attrName>style.visibility</p:attrName>
                                        </p:attrNameLst>
                                      </p:cBhvr>
                                      <p:to>
                                        <p:strVal val="visible"/>
                                      </p:to>
                                    </p:set>
                                    <p:anim calcmode="lin" valueType="num">
                                      <p:cBhvr additive="base">
                                        <p:cTn id="7" dur="1000"/>
                                        <p:tgtEl>
                                          <p:spTgt spid="55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50">
                                            <p:txEl>
                                              <p:pRg st="1" end="1"/>
                                            </p:txEl>
                                          </p:spTgt>
                                        </p:tgtEl>
                                        <p:attrNameLst>
                                          <p:attrName>style.visibility</p:attrName>
                                        </p:attrNameLst>
                                      </p:cBhvr>
                                      <p:to>
                                        <p:strVal val="visible"/>
                                      </p:to>
                                    </p:set>
                                    <p:anim calcmode="lin" valueType="num">
                                      <p:cBhvr additive="base">
                                        <p:cTn id="12" dur="1000"/>
                                        <p:tgtEl>
                                          <p:spTgt spid="550">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g11757251f1a_0_124"/>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resource planning</a:t>
            </a:r>
            <a:endParaRPr/>
          </a:p>
        </p:txBody>
      </p:sp>
      <p:sp>
        <p:nvSpPr>
          <p:cNvPr id="557" name="Google Shape;557;g11757251f1a_0_124"/>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sz="3600">
              <a:solidFill>
                <a:schemeClr val="dk1"/>
              </a:solidFill>
              <a:latin typeface="Quattrocento Sans"/>
              <a:ea typeface="Quattrocento Sans"/>
              <a:cs typeface="Quattrocento Sans"/>
              <a:sym typeface="Quattrocento Sans"/>
            </a:endParaRPr>
          </a:p>
        </p:txBody>
      </p:sp>
      <p:graphicFrame>
        <p:nvGraphicFramePr>
          <p:cNvPr id="558" name="Google Shape;558;g11757251f1a_0_124"/>
          <p:cNvGraphicFramePr/>
          <p:nvPr/>
        </p:nvGraphicFramePr>
        <p:xfrm>
          <a:off x="317038" y="953250"/>
          <a:ext cx="11356200" cy="3282415"/>
        </p:xfrm>
        <a:graphic>
          <a:graphicData uri="http://schemas.openxmlformats.org/drawingml/2006/table">
            <a:tbl>
              <a:tblPr>
                <a:noFill/>
                <a:tableStyleId>{70BAC3E6-0D91-4EE4-A904-E20CA6FAAC95}</a:tableStyleId>
              </a:tblPr>
              <a:tblGrid>
                <a:gridCol w="813300">
                  <a:extLst>
                    <a:ext uri="{9D8B030D-6E8A-4147-A177-3AD203B41FA5}">
                      <a16:colId xmlns:a16="http://schemas.microsoft.com/office/drawing/2014/main" val="20000"/>
                    </a:ext>
                  </a:extLst>
                </a:gridCol>
                <a:gridCol w="3241450">
                  <a:extLst>
                    <a:ext uri="{9D8B030D-6E8A-4147-A177-3AD203B41FA5}">
                      <a16:colId xmlns:a16="http://schemas.microsoft.com/office/drawing/2014/main" val="20001"/>
                    </a:ext>
                  </a:extLst>
                </a:gridCol>
                <a:gridCol w="7301450">
                  <a:extLst>
                    <a:ext uri="{9D8B030D-6E8A-4147-A177-3AD203B41FA5}">
                      <a16:colId xmlns:a16="http://schemas.microsoft.com/office/drawing/2014/main" val="20002"/>
                    </a:ext>
                  </a:extLst>
                </a:gridCol>
              </a:tblGrid>
              <a:tr h="1212325">
                <a:tc>
                  <a:txBody>
                    <a:bodyPr/>
                    <a:lstStyle/>
                    <a:p>
                      <a:pPr marL="0" lvl="0" indent="0" algn="l" rtl="0">
                        <a:spcBef>
                          <a:spcPts val="0"/>
                        </a:spcBef>
                        <a:spcAft>
                          <a:spcPts val="0"/>
                        </a:spcAft>
                        <a:buNone/>
                      </a:pPr>
                      <a:r>
                        <a:rPr lang="en-US" sz="2700"/>
                        <a:t>3</a:t>
                      </a:r>
                      <a:endParaRPr sz="2700"/>
                    </a:p>
                  </a:txBody>
                  <a:tcPr marL="91425" marR="91425" marT="91425" marB="91425"/>
                </a:tc>
                <a:tc>
                  <a:txBody>
                    <a:bodyPr/>
                    <a:lstStyle/>
                    <a:p>
                      <a:pPr marL="0" lvl="0" indent="0" algn="l" rtl="0">
                        <a:spcBef>
                          <a:spcPts val="0"/>
                        </a:spcBef>
                        <a:spcAft>
                          <a:spcPts val="0"/>
                        </a:spcAft>
                        <a:buNone/>
                      </a:pPr>
                      <a:r>
                        <a:rPr lang="en-US" sz="2700" dirty="0"/>
                        <a:t>Network</a:t>
                      </a:r>
                      <a:endParaRPr sz="2700" dirty="0"/>
                    </a:p>
                  </a:txBody>
                  <a:tcPr marL="91425" marR="91425" marT="91425" marB="91425"/>
                </a:tc>
                <a:tc>
                  <a:txBody>
                    <a:bodyPr/>
                    <a:lstStyle/>
                    <a:p>
                      <a:pPr marL="457200" lvl="0" indent="-400050" algn="l" rtl="0">
                        <a:spcBef>
                          <a:spcPts val="0"/>
                        </a:spcBef>
                        <a:spcAft>
                          <a:spcPts val="0"/>
                        </a:spcAft>
                        <a:buSzPts val="2700"/>
                        <a:buChar char="-"/>
                      </a:pPr>
                      <a:r>
                        <a:rPr lang="en-US" sz="2700"/>
                        <a:t>Bạn cần một Mạng bao gồm LAN và Internet để mô phỏng môi trường kinh doanh và người dùng thực</a:t>
                      </a:r>
                      <a:endParaRPr sz="2700"/>
                    </a:p>
                  </a:txBody>
                  <a:tcPr marL="91425" marR="91425" marT="91425" marB="91425"/>
                </a:tc>
                <a:extLst>
                  <a:ext uri="{0D108BD9-81ED-4DB2-BD59-A6C34878D82A}">
                    <a16:rowId xmlns:a16="http://schemas.microsoft.com/office/drawing/2014/main" val="10000"/>
                  </a:ext>
                </a:extLst>
              </a:tr>
              <a:tr h="1865125">
                <a:tc>
                  <a:txBody>
                    <a:bodyPr/>
                    <a:lstStyle/>
                    <a:p>
                      <a:pPr marL="0" lvl="0" indent="0" algn="l" rtl="0">
                        <a:spcBef>
                          <a:spcPts val="0"/>
                        </a:spcBef>
                        <a:spcAft>
                          <a:spcPts val="0"/>
                        </a:spcAft>
                        <a:buNone/>
                      </a:pPr>
                      <a:r>
                        <a:rPr lang="en-US" sz="2700"/>
                        <a:t>4</a:t>
                      </a:r>
                      <a:endParaRPr sz="2700"/>
                    </a:p>
                  </a:txBody>
                  <a:tcPr marL="91425" marR="91425" marT="91425" marB="91425"/>
                </a:tc>
                <a:tc>
                  <a:txBody>
                    <a:bodyPr/>
                    <a:lstStyle/>
                    <a:p>
                      <a:pPr marL="0" lvl="0" indent="0" algn="l" rtl="0">
                        <a:spcBef>
                          <a:spcPts val="0"/>
                        </a:spcBef>
                        <a:spcAft>
                          <a:spcPts val="0"/>
                        </a:spcAft>
                        <a:buNone/>
                      </a:pPr>
                      <a:r>
                        <a:rPr lang="en-US" sz="2700" dirty="0"/>
                        <a:t>Computer</a:t>
                      </a:r>
                      <a:endParaRPr sz="2700" dirty="0"/>
                    </a:p>
                  </a:txBody>
                  <a:tcPr marL="91425" marR="91425" marT="91425" marB="91425"/>
                </a:tc>
                <a:tc>
                  <a:txBody>
                    <a:bodyPr/>
                    <a:lstStyle/>
                    <a:p>
                      <a:pPr marL="457200" lvl="0" indent="-400050" algn="l" rtl="0">
                        <a:spcBef>
                          <a:spcPts val="0"/>
                        </a:spcBef>
                        <a:spcAft>
                          <a:spcPts val="0"/>
                        </a:spcAft>
                        <a:buSzPts val="2700"/>
                        <a:buChar char="-"/>
                      </a:pPr>
                      <a:r>
                        <a:rPr lang="en-US" sz="2700" dirty="0" err="1"/>
                        <a:t>Máy</a:t>
                      </a:r>
                      <a:r>
                        <a:rPr lang="en-US" sz="2700" dirty="0"/>
                        <a:t> </a:t>
                      </a:r>
                      <a:r>
                        <a:rPr lang="en-US" sz="2700" dirty="0" err="1"/>
                        <a:t>tính</a:t>
                      </a:r>
                      <a:r>
                        <a:rPr lang="en-US" sz="2700" dirty="0"/>
                        <a:t> </a:t>
                      </a:r>
                      <a:r>
                        <a:rPr lang="en-US" sz="2700" dirty="0" err="1"/>
                        <a:t>mà</a:t>
                      </a:r>
                      <a:r>
                        <a:rPr lang="en-US" sz="2700" dirty="0"/>
                        <a:t> </a:t>
                      </a:r>
                      <a:r>
                        <a:rPr lang="en-US" sz="2700" dirty="0" err="1"/>
                        <a:t>người</a:t>
                      </a:r>
                      <a:r>
                        <a:rPr lang="en-US" sz="2700" dirty="0"/>
                        <a:t> </a:t>
                      </a:r>
                      <a:r>
                        <a:rPr lang="en-US" sz="2700" dirty="0" err="1"/>
                        <a:t>dùng</a:t>
                      </a:r>
                      <a:r>
                        <a:rPr lang="en-US" sz="2700" dirty="0"/>
                        <a:t> </a:t>
                      </a:r>
                      <a:r>
                        <a:rPr lang="en-US" sz="2700" dirty="0" err="1"/>
                        <a:t>thường</a:t>
                      </a:r>
                      <a:r>
                        <a:rPr lang="en-US" sz="2700" dirty="0"/>
                        <a:t> </a:t>
                      </a:r>
                      <a:r>
                        <a:rPr lang="en-US" sz="2700" dirty="0" err="1"/>
                        <a:t>sử</a:t>
                      </a:r>
                      <a:r>
                        <a:rPr lang="en-US" sz="2700" dirty="0"/>
                        <a:t> </a:t>
                      </a:r>
                      <a:r>
                        <a:rPr lang="en-US" sz="2700" dirty="0" err="1"/>
                        <a:t>dụng</a:t>
                      </a:r>
                      <a:r>
                        <a:rPr lang="en-US" sz="2700" dirty="0"/>
                        <a:t> </a:t>
                      </a:r>
                      <a:r>
                        <a:rPr lang="en-US" sz="2700" dirty="0" err="1"/>
                        <a:t>để</a:t>
                      </a:r>
                      <a:r>
                        <a:rPr lang="en-US" sz="2700" dirty="0"/>
                        <a:t> </a:t>
                      </a:r>
                      <a:r>
                        <a:rPr lang="en-US" sz="2700" dirty="0" err="1"/>
                        <a:t>kết</a:t>
                      </a:r>
                      <a:r>
                        <a:rPr lang="en-US" sz="2700" dirty="0"/>
                        <a:t> </a:t>
                      </a:r>
                      <a:r>
                        <a:rPr lang="en-US" sz="2700" dirty="0" err="1"/>
                        <a:t>nối</a:t>
                      </a:r>
                      <a:r>
                        <a:rPr lang="en-US" sz="2700" dirty="0"/>
                        <a:t> </a:t>
                      </a:r>
                      <a:r>
                        <a:rPr lang="en-US" sz="2700" dirty="0" err="1"/>
                        <a:t>máy</a:t>
                      </a:r>
                      <a:r>
                        <a:rPr lang="en-US" sz="2700" dirty="0"/>
                        <a:t> </a:t>
                      </a:r>
                      <a:r>
                        <a:rPr lang="en-US" sz="2700" dirty="0" err="1"/>
                        <a:t>chủ</a:t>
                      </a:r>
                      <a:r>
                        <a:rPr lang="en-US" sz="2700" dirty="0"/>
                        <a:t> web</a:t>
                      </a:r>
                      <a:endParaRPr sz="2700" dirty="0"/>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1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57">
                                            <p:txEl>
                                              <p:pRg st="0" end="0"/>
                                            </p:txEl>
                                          </p:spTgt>
                                        </p:tgtEl>
                                        <p:attrNameLst>
                                          <p:attrName>style.visibility</p:attrName>
                                        </p:attrNameLst>
                                      </p:cBhvr>
                                      <p:to>
                                        <p:strVal val="visible"/>
                                      </p:to>
                                    </p:set>
                                    <p:anim calcmode="lin" valueType="num">
                                      <p:cBhvr additive="base">
                                        <p:cTn id="7" dur="1000"/>
                                        <p:tgtEl>
                                          <p:spTgt spid="557">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g11757251f1a_0_136"/>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plan test environment</a:t>
            </a:r>
            <a:endParaRPr/>
          </a:p>
        </p:txBody>
      </p:sp>
      <p:sp>
        <p:nvSpPr>
          <p:cNvPr id="564" name="Google Shape;564;g11757251f1a_0_136"/>
          <p:cNvSpPr txBox="1"/>
          <p:nvPr/>
        </p:nvSpPr>
        <p:spPr>
          <a:xfrm>
            <a:off x="522375" y="1597325"/>
            <a:ext cx="11338200" cy="52260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dirty="0" err="1">
                <a:latin typeface="Quattrocento Sans"/>
                <a:ea typeface="Quattrocento Sans"/>
                <a:cs typeface="Quattrocento Sans"/>
                <a:sym typeface="Quattrocento Sans"/>
              </a:rPr>
              <a:t>Môi</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trường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thử</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nghiệm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là</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một</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thiết</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lập</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của</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phần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mềm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và</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phần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cứng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mà</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trên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đó</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nhóm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thử</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nghiệm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sẽ</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thực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hiện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các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trường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hợp</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thử</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nghiệm</a:t>
            </a:r>
            <a:r>
              <a:rPr lang="en-US" sz="3600" dirty="0">
                <a:latin typeface="Quattrocento Sans"/>
                <a:ea typeface="Quattrocento Sans"/>
                <a:cs typeface="Quattrocento Sans"/>
                <a:sym typeface="Quattrocento Sans"/>
              </a:rPr>
              <a:t>. </a:t>
            </a:r>
            <a:endParaRPr sz="3600" dirty="0">
              <a:latin typeface="Quattrocento Sans"/>
              <a:ea typeface="Quattrocento Sans"/>
              <a:cs typeface="Quattrocento Sans"/>
              <a:sym typeface="Quattrocento Sans"/>
            </a:endParaRPr>
          </a:p>
          <a:p>
            <a:pPr marL="742950" lvl="1" indent="-361950" algn="l" rtl="0">
              <a:spcBef>
                <a:spcPts val="0"/>
              </a:spcBef>
              <a:spcAft>
                <a:spcPts val="0"/>
              </a:spcAft>
              <a:buClr>
                <a:srgbClr val="FF5A33"/>
              </a:buClr>
              <a:buSzPts val="3600"/>
              <a:buFont typeface="Quattrocento Sans"/>
              <a:buChar char="❖"/>
            </a:pPr>
            <a:r>
              <a:rPr lang="en-US" sz="3600" dirty="0" err="1">
                <a:latin typeface="Quattrocento Sans"/>
                <a:ea typeface="Quattrocento Sans"/>
                <a:cs typeface="Quattrocento Sans"/>
                <a:sym typeface="Quattrocento Sans"/>
              </a:rPr>
              <a:t>Môi</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trường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thử</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nghiệm</a:t>
            </a:r>
            <a:r>
              <a:rPr lang="en-US" sz="3600" dirty="0">
                <a:latin typeface="Quattrocento Sans"/>
                <a:ea typeface="Quattrocento Sans"/>
                <a:cs typeface="Quattrocento Sans"/>
                <a:sym typeface="Quattrocento Sans"/>
              </a:rPr>
              <a:t> bao </a:t>
            </a:r>
            <a:r>
              <a:rPr lang="en-US" sz="3600" dirty="0" err="1">
                <a:latin typeface="Quattrocento Sans"/>
                <a:ea typeface="Quattrocento Sans"/>
                <a:cs typeface="Quattrocento Sans"/>
                <a:sym typeface="Quattrocento Sans"/>
              </a:rPr>
              <a:t>gồm</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môi</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trường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kinh</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doanh</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và</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người</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dùng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thực</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cũng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như</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môi</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trường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vật</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lý</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chẳng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hạn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như</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máy</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chủ</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môi</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trường</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chạy</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giao</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diện</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người</a:t>
            </a:r>
            <a:r>
              <a:rPr lang="en-US" sz="3600" dirty="0">
                <a:latin typeface="Quattrocento Sans"/>
                <a:ea typeface="Quattrocento Sans"/>
                <a:cs typeface="Quattrocento Sans"/>
                <a:sym typeface="Quattrocento Sans"/>
              </a:rPr>
              <a:t> </a:t>
            </a:r>
            <a:r>
              <a:rPr lang="en-US" sz="3600" dirty="0" err="1">
                <a:latin typeface="Quattrocento Sans"/>
                <a:ea typeface="Quattrocento Sans"/>
                <a:cs typeface="Quattrocento Sans"/>
                <a:sym typeface="Quattrocento Sans"/>
              </a:rPr>
              <a:t>dùng</a:t>
            </a:r>
            <a:r>
              <a:rPr lang="en-US" sz="3600" dirty="0">
                <a:latin typeface="Quattrocento Sans"/>
                <a:ea typeface="Quattrocento Sans"/>
                <a:cs typeface="Quattrocento Sans"/>
                <a:sym typeface="Quattrocento Sans"/>
              </a:rPr>
              <a:t>.</a:t>
            </a:r>
            <a:endParaRPr sz="3600" dirty="0">
              <a:latin typeface="Quattrocento Sans"/>
              <a:ea typeface="Quattrocento Sans"/>
              <a:cs typeface="Quattrocento Sans"/>
              <a:sym typeface="Quattrocento Sans"/>
            </a:endParaRPr>
          </a:p>
        </p:txBody>
      </p:sp>
      <p:sp>
        <p:nvSpPr>
          <p:cNvPr id="565" name="Google Shape;565;g11757251f1a_0_136"/>
          <p:cNvSpPr txBox="1"/>
          <p:nvPr/>
        </p:nvSpPr>
        <p:spPr>
          <a:xfrm>
            <a:off x="522375" y="79692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Bước 6: Lập kế hoạch Môi trường thử nghiệm</a:t>
            </a:r>
            <a:endParaRPr sz="40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64">
                                            <p:txEl>
                                              <p:pRg st="0" end="0"/>
                                            </p:txEl>
                                          </p:spTgt>
                                        </p:tgtEl>
                                        <p:attrNameLst>
                                          <p:attrName>style.visibility</p:attrName>
                                        </p:attrNameLst>
                                      </p:cBhvr>
                                      <p:to>
                                        <p:strVal val="visible"/>
                                      </p:to>
                                    </p:set>
                                    <p:anim calcmode="lin" valueType="num">
                                      <p:cBhvr additive="base">
                                        <p:cTn id="7" dur="1000"/>
                                        <p:tgtEl>
                                          <p:spTgt spid="564">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64">
                                            <p:txEl>
                                              <p:pRg st="1" end="1"/>
                                            </p:txEl>
                                          </p:spTgt>
                                        </p:tgtEl>
                                        <p:attrNameLst>
                                          <p:attrName>style.visibility</p:attrName>
                                        </p:attrNameLst>
                                      </p:cBhvr>
                                      <p:to>
                                        <p:strVal val="visible"/>
                                      </p:to>
                                    </p:set>
                                    <p:anim calcmode="lin" valueType="num">
                                      <p:cBhvr additive="base">
                                        <p:cTn id="12" dur="1000"/>
                                        <p:tgtEl>
                                          <p:spTgt spid="564">
                                            <p:txEl>
                                              <p:pRg st="1" end="1"/>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g11757251f1a_0_14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plan test environment</a:t>
            </a:r>
            <a:endParaRPr/>
          </a:p>
        </p:txBody>
      </p:sp>
      <p:sp>
        <p:nvSpPr>
          <p:cNvPr id="571" name="Google Shape;571;g11757251f1a_0_149"/>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742950" lvl="1" indent="-38735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Cách thiết lập môi trường thử nghiệm</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Cần có sự hợp tác chặt chẽ giữa Nhóm kiểm tra và Nhóm phát triển</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Hỏi nhà phát triển một số câu hỏi để hiểu ứng dụng web đang thử nghiệm một cách rõ ràng.</a:t>
            </a:r>
            <a:endParaRPr sz="36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dur="11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71">
                                            <p:txEl>
                                              <p:pRg st="0" end="0"/>
                                            </p:txEl>
                                          </p:spTgt>
                                        </p:tgtEl>
                                        <p:attrNameLst>
                                          <p:attrName>style.visibility</p:attrName>
                                        </p:attrNameLst>
                                      </p:cBhvr>
                                      <p:to>
                                        <p:strVal val="visible"/>
                                      </p:to>
                                    </p:set>
                                    <p:anim calcmode="lin" valueType="num">
                                      <p:cBhvr additive="base">
                                        <p:cTn id="7" dur="1000"/>
                                        <p:tgtEl>
                                          <p:spTgt spid="57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71">
                                            <p:txEl>
                                              <p:pRg st="1" end="1"/>
                                            </p:txEl>
                                          </p:spTgt>
                                        </p:tgtEl>
                                        <p:attrNameLst>
                                          <p:attrName>style.visibility</p:attrName>
                                        </p:attrNameLst>
                                      </p:cBhvr>
                                      <p:to>
                                        <p:strVal val="visible"/>
                                      </p:to>
                                    </p:set>
                                    <p:anim calcmode="lin" valueType="num">
                                      <p:cBhvr additive="base">
                                        <p:cTn id="12" dur="1000"/>
                                        <p:tgtEl>
                                          <p:spTgt spid="57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71">
                                            <p:txEl>
                                              <p:pRg st="2" end="2"/>
                                            </p:txEl>
                                          </p:spTgt>
                                        </p:tgtEl>
                                        <p:attrNameLst>
                                          <p:attrName>style.visibility</p:attrName>
                                        </p:attrNameLst>
                                      </p:cBhvr>
                                      <p:to>
                                        <p:strVal val="visible"/>
                                      </p:to>
                                    </p:set>
                                    <p:anim calcmode="lin" valueType="num">
                                      <p:cBhvr additive="base">
                                        <p:cTn id="17" dur="1000"/>
                                        <p:tgtEl>
                                          <p:spTgt spid="571">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g11757251f1a_0_15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plan test environment</a:t>
            </a:r>
            <a:endParaRPr/>
          </a:p>
        </p:txBody>
      </p:sp>
      <p:sp>
        <p:nvSpPr>
          <p:cNvPr id="577" name="Google Shape;577;g11757251f1a_0_157"/>
          <p:cNvSpPr txBox="1"/>
          <p:nvPr/>
        </p:nvSpPr>
        <p:spPr>
          <a:xfrm>
            <a:off x="649725" y="1175656"/>
            <a:ext cx="11200153" cy="4879911"/>
          </a:xfrm>
          <a:prstGeom prst="rect">
            <a:avLst/>
          </a:prstGeom>
          <a:noFill/>
          <a:ln>
            <a:noFill/>
          </a:ln>
        </p:spPr>
        <p:txBody>
          <a:bodyPr spcFirstLastPara="1" wrap="square" lIns="91425" tIns="45700" rIns="91425" bIns="45700" anchor="t" anchorCtr="0">
            <a:normAutofit/>
          </a:bodyPr>
          <a:lstStyle/>
          <a:p>
            <a:pPr marL="742950" lvl="1" indent="-387350" algn="l" rtl="0">
              <a:spcBef>
                <a:spcPts val="0"/>
              </a:spcBef>
              <a:spcAft>
                <a:spcPts val="0"/>
              </a:spcAft>
              <a:buClr>
                <a:srgbClr val="FF5A33"/>
              </a:buClr>
              <a:buSzPts val="4000"/>
              <a:buFont typeface="Quattrocento Sans"/>
              <a:buChar char="❖"/>
            </a:pPr>
            <a:r>
              <a:rPr lang="en-US" sz="4000" dirty="0" err="1">
                <a:solidFill>
                  <a:schemeClr val="dk1"/>
                </a:solidFill>
                <a:latin typeface="Quattrocento Sans"/>
                <a:ea typeface="Quattrocento Sans"/>
                <a:cs typeface="Quattrocento Sans"/>
                <a:sym typeface="Quattrocento Sans"/>
              </a:rPr>
              <a:t>Một</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số</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câu</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hỏi</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cho</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Nhà</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Phát</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Triển</a:t>
            </a:r>
            <a:endParaRPr sz="3600" dirty="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Kết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nối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người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dùng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tối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đa</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mà</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trang</a:t>
            </a:r>
            <a:r>
              <a:rPr lang="en-US" sz="3600" dirty="0">
                <a:solidFill>
                  <a:schemeClr val="dk1"/>
                </a:solidFill>
                <a:latin typeface="Quattrocento Sans"/>
                <a:ea typeface="Quattrocento Sans"/>
                <a:cs typeface="Quattrocento Sans"/>
                <a:sym typeface="Quattrocento Sans"/>
              </a:rPr>
              <a:t> web </a:t>
            </a:r>
            <a:r>
              <a:rPr lang="en-US" sz="3600" dirty="0" err="1">
                <a:solidFill>
                  <a:schemeClr val="dk1"/>
                </a:solidFill>
                <a:latin typeface="Quattrocento Sans"/>
                <a:ea typeface="Quattrocento Sans"/>
                <a:cs typeface="Quattrocento Sans"/>
                <a:sym typeface="Quattrocento Sans"/>
              </a:rPr>
              <a:t>này</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có</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thể</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xử</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lý</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đồng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thời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là</a:t>
            </a:r>
            <a:r>
              <a:rPr lang="en-US" sz="3600" dirty="0">
                <a:solidFill>
                  <a:schemeClr val="dk1"/>
                </a:solidFill>
                <a:latin typeface="Quattrocento Sans"/>
                <a:ea typeface="Quattrocento Sans"/>
                <a:cs typeface="Quattrocento Sans"/>
                <a:sym typeface="Quattrocento Sans"/>
              </a:rPr>
              <a:t> bao </a:t>
            </a:r>
            <a:r>
              <a:rPr lang="en-US" sz="3600" dirty="0" err="1">
                <a:solidFill>
                  <a:schemeClr val="dk1"/>
                </a:solidFill>
                <a:latin typeface="Quattrocento Sans"/>
                <a:ea typeface="Quattrocento Sans"/>
                <a:cs typeface="Quattrocento Sans"/>
                <a:sym typeface="Quattrocento Sans"/>
              </a:rPr>
              <a:t>nhiêu</a:t>
            </a:r>
            <a:r>
              <a:rPr lang="en-US" sz="3600" dirty="0">
                <a:solidFill>
                  <a:schemeClr val="dk1"/>
                </a:solidFill>
                <a:latin typeface="Quattrocento Sans"/>
                <a:ea typeface="Quattrocento Sans"/>
                <a:cs typeface="Quattrocento Sans"/>
                <a:sym typeface="Quattrocento Sans"/>
              </a:rPr>
              <a:t>?</a:t>
            </a:r>
            <a:endParaRPr sz="3600" dirty="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Yêu</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cầu</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phần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cứng</a:t>
            </a:r>
            <a:r>
              <a:rPr lang="en-US" sz="3600" dirty="0">
                <a:solidFill>
                  <a:schemeClr val="dk1"/>
                </a:solidFill>
                <a:latin typeface="Quattrocento Sans"/>
                <a:ea typeface="Quattrocento Sans"/>
                <a:cs typeface="Quattrocento Sans"/>
                <a:sym typeface="Quattrocento Sans"/>
              </a:rPr>
              <a:t> / </a:t>
            </a:r>
            <a:r>
              <a:rPr lang="en-US" sz="3600" dirty="0" err="1">
                <a:solidFill>
                  <a:schemeClr val="dk1"/>
                </a:solidFill>
                <a:latin typeface="Quattrocento Sans"/>
                <a:ea typeface="Quattrocento Sans"/>
                <a:cs typeface="Quattrocento Sans"/>
                <a:sym typeface="Quattrocento Sans"/>
              </a:rPr>
              <a:t>phần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mềm</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để</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cài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đặt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trang</a:t>
            </a:r>
            <a:r>
              <a:rPr lang="en-US" sz="3600" dirty="0">
                <a:solidFill>
                  <a:schemeClr val="dk1"/>
                </a:solidFill>
                <a:latin typeface="Quattrocento Sans"/>
                <a:ea typeface="Quattrocento Sans"/>
                <a:cs typeface="Quattrocento Sans"/>
                <a:sym typeface="Quattrocento Sans"/>
              </a:rPr>
              <a:t> web </a:t>
            </a:r>
            <a:r>
              <a:rPr lang="en-US" sz="3600" dirty="0" err="1">
                <a:solidFill>
                  <a:schemeClr val="dk1"/>
                </a:solidFill>
                <a:latin typeface="Quattrocento Sans"/>
                <a:ea typeface="Quattrocento Sans"/>
                <a:cs typeface="Quattrocento Sans"/>
                <a:sym typeface="Quattrocento Sans"/>
              </a:rPr>
              <a:t>này</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là</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gì</a:t>
            </a:r>
            <a:r>
              <a:rPr lang="en-US" sz="3600" dirty="0">
                <a:solidFill>
                  <a:schemeClr val="dk1"/>
                </a:solidFill>
                <a:latin typeface="Quattrocento Sans"/>
                <a:ea typeface="Quattrocento Sans"/>
                <a:cs typeface="Quattrocento Sans"/>
                <a:sym typeface="Quattrocento Sans"/>
              </a:rPr>
              <a:t>?</a:t>
            </a:r>
            <a:endParaRPr sz="3600" dirty="0">
              <a:solidFill>
                <a:schemeClr val="dk1"/>
              </a:solidFill>
              <a:latin typeface="Quattrocento Sans"/>
              <a:ea typeface="Quattrocento Sans"/>
              <a:cs typeface="Quattrocento Sans"/>
              <a:sym typeface="Quattrocento Sans"/>
            </a:endParaRPr>
          </a:p>
          <a:p>
            <a:pPr marL="1143000" indent="-330200">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Máy</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tính</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của</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người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dùng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có</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cần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bất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kỳ</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cài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đặt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cụ</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thể</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nào</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để</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duyệt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trang</a:t>
            </a:r>
            <a:r>
              <a:rPr lang="en-US" sz="3600" dirty="0">
                <a:solidFill>
                  <a:schemeClr val="dk1"/>
                </a:solidFill>
                <a:latin typeface="Quattrocento Sans"/>
                <a:ea typeface="Quattrocento Sans"/>
                <a:cs typeface="Quattrocento Sans"/>
                <a:sym typeface="Quattrocento Sans"/>
              </a:rPr>
              <a:t> web </a:t>
            </a:r>
            <a:r>
              <a:rPr lang="en-US" sz="3600" dirty="0" err="1">
                <a:solidFill>
                  <a:schemeClr val="dk1"/>
                </a:solidFill>
                <a:latin typeface="Quattrocento Sans"/>
                <a:ea typeface="Quattrocento Sans"/>
                <a:cs typeface="Quattrocento Sans"/>
                <a:sym typeface="Quattrocento Sans"/>
              </a:rPr>
              <a:t>không</a:t>
            </a:r>
            <a:r>
              <a:rPr lang="en-US" sz="3600" dirty="0">
                <a:solidFill>
                  <a:schemeClr val="dk1"/>
                </a:solidFill>
                <a:latin typeface="Quattrocento Sans"/>
                <a:ea typeface="Quattrocento Sans"/>
                <a:cs typeface="Quattrocento Sans"/>
                <a:sym typeface="Quattrocento Sans"/>
              </a:rPr>
              <a:t>?</a:t>
            </a:r>
            <a:endParaRPr sz="3600" dirty="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dur="11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77">
                                            <p:txEl>
                                              <p:pRg st="0" end="0"/>
                                            </p:txEl>
                                          </p:spTgt>
                                        </p:tgtEl>
                                        <p:attrNameLst>
                                          <p:attrName>style.visibility</p:attrName>
                                        </p:attrNameLst>
                                      </p:cBhvr>
                                      <p:to>
                                        <p:strVal val="visible"/>
                                      </p:to>
                                    </p:set>
                                    <p:anim calcmode="lin" valueType="num">
                                      <p:cBhvr additive="base">
                                        <p:cTn id="7" dur="1000"/>
                                        <p:tgtEl>
                                          <p:spTgt spid="577">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77">
                                            <p:txEl>
                                              <p:pRg st="1" end="1"/>
                                            </p:txEl>
                                          </p:spTgt>
                                        </p:tgtEl>
                                        <p:attrNameLst>
                                          <p:attrName>style.visibility</p:attrName>
                                        </p:attrNameLst>
                                      </p:cBhvr>
                                      <p:to>
                                        <p:strVal val="visible"/>
                                      </p:to>
                                    </p:set>
                                    <p:anim calcmode="lin" valueType="num">
                                      <p:cBhvr additive="base">
                                        <p:cTn id="12" dur="1000"/>
                                        <p:tgtEl>
                                          <p:spTgt spid="577">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77">
                                            <p:txEl>
                                              <p:pRg st="2" end="2"/>
                                            </p:txEl>
                                          </p:spTgt>
                                        </p:tgtEl>
                                        <p:attrNameLst>
                                          <p:attrName>style.visibility</p:attrName>
                                        </p:attrNameLst>
                                      </p:cBhvr>
                                      <p:to>
                                        <p:strVal val="visible"/>
                                      </p:to>
                                    </p:set>
                                    <p:anim calcmode="lin" valueType="num">
                                      <p:cBhvr additive="base">
                                        <p:cTn id="17" dur="1000"/>
                                        <p:tgtEl>
                                          <p:spTgt spid="577">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577">
                                            <p:txEl>
                                              <p:pRg st="3" end="3"/>
                                            </p:txEl>
                                          </p:spTgt>
                                        </p:tgtEl>
                                        <p:attrNameLst>
                                          <p:attrName>style.visibility</p:attrName>
                                        </p:attrNameLst>
                                      </p:cBhvr>
                                      <p:to>
                                        <p:strVal val="visible"/>
                                      </p:to>
                                    </p:set>
                                    <p:anim calcmode="lin" valueType="num">
                                      <p:cBhvr additive="base">
                                        <p:cTn id="22" dur="1000"/>
                                        <p:tgtEl>
                                          <p:spTgt spid="577">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g11757251f1a_0_16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plan test environment</a:t>
            </a:r>
            <a:endParaRPr/>
          </a:p>
        </p:txBody>
      </p:sp>
      <p:sp>
        <p:nvSpPr>
          <p:cNvPr id="583" name="Google Shape;583;g11757251f1a_0_163"/>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4000">
                <a:solidFill>
                  <a:schemeClr val="dk1"/>
                </a:solidFill>
                <a:latin typeface="Quattrocento Sans"/>
                <a:ea typeface="Quattrocento Sans"/>
                <a:cs typeface="Quattrocento Sans"/>
                <a:sym typeface="Quattrocento Sans"/>
              </a:rPr>
              <a:t>Ví dụ: Hình sau mô tả môi trường thử nghiệm của trang web ngân hàng http://demo.guru99.com/V4</a:t>
            </a:r>
            <a:endParaRPr sz="3600">
              <a:solidFill>
                <a:schemeClr val="dk1"/>
              </a:solidFill>
              <a:latin typeface="Quattrocento Sans"/>
              <a:ea typeface="Quattrocento Sans"/>
              <a:cs typeface="Quattrocento Sans"/>
              <a:sym typeface="Quattrocento Sans"/>
            </a:endParaRPr>
          </a:p>
        </p:txBody>
      </p:sp>
      <p:pic>
        <p:nvPicPr>
          <p:cNvPr id="584" name="Google Shape;584;g11757251f1a_0_163"/>
          <p:cNvPicPr preferRelativeResize="0"/>
          <p:nvPr/>
        </p:nvPicPr>
        <p:blipFill>
          <a:blip r:embed="rId3">
            <a:alphaModFix/>
          </a:blip>
          <a:stretch>
            <a:fillRect/>
          </a:stretch>
        </p:blipFill>
        <p:spPr>
          <a:xfrm>
            <a:off x="2583125" y="2274650"/>
            <a:ext cx="7285950" cy="44377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1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83">
                                            <p:txEl>
                                              <p:pRg st="0" end="0"/>
                                            </p:txEl>
                                          </p:spTgt>
                                        </p:tgtEl>
                                        <p:attrNameLst>
                                          <p:attrName>style.visibility</p:attrName>
                                        </p:attrNameLst>
                                      </p:cBhvr>
                                      <p:to>
                                        <p:strVal val="visible"/>
                                      </p:to>
                                    </p:set>
                                    <p:anim calcmode="lin" valueType="num">
                                      <p:cBhvr additive="base">
                                        <p:cTn id="7" dur="1000"/>
                                        <p:tgtEl>
                                          <p:spTgt spid="583">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g11757251f1a_0_17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schedule and estimation</a:t>
            </a:r>
            <a:endParaRPr/>
          </a:p>
        </p:txBody>
      </p:sp>
      <p:sp>
        <p:nvSpPr>
          <p:cNvPr id="590" name="Google Shape;590;g11757251f1a_0_171"/>
          <p:cNvSpPr txBox="1"/>
          <p:nvPr/>
        </p:nvSpPr>
        <p:spPr>
          <a:xfrm>
            <a:off x="522375" y="1597325"/>
            <a:ext cx="11338200" cy="52260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Trong giai đoạn Ước tính thử nghiệm, giả sử bạn chia toàn bộ dự án thành các nhiệm vụ nhỏ và thêm ước tính cho từng nhiệm vụ như bên dưới</a:t>
            </a:r>
            <a:endParaRPr sz="3600">
              <a:latin typeface="Quattrocento Sans"/>
              <a:ea typeface="Quattrocento Sans"/>
              <a:cs typeface="Quattrocento Sans"/>
              <a:sym typeface="Quattrocento Sans"/>
            </a:endParaRPr>
          </a:p>
        </p:txBody>
      </p:sp>
      <p:sp>
        <p:nvSpPr>
          <p:cNvPr id="591" name="Google Shape;591;g11757251f1a_0_171"/>
          <p:cNvSpPr txBox="1"/>
          <p:nvPr/>
        </p:nvSpPr>
        <p:spPr>
          <a:xfrm>
            <a:off x="522375" y="79692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Bước 7: Lập lịch và ước tính</a:t>
            </a:r>
            <a:endParaRPr sz="4000">
              <a:solidFill>
                <a:schemeClr val="dk1"/>
              </a:solidFill>
              <a:latin typeface="Quattrocento Sans"/>
              <a:ea typeface="Quattrocento Sans"/>
              <a:cs typeface="Quattrocento Sans"/>
              <a:sym typeface="Quattrocento Sans"/>
            </a:endParaRPr>
          </a:p>
        </p:txBody>
      </p:sp>
      <p:pic>
        <p:nvPicPr>
          <p:cNvPr id="592" name="Google Shape;592;g11757251f1a_0_171"/>
          <p:cNvPicPr preferRelativeResize="0"/>
          <p:nvPr/>
        </p:nvPicPr>
        <p:blipFill>
          <a:blip r:embed="rId3">
            <a:alphaModFix/>
          </a:blip>
          <a:stretch>
            <a:fillRect/>
          </a:stretch>
        </p:blipFill>
        <p:spPr>
          <a:xfrm>
            <a:off x="2143889" y="3307875"/>
            <a:ext cx="7904226" cy="35501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90">
                                            <p:txEl>
                                              <p:pRg st="0" end="0"/>
                                            </p:txEl>
                                          </p:spTgt>
                                        </p:tgtEl>
                                        <p:attrNameLst>
                                          <p:attrName>style.visibility</p:attrName>
                                        </p:attrNameLst>
                                      </p:cBhvr>
                                      <p:to>
                                        <p:strVal val="visible"/>
                                      </p:to>
                                    </p:set>
                                    <p:anim calcmode="lin" valueType="num">
                                      <p:cBhvr additive="base">
                                        <p:cTn id="7" dur="1000"/>
                                        <p:tgtEl>
                                          <p:spTgt spid="590">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g11757251f1a_0_179"/>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schedule and estimation</a:t>
            </a:r>
            <a:endParaRPr/>
          </a:p>
        </p:txBody>
      </p:sp>
      <p:sp>
        <p:nvSpPr>
          <p:cNvPr id="598" name="Google Shape;598;g11757251f1a_0_179"/>
          <p:cNvSpPr txBox="1"/>
          <p:nvPr/>
        </p:nvSpPr>
        <p:spPr>
          <a:xfrm>
            <a:off x="649725" y="953250"/>
            <a:ext cx="11356200" cy="5759100"/>
          </a:xfrm>
          <a:prstGeom prst="rect">
            <a:avLst/>
          </a:prstGeom>
          <a:noFill/>
          <a:ln>
            <a:noFill/>
          </a:ln>
        </p:spPr>
        <p:txBody>
          <a:bodyPr spcFirstLastPara="1" wrap="square" lIns="91425" tIns="45700" rIns="91425" bIns="45700" anchor="t" anchorCtr="0">
            <a:normAutofit lnSpcReduction="10000"/>
          </a:bodyPr>
          <a:lstStyle/>
          <a:p>
            <a:pPr marL="742950" lvl="1" indent="-38735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Đầu vào để tạo một lịch trình dự án</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Nhân viên và thời hạn dự án : Ngày làm việc, thời hạn dự án, nguồn lực sẵn có là những yếu tố ảnh hưởng đến tiến độ</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Dự toán dự án : Dựa trên ước tính, Người quản lý kiểm tra biết được cần bao lâu để hoàn thành dự án. Vì vậy, anh ta có thể đưa ra lịch trình dự án phù hợp</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Rủi ro dự án : Hiểu được rủi ro giúp Người quản lý kiểm tra thêm đủ thời gian vào lịch trình dự án để đối phó với rủi ro</a:t>
            </a:r>
            <a:endParaRPr sz="36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dur="11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98">
                                            <p:txEl>
                                              <p:pRg st="0" end="0"/>
                                            </p:txEl>
                                          </p:spTgt>
                                        </p:tgtEl>
                                        <p:attrNameLst>
                                          <p:attrName>style.visibility</p:attrName>
                                        </p:attrNameLst>
                                      </p:cBhvr>
                                      <p:to>
                                        <p:strVal val="visible"/>
                                      </p:to>
                                    </p:set>
                                    <p:anim calcmode="lin" valueType="num">
                                      <p:cBhvr additive="base">
                                        <p:cTn id="7" dur="1000"/>
                                        <p:tgtEl>
                                          <p:spTgt spid="598">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98">
                                            <p:txEl>
                                              <p:pRg st="1" end="1"/>
                                            </p:txEl>
                                          </p:spTgt>
                                        </p:tgtEl>
                                        <p:attrNameLst>
                                          <p:attrName>style.visibility</p:attrName>
                                        </p:attrNameLst>
                                      </p:cBhvr>
                                      <p:to>
                                        <p:strVal val="visible"/>
                                      </p:to>
                                    </p:set>
                                    <p:anim calcmode="lin" valueType="num">
                                      <p:cBhvr additive="base">
                                        <p:cTn id="12" dur="1000"/>
                                        <p:tgtEl>
                                          <p:spTgt spid="598">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598">
                                            <p:txEl>
                                              <p:pRg st="2" end="2"/>
                                            </p:txEl>
                                          </p:spTgt>
                                        </p:tgtEl>
                                        <p:attrNameLst>
                                          <p:attrName>style.visibility</p:attrName>
                                        </p:attrNameLst>
                                      </p:cBhvr>
                                      <p:to>
                                        <p:strVal val="visible"/>
                                      </p:to>
                                    </p:set>
                                    <p:anim calcmode="lin" valueType="num">
                                      <p:cBhvr additive="base">
                                        <p:cTn id="17" dur="1000"/>
                                        <p:tgtEl>
                                          <p:spTgt spid="598">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598">
                                            <p:txEl>
                                              <p:pRg st="3" end="3"/>
                                            </p:txEl>
                                          </p:spTgt>
                                        </p:tgtEl>
                                        <p:attrNameLst>
                                          <p:attrName>style.visibility</p:attrName>
                                        </p:attrNameLst>
                                      </p:cBhvr>
                                      <p:to>
                                        <p:strVal val="visible"/>
                                      </p:to>
                                    </p:set>
                                    <p:anim calcmode="lin" valueType="num">
                                      <p:cBhvr additive="base">
                                        <p:cTn id="22" dur="1000"/>
                                        <p:tgtEl>
                                          <p:spTgt spid="598">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g11757251f1a_0_185"/>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schedule and estimation</a:t>
            </a:r>
            <a:endParaRPr/>
          </a:p>
        </p:txBody>
      </p:sp>
      <p:sp>
        <p:nvSpPr>
          <p:cNvPr id="604" name="Google Shape;604;g11757251f1a_0_185"/>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4000">
                <a:solidFill>
                  <a:schemeClr val="dk1"/>
                </a:solidFill>
                <a:latin typeface="Quattrocento Sans"/>
                <a:ea typeface="Quattrocento Sans"/>
                <a:cs typeface="Quattrocento Sans"/>
                <a:sym typeface="Quattrocento Sans"/>
              </a:rPr>
              <a:t>Ví dụ: Giả sử muốn hoàn thành dự án Guru99 trong một tháng, bạn đã ước tính nỗ lực cho từng nhiệm vụ trong Ước tính thử nghiệm. Bạn có thể tạo lịch trình như bên dưới</a:t>
            </a:r>
            <a:endParaRPr sz="3600">
              <a:solidFill>
                <a:schemeClr val="dk1"/>
              </a:solidFill>
              <a:latin typeface="Quattrocento Sans"/>
              <a:ea typeface="Quattrocento Sans"/>
              <a:cs typeface="Quattrocento Sans"/>
              <a:sym typeface="Quattrocento Sans"/>
            </a:endParaRPr>
          </a:p>
        </p:txBody>
      </p:sp>
      <p:pic>
        <p:nvPicPr>
          <p:cNvPr id="605" name="Google Shape;605;g11757251f1a_0_185"/>
          <p:cNvPicPr preferRelativeResize="0"/>
          <p:nvPr/>
        </p:nvPicPr>
        <p:blipFill>
          <a:blip r:embed="rId3">
            <a:alphaModFix/>
          </a:blip>
          <a:stretch>
            <a:fillRect/>
          </a:stretch>
        </p:blipFill>
        <p:spPr>
          <a:xfrm>
            <a:off x="776700" y="3638203"/>
            <a:ext cx="10638601" cy="30741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1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04">
                                            <p:txEl>
                                              <p:pRg st="0" end="0"/>
                                            </p:txEl>
                                          </p:spTgt>
                                        </p:tgtEl>
                                        <p:attrNameLst>
                                          <p:attrName>style.visibility</p:attrName>
                                        </p:attrNameLst>
                                      </p:cBhvr>
                                      <p:to>
                                        <p:strVal val="visible"/>
                                      </p:to>
                                    </p:set>
                                    <p:anim calcmode="lin" valueType="num">
                                      <p:cBhvr additive="base">
                                        <p:cTn id="7" dur="1000"/>
                                        <p:tgtEl>
                                          <p:spTgt spid="604">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g11757251f1a_0_19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deliverables</a:t>
            </a:r>
            <a:endParaRPr/>
          </a:p>
        </p:txBody>
      </p:sp>
      <p:sp>
        <p:nvSpPr>
          <p:cNvPr id="611" name="Google Shape;611;g11757251f1a_0_193"/>
          <p:cNvSpPr txBox="1"/>
          <p:nvPr/>
        </p:nvSpPr>
        <p:spPr>
          <a:xfrm>
            <a:off x="522375" y="1597325"/>
            <a:ext cx="11338200" cy="5226000"/>
          </a:xfrm>
          <a:prstGeom prst="rect">
            <a:avLst/>
          </a:prstGeom>
          <a:noFill/>
          <a:ln>
            <a:noFill/>
          </a:ln>
        </p:spPr>
        <p:txBody>
          <a:bodyPr spcFirstLastPara="1" wrap="square" lIns="91425" tIns="45700" rIns="91425" bIns="45700" anchor="t" anchorCtr="0">
            <a:normAutofit/>
          </a:bodyPr>
          <a:lstStyle/>
          <a:p>
            <a:pPr marL="742950" lvl="1" indent="-361950" algn="l" rtl="0">
              <a:spcBef>
                <a:spcPts val="0"/>
              </a:spcBef>
              <a:spcAft>
                <a:spcPts val="0"/>
              </a:spcAft>
              <a:buClr>
                <a:srgbClr val="FF5A33"/>
              </a:buClr>
              <a:buSzPts val="3600"/>
              <a:buFont typeface="Quattrocento Sans"/>
              <a:buChar char="❖"/>
            </a:pPr>
            <a:r>
              <a:rPr lang="en-US" sz="3600">
                <a:latin typeface="Quattrocento Sans"/>
                <a:ea typeface="Quattrocento Sans"/>
                <a:cs typeface="Quattrocento Sans"/>
                <a:sym typeface="Quattrocento Sans"/>
              </a:rPr>
              <a:t>Trong suốt quá trình test, bạn cần phải lập dữ liệu test, ghi lại nhật ký test. Sau khi test xong, bạn cần đưa ra được kết quả quá trình test. Bên cạnh đó là những báo cáo lỗi, cũng như là ghi chú về việc phát hành (release notes).</a:t>
            </a:r>
            <a:endParaRPr sz="3600">
              <a:latin typeface="Quattrocento Sans"/>
              <a:ea typeface="Quattrocento Sans"/>
              <a:cs typeface="Quattrocento Sans"/>
              <a:sym typeface="Quattrocento Sans"/>
            </a:endParaRPr>
          </a:p>
        </p:txBody>
      </p:sp>
      <p:sp>
        <p:nvSpPr>
          <p:cNvPr id="612" name="Google Shape;612;g11757251f1a_0_193"/>
          <p:cNvSpPr txBox="1"/>
          <p:nvPr/>
        </p:nvSpPr>
        <p:spPr>
          <a:xfrm>
            <a:off x="522375" y="796925"/>
            <a:ext cx="10965300" cy="800400"/>
          </a:xfrm>
          <a:prstGeom prst="rect">
            <a:avLst/>
          </a:prstGeom>
          <a:noFill/>
          <a:ln>
            <a:noFill/>
          </a:ln>
        </p:spPr>
        <p:txBody>
          <a:bodyPr spcFirstLastPara="1" wrap="square" lIns="91425" tIns="91425" rIns="91425" bIns="91425" anchor="t" anchorCtr="0">
            <a:spAutoFit/>
          </a:bodyPr>
          <a:lstStyle/>
          <a:p>
            <a:pPr marL="342900" lvl="0" indent="-41910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Bước 8: Kiểm soát sản phẩm thử nghiệm</a:t>
            </a:r>
            <a:endParaRPr sz="4000">
              <a:solidFill>
                <a:schemeClr val="dk1"/>
              </a:solidFill>
              <a:latin typeface="Quattrocento Sans"/>
              <a:ea typeface="Quattrocento Sans"/>
              <a:cs typeface="Quattrocento Sans"/>
              <a:sym typeface="Quattrocento Sans"/>
            </a:endParaRPr>
          </a:p>
        </p:txBody>
      </p:sp>
      <p:pic>
        <p:nvPicPr>
          <p:cNvPr id="613" name="Google Shape;613;g11757251f1a_0_193"/>
          <p:cNvPicPr preferRelativeResize="0"/>
          <p:nvPr/>
        </p:nvPicPr>
        <p:blipFill>
          <a:blip r:embed="rId3">
            <a:alphaModFix/>
          </a:blip>
          <a:stretch>
            <a:fillRect/>
          </a:stretch>
        </p:blipFill>
        <p:spPr>
          <a:xfrm>
            <a:off x="1977212" y="4503037"/>
            <a:ext cx="8237576" cy="15152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11">
                                            <p:txEl>
                                              <p:pRg st="0" end="0"/>
                                            </p:txEl>
                                          </p:spTgt>
                                        </p:tgtEl>
                                        <p:attrNameLst>
                                          <p:attrName>style.visibility</p:attrName>
                                        </p:attrNameLst>
                                      </p:cBhvr>
                                      <p:to>
                                        <p:strVal val="visible"/>
                                      </p:to>
                                    </p:set>
                                    <p:anim calcmode="lin" valueType="num">
                                      <p:cBhvr additive="base">
                                        <p:cTn id="7" dur="1000"/>
                                        <p:tgtEl>
                                          <p:spTgt spid="611">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g11757251f1a_0_203"/>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deliverables</a:t>
            </a:r>
            <a:endParaRPr/>
          </a:p>
        </p:txBody>
      </p:sp>
      <p:sp>
        <p:nvSpPr>
          <p:cNvPr id="619" name="Google Shape;619;g11757251f1a_0_203"/>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742950" lvl="1" indent="-38735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Các sản phẩm thử nghiệm được cung cấp trước giai đoạn thử nghiệm(Before Testing).</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Tài liệu kế hoạch kiểm tra.</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Tài liệu trường hợp thử nghiệm</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Kiểm tra thông số kỹ thuật Thiết kế.</a:t>
            </a:r>
            <a:endParaRPr sz="36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dur="11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19">
                                            <p:txEl>
                                              <p:pRg st="0" end="0"/>
                                            </p:txEl>
                                          </p:spTgt>
                                        </p:tgtEl>
                                        <p:attrNameLst>
                                          <p:attrName>style.visibility</p:attrName>
                                        </p:attrNameLst>
                                      </p:cBhvr>
                                      <p:to>
                                        <p:strVal val="visible"/>
                                      </p:to>
                                    </p:set>
                                    <p:anim calcmode="lin" valueType="num">
                                      <p:cBhvr additive="base">
                                        <p:cTn id="7" dur="1000"/>
                                        <p:tgtEl>
                                          <p:spTgt spid="619">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19">
                                            <p:txEl>
                                              <p:pRg st="1" end="1"/>
                                            </p:txEl>
                                          </p:spTgt>
                                        </p:tgtEl>
                                        <p:attrNameLst>
                                          <p:attrName>style.visibility</p:attrName>
                                        </p:attrNameLst>
                                      </p:cBhvr>
                                      <p:to>
                                        <p:strVal val="visible"/>
                                      </p:to>
                                    </p:set>
                                    <p:anim calcmode="lin" valueType="num">
                                      <p:cBhvr additive="base">
                                        <p:cTn id="12" dur="1000"/>
                                        <p:tgtEl>
                                          <p:spTgt spid="619">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19">
                                            <p:txEl>
                                              <p:pRg st="2" end="2"/>
                                            </p:txEl>
                                          </p:spTgt>
                                        </p:tgtEl>
                                        <p:attrNameLst>
                                          <p:attrName>style.visibility</p:attrName>
                                        </p:attrNameLst>
                                      </p:cBhvr>
                                      <p:to>
                                        <p:strVal val="visible"/>
                                      </p:to>
                                    </p:set>
                                    <p:anim calcmode="lin" valueType="num">
                                      <p:cBhvr additive="base">
                                        <p:cTn id="17" dur="1000"/>
                                        <p:tgtEl>
                                          <p:spTgt spid="619">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619">
                                            <p:txEl>
                                              <p:pRg st="3" end="3"/>
                                            </p:txEl>
                                          </p:spTgt>
                                        </p:tgtEl>
                                        <p:attrNameLst>
                                          <p:attrName>style.visibility</p:attrName>
                                        </p:attrNameLst>
                                      </p:cBhvr>
                                      <p:to>
                                        <p:strVal val="visible"/>
                                      </p:to>
                                    </p:set>
                                    <p:anim calcmode="lin" valueType="num">
                                      <p:cBhvr additive="base">
                                        <p:cTn id="22" dur="1000"/>
                                        <p:tgtEl>
                                          <p:spTgt spid="619">
                                            <p:txEl>
                                              <p:pRg st="3" end="3"/>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g11757251f1a_0_211"/>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deliverables</a:t>
            </a:r>
            <a:endParaRPr/>
          </a:p>
        </p:txBody>
      </p:sp>
      <p:sp>
        <p:nvSpPr>
          <p:cNvPr id="625" name="Google Shape;625;g11757251f1a_0_211"/>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742950" lvl="1" indent="-387350" algn="l" rtl="0">
              <a:spcBef>
                <a:spcPts val="0"/>
              </a:spcBef>
              <a:spcAft>
                <a:spcPts val="0"/>
              </a:spcAft>
              <a:buClr>
                <a:srgbClr val="FF5A33"/>
              </a:buClr>
              <a:buSzPts val="4000"/>
              <a:buFont typeface="Quattrocento Sans"/>
              <a:buChar char="❖"/>
            </a:pPr>
            <a:r>
              <a:rPr lang="en-US" sz="4000">
                <a:solidFill>
                  <a:schemeClr val="dk1"/>
                </a:solidFill>
                <a:latin typeface="Quattrocento Sans"/>
                <a:ea typeface="Quattrocento Sans"/>
                <a:cs typeface="Quattrocento Sans"/>
                <a:sym typeface="Quattrocento Sans"/>
              </a:rPr>
              <a:t>Các sản phẩm thử nghiệm được cung cấp trong quá trình thử nghiệm(During Testing).</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Tập lệnh thử nghiệm</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Trình mô phỏng.</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Dữ liệu thử nghiệm</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Kiểm tra ma trận xác định nguồn gốc</a:t>
            </a:r>
            <a:endParaRPr sz="360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a:solidFill>
                  <a:schemeClr val="dk1"/>
                </a:solidFill>
                <a:latin typeface="Quattrocento Sans"/>
                <a:ea typeface="Quattrocento Sans"/>
                <a:cs typeface="Quattrocento Sans"/>
                <a:sym typeface="Quattrocento Sans"/>
              </a:rPr>
              <a:t>Nhật ký lỗi và nhật ký thực thi.</a:t>
            </a:r>
            <a:endParaRPr sz="360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dur="11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25">
                                            <p:txEl>
                                              <p:pRg st="0" end="0"/>
                                            </p:txEl>
                                          </p:spTgt>
                                        </p:tgtEl>
                                        <p:attrNameLst>
                                          <p:attrName>style.visibility</p:attrName>
                                        </p:attrNameLst>
                                      </p:cBhvr>
                                      <p:to>
                                        <p:strVal val="visible"/>
                                      </p:to>
                                    </p:set>
                                    <p:anim calcmode="lin" valueType="num">
                                      <p:cBhvr additive="base">
                                        <p:cTn id="7" dur="1000"/>
                                        <p:tgtEl>
                                          <p:spTgt spid="625">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25">
                                            <p:txEl>
                                              <p:pRg st="1" end="1"/>
                                            </p:txEl>
                                          </p:spTgt>
                                        </p:tgtEl>
                                        <p:attrNameLst>
                                          <p:attrName>style.visibility</p:attrName>
                                        </p:attrNameLst>
                                      </p:cBhvr>
                                      <p:to>
                                        <p:strVal val="visible"/>
                                      </p:to>
                                    </p:set>
                                    <p:anim calcmode="lin" valueType="num">
                                      <p:cBhvr additive="base">
                                        <p:cTn id="12" dur="1000"/>
                                        <p:tgtEl>
                                          <p:spTgt spid="625">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25">
                                            <p:txEl>
                                              <p:pRg st="2" end="2"/>
                                            </p:txEl>
                                          </p:spTgt>
                                        </p:tgtEl>
                                        <p:attrNameLst>
                                          <p:attrName>style.visibility</p:attrName>
                                        </p:attrNameLst>
                                      </p:cBhvr>
                                      <p:to>
                                        <p:strVal val="visible"/>
                                      </p:to>
                                    </p:set>
                                    <p:anim calcmode="lin" valueType="num">
                                      <p:cBhvr additive="base">
                                        <p:cTn id="17" dur="1000"/>
                                        <p:tgtEl>
                                          <p:spTgt spid="625">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625">
                                            <p:txEl>
                                              <p:pRg st="3" end="3"/>
                                            </p:txEl>
                                          </p:spTgt>
                                        </p:tgtEl>
                                        <p:attrNameLst>
                                          <p:attrName>style.visibility</p:attrName>
                                        </p:attrNameLst>
                                      </p:cBhvr>
                                      <p:to>
                                        <p:strVal val="visible"/>
                                      </p:to>
                                    </p:set>
                                    <p:anim calcmode="lin" valueType="num">
                                      <p:cBhvr additive="base">
                                        <p:cTn id="22" dur="1000"/>
                                        <p:tgtEl>
                                          <p:spTgt spid="625">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625">
                                            <p:txEl>
                                              <p:pRg st="4" end="4"/>
                                            </p:txEl>
                                          </p:spTgt>
                                        </p:tgtEl>
                                        <p:attrNameLst>
                                          <p:attrName>style.visibility</p:attrName>
                                        </p:attrNameLst>
                                      </p:cBhvr>
                                      <p:to>
                                        <p:strVal val="visible"/>
                                      </p:to>
                                    </p:set>
                                    <p:anim calcmode="lin" valueType="num">
                                      <p:cBhvr additive="base">
                                        <p:cTn id="27" dur="1000"/>
                                        <p:tgtEl>
                                          <p:spTgt spid="625">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625">
                                            <p:txEl>
                                              <p:pRg st="5" end="5"/>
                                            </p:txEl>
                                          </p:spTgt>
                                        </p:tgtEl>
                                        <p:attrNameLst>
                                          <p:attrName>style.visibility</p:attrName>
                                        </p:attrNameLst>
                                      </p:cBhvr>
                                      <p:to>
                                        <p:strVal val="visible"/>
                                      </p:to>
                                    </p:set>
                                    <p:anim calcmode="lin" valueType="num">
                                      <p:cBhvr additive="base">
                                        <p:cTn id="32" dur="1000"/>
                                        <p:tgtEl>
                                          <p:spTgt spid="625">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g11757251f1a_0_218"/>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FF5A33"/>
              </a:buClr>
              <a:buSzPts val="2800"/>
              <a:buFont typeface="Quattrocento Sans"/>
              <a:buNone/>
            </a:pPr>
            <a:r>
              <a:rPr lang="en-US"/>
              <a:t>test deliverables</a:t>
            </a:r>
            <a:endParaRPr/>
          </a:p>
        </p:txBody>
      </p:sp>
      <p:sp>
        <p:nvSpPr>
          <p:cNvPr id="631" name="Google Shape;631;g11757251f1a_0_218"/>
          <p:cNvSpPr txBox="1"/>
          <p:nvPr/>
        </p:nvSpPr>
        <p:spPr>
          <a:xfrm>
            <a:off x="649725" y="953250"/>
            <a:ext cx="11356200" cy="5759100"/>
          </a:xfrm>
          <a:prstGeom prst="rect">
            <a:avLst/>
          </a:prstGeom>
          <a:noFill/>
          <a:ln>
            <a:noFill/>
          </a:ln>
        </p:spPr>
        <p:txBody>
          <a:bodyPr spcFirstLastPara="1" wrap="square" lIns="91425" tIns="45700" rIns="91425" bIns="45700" anchor="t" anchorCtr="0">
            <a:normAutofit/>
          </a:bodyPr>
          <a:lstStyle/>
          <a:p>
            <a:pPr marL="742950" lvl="1" indent="-387350" algn="l" rtl="0">
              <a:spcBef>
                <a:spcPts val="0"/>
              </a:spcBef>
              <a:spcAft>
                <a:spcPts val="0"/>
              </a:spcAft>
              <a:buClr>
                <a:srgbClr val="FF5A33"/>
              </a:buClr>
              <a:buSzPts val="4000"/>
              <a:buFont typeface="Quattrocento Sans"/>
              <a:buChar char="❖"/>
            </a:pPr>
            <a:r>
              <a:rPr lang="en-US" sz="4000" dirty="0" err="1">
                <a:solidFill>
                  <a:schemeClr val="dk1"/>
                </a:solidFill>
                <a:latin typeface="Quattrocento Sans"/>
                <a:ea typeface="Quattrocento Sans"/>
                <a:cs typeface="Quattrocento Sans"/>
                <a:sym typeface="Quattrocento Sans"/>
              </a:rPr>
              <a:t>Các</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sản</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phẩm</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thử</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nghiệm</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được</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cung</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cấp</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sau</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khi</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các</a:t>
            </a:r>
            <a:r>
              <a:rPr lang="en-US" sz="4000" dirty="0">
                <a:solidFill>
                  <a:schemeClr val="dk1"/>
                </a:solidFill>
                <a:latin typeface="Quattrocento Sans"/>
                <a:ea typeface="Quattrocento Sans"/>
                <a:cs typeface="Quattrocento Sans"/>
                <a:sym typeface="Quattrocento Sans"/>
              </a:rPr>
              <a:t> chu </a:t>
            </a:r>
            <a:r>
              <a:rPr lang="en-US" sz="4000" dirty="0" err="1">
                <a:solidFill>
                  <a:schemeClr val="dk1"/>
                </a:solidFill>
                <a:latin typeface="Quattrocento Sans"/>
                <a:ea typeface="Quattrocento Sans"/>
                <a:cs typeface="Quattrocento Sans"/>
                <a:sym typeface="Quattrocento Sans"/>
              </a:rPr>
              <a:t>kỳ</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thử</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nghiệm</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kết</a:t>
            </a:r>
            <a:r>
              <a:rPr lang="en-US" sz="4000" dirty="0">
                <a:solidFill>
                  <a:schemeClr val="dk1"/>
                </a:solidFill>
                <a:latin typeface="Quattrocento Sans"/>
                <a:ea typeface="Quattrocento Sans"/>
                <a:cs typeface="Quattrocento Sans"/>
                <a:sym typeface="Quattrocento Sans"/>
              </a:rPr>
              <a:t> </a:t>
            </a:r>
            <a:r>
              <a:rPr lang="en-US" sz="4000" dirty="0" err="1">
                <a:solidFill>
                  <a:schemeClr val="dk1"/>
                </a:solidFill>
                <a:latin typeface="Quattrocento Sans"/>
                <a:ea typeface="Quattrocento Sans"/>
                <a:cs typeface="Quattrocento Sans"/>
                <a:sym typeface="Quattrocento Sans"/>
              </a:rPr>
              <a:t>thúc</a:t>
            </a:r>
            <a:r>
              <a:rPr lang="en-US" sz="4000" dirty="0">
                <a:solidFill>
                  <a:schemeClr val="dk1"/>
                </a:solidFill>
                <a:latin typeface="Quattrocento Sans"/>
                <a:ea typeface="Quattrocento Sans"/>
                <a:cs typeface="Quattrocento Sans"/>
                <a:sym typeface="Quattrocento Sans"/>
              </a:rPr>
              <a:t>.(After Testing).</a:t>
            </a:r>
            <a:endParaRPr sz="3600" dirty="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Kết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quả</a:t>
            </a:r>
            <a:r>
              <a:rPr lang="en-US" sz="3600" dirty="0">
                <a:solidFill>
                  <a:schemeClr val="dk1"/>
                </a:solidFill>
                <a:latin typeface="Quattrocento Sans"/>
                <a:ea typeface="Quattrocento Sans"/>
                <a:cs typeface="Quattrocento Sans"/>
                <a:sym typeface="Quattrocento Sans"/>
              </a:rPr>
              <a:t> / </a:t>
            </a:r>
            <a:r>
              <a:rPr lang="en-US" sz="3600" dirty="0" err="1">
                <a:solidFill>
                  <a:schemeClr val="dk1"/>
                </a:solidFill>
                <a:latin typeface="Quattrocento Sans"/>
                <a:ea typeface="Quattrocento Sans"/>
                <a:cs typeface="Quattrocento Sans"/>
                <a:sym typeface="Quattrocento Sans"/>
              </a:rPr>
              <a:t>báo</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cáo</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thử</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nghiệm</a:t>
            </a:r>
            <a:r>
              <a:rPr lang="en-US" sz="3600" dirty="0">
                <a:solidFill>
                  <a:schemeClr val="dk1"/>
                </a:solidFill>
                <a:latin typeface="Quattrocento Sans"/>
                <a:ea typeface="Quattrocento Sans"/>
                <a:cs typeface="Quattrocento Sans"/>
                <a:sym typeface="Quattrocento Sans"/>
              </a:rPr>
              <a:t>(Test Results/ Test Report)</a:t>
            </a:r>
            <a:endParaRPr sz="3600" dirty="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Báo</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cáo</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khiếm</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khuyết</a:t>
            </a:r>
            <a:endParaRPr sz="3600" dirty="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Hướng</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dẫn</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quy</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trình</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cài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đặt</a:t>
            </a:r>
            <a:r>
              <a:rPr lang="en-US" sz="3600" dirty="0">
                <a:solidFill>
                  <a:schemeClr val="dk1"/>
                </a:solidFill>
                <a:latin typeface="Quattrocento Sans"/>
                <a:ea typeface="Quattrocento Sans"/>
                <a:cs typeface="Quattrocento Sans"/>
                <a:sym typeface="Quattrocento Sans"/>
              </a:rPr>
              <a:t> / </a:t>
            </a:r>
            <a:r>
              <a:rPr lang="en-US" sz="3600" dirty="0" err="1">
                <a:solidFill>
                  <a:schemeClr val="dk1"/>
                </a:solidFill>
                <a:latin typeface="Quattrocento Sans"/>
                <a:ea typeface="Quattrocento Sans"/>
                <a:cs typeface="Quattrocento Sans"/>
                <a:sym typeface="Quattrocento Sans"/>
              </a:rPr>
              <a:t>kiểm</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tra</a:t>
            </a:r>
            <a:endParaRPr sz="3600" dirty="0">
              <a:solidFill>
                <a:schemeClr val="dk1"/>
              </a:solidFill>
              <a:latin typeface="Quattrocento Sans"/>
              <a:ea typeface="Quattrocento Sans"/>
              <a:cs typeface="Quattrocento Sans"/>
              <a:sym typeface="Quattrocento Sans"/>
            </a:endParaRPr>
          </a:p>
          <a:p>
            <a:pPr marL="1143000" lvl="2" indent="-330200" algn="l" rtl="0">
              <a:spcBef>
                <a:spcPts val="0"/>
              </a:spcBef>
              <a:spcAft>
                <a:spcPts val="0"/>
              </a:spcAft>
              <a:buClr>
                <a:srgbClr val="FF5A33"/>
              </a:buClr>
              <a:buSzPts val="3600"/>
              <a:buFont typeface="Quattrocento Sans"/>
              <a:buChar char="⮚"/>
            </a:pPr>
            <a:r>
              <a:rPr lang="en-US" sz="3600" dirty="0" err="1">
                <a:solidFill>
                  <a:schemeClr val="dk1"/>
                </a:solidFill>
                <a:latin typeface="Quattrocento Sans"/>
                <a:ea typeface="Quattrocento Sans"/>
                <a:cs typeface="Quattrocento Sans"/>
                <a:sym typeface="Quattrocento Sans"/>
              </a:rPr>
              <a:t>Ghi</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chú</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phát</a:t>
            </a:r>
            <a:r>
              <a:rPr lang="en-US" sz="3600" dirty="0">
                <a:solidFill>
                  <a:schemeClr val="dk1"/>
                </a:solidFill>
                <a:latin typeface="Quattrocento Sans"/>
                <a:ea typeface="Quattrocento Sans"/>
                <a:cs typeface="Quattrocento Sans"/>
                <a:sym typeface="Quattrocento Sans"/>
              </a:rPr>
              <a:t> </a:t>
            </a:r>
            <a:r>
              <a:rPr lang="en-US" sz="3600" dirty="0" err="1">
                <a:solidFill>
                  <a:schemeClr val="dk1"/>
                </a:solidFill>
                <a:latin typeface="Quattrocento Sans"/>
                <a:ea typeface="Quattrocento Sans"/>
                <a:cs typeface="Quattrocento Sans"/>
                <a:sym typeface="Quattrocento Sans"/>
              </a:rPr>
              <a:t>hành</a:t>
            </a:r>
            <a:r>
              <a:rPr lang="en-US" sz="3600" dirty="0">
                <a:solidFill>
                  <a:schemeClr val="dk1"/>
                </a:solidFill>
                <a:latin typeface="Quattrocento Sans"/>
                <a:ea typeface="Quattrocento Sans"/>
                <a:cs typeface="Quattrocento Sans"/>
                <a:sym typeface="Quattrocento Sans"/>
              </a:rPr>
              <a:t>(Release Note)</a:t>
            </a:r>
            <a:endParaRPr sz="3600" dirty="0">
              <a:solidFill>
                <a:schemeClr val="dk1"/>
              </a:solidFill>
              <a:latin typeface="Quattrocento Sans"/>
              <a:ea typeface="Quattrocento Sans"/>
              <a:cs typeface="Quattrocento Sans"/>
              <a:sym typeface="Quattrocento Sans"/>
            </a:endParaRPr>
          </a:p>
        </p:txBody>
      </p:sp>
    </p:spTree>
  </p:cSld>
  <p:clrMapOvr>
    <a:masterClrMapping/>
  </p:clrMapOvr>
  <mc:AlternateContent xmlns:mc="http://schemas.openxmlformats.org/markup-compatibility/2006" xmlns:p14="http://schemas.microsoft.com/office/powerpoint/2010/main">
    <mc:Choice Requires="p14">
      <p:transition spd="slow" p14:dur="110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31">
                                            <p:txEl>
                                              <p:pRg st="0" end="0"/>
                                            </p:txEl>
                                          </p:spTgt>
                                        </p:tgtEl>
                                        <p:attrNameLst>
                                          <p:attrName>style.visibility</p:attrName>
                                        </p:attrNameLst>
                                      </p:cBhvr>
                                      <p:to>
                                        <p:strVal val="visible"/>
                                      </p:to>
                                    </p:set>
                                    <p:anim calcmode="lin" valueType="num">
                                      <p:cBhvr additive="base">
                                        <p:cTn id="7" dur="1000"/>
                                        <p:tgtEl>
                                          <p:spTgt spid="631">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31">
                                            <p:txEl>
                                              <p:pRg st="1" end="1"/>
                                            </p:txEl>
                                          </p:spTgt>
                                        </p:tgtEl>
                                        <p:attrNameLst>
                                          <p:attrName>style.visibility</p:attrName>
                                        </p:attrNameLst>
                                      </p:cBhvr>
                                      <p:to>
                                        <p:strVal val="visible"/>
                                      </p:to>
                                    </p:set>
                                    <p:anim calcmode="lin" valueType="num">
                                      <p:cBhvr additive="base">
                                        <p:cTn id="12" dur="1000"/>
                                        <p:tgtEl>
                                          <p:spTgt spid="631">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31">
                                            <p:txEl>
                                              <p:pRg st="2" end="2"/>
                                            </p:txEl>
                                          </p:spTgt>
                                        </p:tgtEl>
                                        <p:attrNameLst>
                                          <p:attrName>style.visibility</p:attrName>
                                        </p:attrNameLst>
                                      </p:cBhvr>
                                      <p:to>
                                        <p:strVal val="visible"/>
                                      </p:to>
                                    </p:set>
                                    <p:anim calcmode="lin" valueType="num">
                                      <p:cBhvr additive="base">
                                        <p:cTn id="17" dur="1000"/>
                                        <p:tgtEl>
                                          <p:spTgt spid="631">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631">
                                            <p:txEl>
                                              <p:pRg st="3" end="3"/>
                                            </p:txEl>
                                          </p:spTgt>
                                        </p:tgtEl>
                                        <p:attrNameLst>
                                          <p:attrName>style.visibility</p:attrName>
                                        </p:attrNameLst>
                                      </p:cBhvr>
                                      <p:to>
                                        <p:strVal val="visible"/>
                                      </p:to>
                                    </p:set>
                                    <p:anim calcmode="lin" valueType="num">
                                      <p:cBhvr additive="base">
                                        <p:cTn id="22" dur="1000"/>
                                        <p:tgtEl>
                                          <p:spTgt spid="631">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631">
                                            <p:txEl>
                                              <p:pRg st="4" end="4"/>
                                            </p:txEl>
                                          </p:spTgt>
                                        </p:tgtEl>
                                        <p:attrNameLst>
                                          <p:attrName>style.visibility</p:attrName>
                                        </p:attrNameLst>
                                      </p:cBhvr>
                                      <p:to>
                                        <p:strVal val="visible"/>
                                      </p:to>
                                    </p:set>
                                    <p:anim calcmode="lin" valueType="num">
                                      <p:cBhvr additive="base">
                                        <p:cTn id="27" dur="1000"/>
                                        <p:tgtEl>
                                          <p:spTgt spid="631">
                                            <p:txEl>
                                              <p:pRg st="4" end="4"/>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g11757251f1a_0_22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Tóm tắt bài học</a:t>
            </a:r>
            <a:endParaRPr/>
          </a:p>
        </p:txBody>
      </p:sp>
      <p:sp>
        <p:nvSpPr>
          <p:cNvPr id="637" name="Google Shape;637;g11757251f1a_0_227"/>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lnSpc>
                <a:spcPct val="100000"/>
              </a:lnSpc>
              <a:spcBef>
                <a:spcPts val="0"/>
              </a:spcBef>
              <a:spcAft>
                <a:spcPts val="0"/>
              </a:spcAft>
              <a:buClr>
                <a:srgbClr val="FF5A33"/>
              </a:buClr>
              <a:buSzPts val="2800"/>
              <a:buFont typeface="Noto Sans Symbols"/>
              <a:buNone/>
            </a:pPr>
            <a:endParaRPr/>
          </a:p>
        </p:txBody>
      </p:sp>
      <p:sp>
        <p:nvSpPr>
          <p:cNvPr id="638" name="Google Shape;638;g11757251f1a_0_227"/>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39" name="Google Shape;639;g11757251f1a_0_227"/>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0" name="Google Shape;640;g11757251f1a_0_227"/>
          <p:cNvSpPr txBox="1"/>
          <p:nvPr/>
        </p:nvSpPr>
        <p:spPr>
          <a:xfrm>
            <a:off x="894600" y="2067600"/>
            <a:ext cx="8229600" cy="3933900"/>
          </a:xfrm>
          <a:prstGeom prst="rect">
            <a:avLst/>
          </a:prstGeom>
          <a:noFill/>
          <a:ln>
            <a:noFill/>
          </a:ln>
        </p:spPr>
        <p:txBody>
          <a:bodyPr spcFirstLastPara="1" wrap="square" lIns="91425" tIns="45700" rIns="91425" bIns="45700" anchor="t" anchorCtr="0">
            <a:noAutofit/>
          </a:bodyPr>
          <a:lstStyle/>
          <a:p>
            <a:pPr marL="457200" lvl="0"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8 bước để viết một Test Plan</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Bước 4: Xác định tiêu chí kiểm tra</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Bước 5: Hoạch định nguồn lực</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Bước 6: Lập kế hoạch môi trường thử nghiệm</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Bước 7: Lập lịch &amp; Ước tính</a:t>
            </a:r>
            <a:endParaRPr sz="2900" b="1">
              <a:solidFill>
                <a:srgbClr val="333333"/>
              </a:solidFill>
              <a:latin typeface="Quattrocento Sans"/>
              <a:ea typeface="Quattrocento Sans"/>
              <a:cs typeface="Quattrocento Sans"/>
              <a:sym typeface="Quattrocento Sans"/>
            </a:endParaRPr>
          </a:p>
          <a:p>
            <a:pPr marL="914400" lvl="1" indent="-412750" algn="l" rtl="0">
              <a:lnSpc>
                <a:spcPct val="115000"/>
              </a:lnSpc>
              <a:spcBef>
                <a:spcPts val="0"/>
              </a:spcBef>
              <a:spcAft>
                <a:spcPts val="0"/>
              </a:spcAft>
              <a:buClr>
                <a:srgbClr val="333333"/>
              </a:buClr>
              <a:buSzPts val="2900"/>
              <a:buFont typeface="Quattrocento Sans"/>
              <a:buChar char="○"/>
            </a:pPr>
            <a:r>
              <a:rPr lang="en-US" sz="2900" b="1">
                <a:solidFill>
                  <a:srgbClr val="333333"/>
                </a:solidFill>
                <a:latin typeface="Quattrocento Sans"/>
                <a:ea typeface="Quattrocento Sans"/>
                <a:cs typeface="Quattrocento Sans"/>
                <a:sym typeface="Quattrocento Sans"/>
              </a:rPr>
              <a:t>Bước 8: Xác định phân phối thử nghiệm</a:t>
            </a:r>
            <a:endParaRPr sz="2200" b="1">
              <a:solidFill>
                <a:srgbClr val="333333"/>
              </a:solidFill>
              <a:latin typeface="Quattrocento Sans"/>
              <a:ea typeface="Quattrocento Sans"/>
              <a:cs typeface="Quattrocento Sans"/>
              <a:sym typeface="Quattrocento Sans"/>
            </a:endParaRPr>
          </a:p>
        </p:txBody>
      </p:sp>
      <p:sp>
        <p:nvSpPr>
          <p:cNvPr id="641" name="Google Shape;641;g11757251f1a_0_227"/>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i="0" u="none" strike="noStrike" cap="none">
                <a:solidFill>
                  <a:srgbClr val="F79646"/>
                </a:solidFill>
                <a:latin typeface="Quattrocento Sans"/>
                <a:ea typeface="Quattrocento Sans"/>
                <a:cs typeface="Quattrocento Sans"/>
                <a:sym typeface="Quattrocento Sans"/>
              </a:rPr>
              <a:t>Tóm tắt bài học</a:t>
            </a:r>
            <a:endParaRPr sz="2800" b="1" i="0" u="none" strike="noStrike" cap="none">
              <a:solidFill>
                <a:srgbClr val="F79646"/>
              </a:solidFill>
              <a:latin typeface="Quattrocento Sans"/>
              <a:ea typeface="Quattrocento Sans"/>
              <a:cs typeface="Quattrocento Sans"/>
              <a:sym typeface="Quattrocento Sans"/>
            </a:endParaRPr>
          </a:p>
        </p:txBody>
      </p:sp>
      <p:pic>
        <p:nvPicPr>
          <p:cNvPr id="642" name="Google Shape;642;g11757251f1a_0_227" descr="D:\Compressed\PSD Collection 2011\WP-201 copy.png"/>
          <p:cNvPicPr preferRelativeResize="0"/>
          <p:nvPr/>
        </p:nvPicPr>
        <p:blipFill rotWithShape="1">
          <a:blip r:embed="rId3">
            <a:alphaModFix/>
          </a:blip>
          <a:srcRect/>
          <a:stretch/>
        </p:blipFill>
        <p:spPr>
          <a:xfrm flipH="1">
            <a:off x="9189300" y="1095638"/>
            <a:ext cx="2782800" cy="520012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g11757251f1a_0_237"/>
          <p:cNvSpPr txBox="1">
            <a:spLocks noGrp="1"/>
          </p:cNvSpPr>
          <p:nvPr>
            <p:ph type="title"/>
          </p:nvPr>
        </p:nvSpPr>
        <p:spPr>
          <a:xfrm>
            <a:off x="2235202" y="274638"/>
            <a:ext cx="9347100" cy="4875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5A33"/>
              </a:buClr>
              <a:buSzPts val="2800"/>
              <a:buFont typeface="Quattrocento Sans"/>
              <a:buNone/>
            </a:pPr>
            <a:r>
              <a:rPr lang="en-US"/>
              <a:t>Nội dung bài học tiếp theo</a:t>
            </a:r>
            <a:endParaRPr/>
          </a:p>
        </p:txBody>
      </p:sp>
      <p:sp>
        <p:nvSpPr>
          <p:cNvPr id="648" name="Google Shape;648;g11757251f1a_0_237"/>
          <p:cNvSpPr txBox="1">
            <a:spLocks noGrp="1"/>
          </p:cNvSpPr>
          <p:nvPr>
            <p:ph type="body" idx="1"/>
          </p:nvPr>
        </p:nvSpPr>
        <p:spPr>
          <a:xfrm>
            <a:off x="609600" y="1066800"/>
            <a:ext cx="10972800" cy="5257800"/>
          </a:xfrm>
          <a:prstGeom prst="rect">
            <a:avLst/>
          </a:prstGeom>
          <a:noFill/>
          <a:ln>
            <a:noFill/>
          </a:ln>
        </p:spPr>
        <p:txBody>
          <a:bodyPr spcFirstLastPara="1" wrap="square" lIns="91425" tIns="45700" rIns="91425" bIns="45700" anchor="t" anchorCtr="0">
            <a:normAutofit/>
          </a:bodyPr>
          <a:lstStyle/>
          <a:p>
            <a:pPr marL="177800" lvl="0" indent="0" algn="l" rtl="0">
              <a:lnSpc>
                <a:spcPct val="100000"/>
              </a:lnSpc>
              <a:spcBef>
                <a:spcPts val="0"/>
              </a:spcBef>
              <a:spcAft>
                <a:spcPts val="0"/>
              </a:spcAft>
              <a:buClr>
                <a:srgbClr val="FF5A33"/>
              </a:buClr>
              <a:buSzPts val="2800"/>
              <a:buFont typeface="Noto Sans Symbols"/>
              <a:buNone/>
            </a:pPr>
            <a:endParaRPr/>
          </a:p>
        </p:txBody>
      </p:sp>
      <p:sp>
        <p:nvSpPr>
          <p:cNvPr id="649" name="Google Shape;649;g11757251f1a_0_237"/>
          <p:cNvSpPr/>
          <p:nvPr/>
        </p:nvSpPr>
        <p:spPr>
          <a:xfrm>
            <a:off x="609600" y="1480800"/>
            <a:ext cx="8799600" cy="48438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50" name="Google Shape;650;g11757251f1a_0_237"/>
          <p:cNvSpPr/>
          <p:nvPr/>
        </p:nvSpPr>
        <p:spPr>
          <a:xfrm>
            <a:off x="609600" y="1066800"/>
            <a:ext cx="5334000" cy="1000800"/>
          </a:xfrm>
          <a:prstGeom prst="rightArrow">
            <a:avLst>
              <a:gd name="adj1" fmla="val 100000"/>
              <a:gd name="adj2" fmla="val 50000"/>
            </a:avLst>
          </a:prstGeom>
          <a:solidFill>
            <a:srgbClr val="FFFFFF"/>
          </a:solidFill>
          <a:ln w="25400" cap="flat" cmpd="sng">
            <a:solidFill>
              <a:srgbClr val="F7964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1" name="Google Shape;651;g11757251f1a_0_237"/>
          <p:cNvSpPr txBox="1"/>
          <p:nvPr/>
        </p:nvSpPr>
        <p:spPr>
          <a:xfrm>
            <a:off x="894600" y="2067600"/>
            <a:ext cx="8229600" cy="3933900"/>
          </a:xfrm>
          <a:prstGeom prst="rect">
            <a:avLst/>
          </a:prstGeom>
          <a:noFill/>
          <a:ln>
            <a:noFill/>
          </a:ln>
        </p:spPr>
        <p:txBody>
          <a:bodyPr spcFirstLastPara="1" wrap="square" lIns="91425" tIns="45700" rIns="91425" bIns="45700" anchor="t" anchorCtr="0">
            <a:noAutofit/>
          </a:bodyPr>
          <a:lstStyle/>
          <a:p>
            <a:pPr marL="457200" lvl="0" indent="-450850" algn="l" rtl="0">
              <a:lnSpc>
                <a:spcPct val="115000"/>
              </a:lnSpc>
              <a:spcBef>
                <a:spcPts val="0"/>
              </a:spcBef>
              <a:spcAft>
                <a:spcPts val="0"/>
              </a:spcAft>
              <a:buClr>
                <a:srgbClr val="333333"/>
              </a:buClr>
              <a:buSzPts val="3500"/>
              <a:buFont typeface="Quattrocento Sans"/>
              <a:buChar char="•"/>
            </a:pPr>
            <a:r>
              <a:rPr lang="en-US" sz="2700" b="1">
                <a:solidFill>
                  <a:srgbClr val="333333"/>
                </a:solidFill>
                <a:latin typeface="Quattrocento Sans"/>
                <a:ea typeface="Quattrocento Sans"/>
                <a:cs typeface="Quattrocento Sans"/>
                <a:sym typeface="Quattrocento Sans"/>
              </a:rPr>
              <a:t>Test Case Design - Thiết kế trường hợp kiểm thử</a:t>
            </a:r>
            <a:endParaRPr sz="2700" b="1">
              <a:solidFill>
                <a:srgbClr val="333333"/>
              </a:solidFill>
              <a:latin typeface="Quattrocento Sans"/>
              <a:ea typeface="Quattrocento Sans"/>
              <a:cs typeface="Quattrocento Sans"/>
              <a:sym typeface="Quattrocento Sans"/>
            </a:endParaRPr>
          </a:p>
        </p:txBody>
      </p:sp>
      <p:sp>
        <p:nvSpPr>
          <p:cNvPr id="652" name="Google Shape;652;g11757251f1a_0_237"/>
          <p:cNvSpPr txBox="1"/>
          <p:nvPr/>
        </p:nvSpPr>
        <p:spPr>
          <a:xfrm>
            <a:off x="913885" y="1134355"/>
            <a:ext cx="456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79646"/>
              </a:buClr>
              <a:buSzPts val="2800"/>
              <a:buFont typeface="Quattrocento Sans"/>
              <a:buNone/>
            </a:pPr>
            <a:r>
              <a:rPr lang="en-US" sz="2800" b="1">
                <a:solidFill>
                  <a:srgbClr val="F79646"/>
                </a:solidFill>
                <a:latin typeface="Quattrocento Sans"/>
                <a:ea typeface="Quattrocento Sans"/>
                <a:cs typeface="Quattrocento Sans"/>
                <a:sym typeface="Quattrocento Sans"/>
              </a:rPr>
              <a:t>Nội dung tiếp theo</a:t>
            </a:r>
            <a:endParaRPr sz="2800" b="1" i="0" u="none" strike="noStrike" cap="none">
              <a:solidFill>
                <a:srgbClr val="F79646"/>
              </a:solidFill>
              <a:latin typeface="Quattrocento Sans"/>
              <a:ea typeface="Quattrocento Sans"/>
              <a:cs typeface="Quattrocento Sans"/>
              <a:sym typeface="Quattrocento Sans"/>
            </a:endParaRPr>
          </a:p>
        </p:txBody>
      </p:sp>
      <p:pic>
        <p:nvPicPr>
          <p:cNvPr id="653" name="Google Shape;653;g11757251f1a_0_237" descr="D:\Pictures\PNG\present.png"/>
          <p:cNvPicPr preferRelativeResize="0"/>
          <p:nvPr/>
        </p:nvPicPr>
        <p:blipFill rotWithShape="1">
          <a:blip r:embed="rId3">
            <a:alphaModFix/>
          </a:blip>
          <a:srcRect/>
          <a:stretch/>
        </p:blipFill>
        <p:spPr>
          <a:xfrm flipH="1">
            <a:off x="9469017" y="1480800"/>
            <a:ext cx="2113383" cy="4893324"/>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pic>
        <p:nvPicPr>
          <p:cNvPr id="658" name="Google Shape;658;g115e76f5ad1_0_226"/>
          <p:cNvPicPr preferRelativeResize="0"/>
          <p:nvPr/>
        </p:nvPicPr>
        <p:blipFill rotWithShape="1">
          <a:blip r:embed="rId3">
            <a:alphaModFix/>
          </a:blip>
          <a:srcRect/>
          <a:stretch/>
        </p:blipFill>
        <p:spPr>
          <a:xfrm>
            <a:off x="-5953" y="0"/>
            <a:ext cx="12197953" cy="6858000"/>
          </a:xfrm>
          <a:prstGeom prst="rect">
            <a:avLst/>
          </a:prstGeom>
          <a:noFill/>
          <a:ln>
            <a:noFill/>
          </a:ln>
        </p:spPr>
      </p:pic>
    </p:spTree>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TotalTime>
  <Words>3797</Words>
  <Application>Microsoft Office PowerPoint</Application>
  <PresentationFormat>Widescreen</PresentationFormat>
  <Paragraphs>308</Paragraphs>
  <Slides>65</Slides>
  <Notes>65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65</vt:i4>
      </vt:variant>
    </vt:vector>
  </HeadingPairs>
  <TitlesOfParts>
    <vt:vector size="73" baseType="lpstr">
      <vt:lpstr>Courier New</vt:lpstr>
      <vt:lpstr>Arial</vt:lpstr>
      <vt:lpstr>Noto Sans Symbols</vt:lpstr>
      <vt:lpstr>Quattrocento Sans</vt:lpstr>
      <vt:lpstr>Roboto</vt:lpstr>
      <vt:lpstr>Calibri</vt:lpstr>
      <vt:lpstr>Custom Design</vt:lpstr>
      <vt:lpstr>Custom Design</vt:lpstr>
      <vt:lpstr>kiểm thử cơ bản(P1)</vt:lpstr>
      <vt:lpstr>Nội dung</vt:lpstr>
      <vt:lpstr>PowerPoint Presentation</vt:lpstr>
      <vt:lpstr>test plan</vt:lpstr>
      <vt:lpstr>test plan</vt:lpstr>
      <vt:lpstr>test plan</vt:lpstr>
      <vt:lpstr>test plan</vt:lpstr>
      <vt:lpstr>test plan</vt:lpstr>
      <vt:lpstr>blackbox testing</vt:lpstr>
      <vt:lpstr>blackbox testing</vt:lpstr>
      <vt:lpstr>analyze the product</vt:lpstr>
      <vt:lpstr>analyze the product</vt:lpstr>
      <vt:lpstr>analyze the product</vt:lpstr>
      <vt:lpstr>analyze the product</vt:lpstr>
      <vt:lpstr>design test strategy</vt:lpstr>
      <vt:lpstr>design test strategy</vt:lpstr>
      <vt:lpstr>design test strategy</vt:lpstr>
      <vt:lpstr>design test strategy</vt:lpstr>
      <vt:lpstr>design test strategy</vt:lpstr>
      <vt:lpstr>design test strategy</vt:lpstr>
      <vt:lpstr>design test strategy</vt:lpstr>
      <vt:lpstr>design test strategy</vt:lpstr>
      <vt:lpstr>design test strategy</vt:lpstr>
      <vt:lpstr>design test strategy</vt:lpstr>
      <vt:lpstr>design test strategy</vt:lpstr>
      <vt:lpstr>design test strategy</vt:lpstr>
      <vt:lpstr>design test strategy</vt:lpstr>
      <vt:lpstr>design test strategy</vt:lpstr>
      <vt:lpstr>design test strategy</vt:lpstr>
      <vt:lpstr>define test objectives</vt:lpstr>
      <vt:lpstr>define test objectives</vt:lpstr>
      <vt:lpstr>design test strategy</vt:lpstr>
      <vt:lpstr>Tóm tắt bài học</vt:lpstr>
      <vt:lpstr>Nội dung bài học tiếp theo</vt:lpstr>
      <vt:lpstr>PowerPoint Presentation</vt:lpstr>
      <vt:lpstr>kiểm thử cơ bản(P2)</vt:lpstr>
      <vt:lpstr>Nội dung</vt:lpstr>
      <vt:lpstr>define test criteria</vt:lpstr>
      <vt:lpstr>define test objectives</vt:lpstr>
      <vt:lpstr>define test objectives</vt:lpstr>
      <vt:lpstr>define test objectives</vt:lpstr>
      <vt:lpstr>define test objectives</vt:lpstr>
      <vt:lpstr>define test objectives</vt:lpstr>
      <vt:lpstr>define test objectives</vt:lpstr>
      <vt:lpstr>define test objectives</vt:lpstr>
      <vt:lpstr>resource planning</vt:lpstr>
      <vt:lpstr>resource planning</vt:lpstr>
      <vt:lpstr>resource planning</vt:lpstr>
      <vt:lpstr>resource planning</vt:lpstr>
      <vt:lpstr>resource planning</vt:lpstr>
      <vt:lpstr>resource planning</vt:lpstr>
      <vt:lpstr>plan test environment</vt:lpstr>
      <vt:lpstr>plan test environment</vt:lpstr>
      <vt:lpstr>plan test environment</vt:lpstr>
      <vt:lpstr>plan test environment</vt:lpstr>
      <vt:lpstr>schedule and estimation</vt:lpstr>
      <vt:lpstr>schedule and estimation</vt:lpstr>
      <vt:lpstr>schedule and estimation</vt:lpstr>
      <vt:lpstr>test deliverables</vt:lpstr>
      <vt:lpstr>test deliverables</vt:lpstr>
      <vt:lpstr>test deliverables</vt:lpstr>
      <vt:lpstr>test deliverables</vt:lpstr>
      <vt:lpstr>Tóm tắt bài học</vt:lpstr>
      <vt:lpstr>Nội dung bài học tiếp theo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Hans</dc:creator>
  <cp:lastModifiedBy>This MC</cp:lastModifiedBy>
  <cp:revision>2</cp:revision>
  <dcterms:created xsi:type="dcterms:W3CDTF">2013-04-23T08:05:33Z</dcterms:created>
  <dcterms:modified xsi:type="dcterms:W3CDTF">2024-10-02T03:44:30Z</dcterms:modified>
</cp:coreProperties>
</file>